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100" b="0" i="0">
                <a:solidFill>
                  <a:srgbClr val="203247"/>
                </a:solidFill>
                <a:latin typeface="Arial"/>
              </a:rPr>
              <a:t>Export kind: candidate_review_deck. Deck family: candidate_review. Sources: structured_result, cv_analysis.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100" b="0" i="0">
                <a:solidFill>
                  <a:srgbClr val="203247"/>
                </a:solidFill>
                <a:latin typeface="Arial"/>
              </a:rPr>
              <a:t>Resumo executivo consolidado a partir dos sinais grounded do produto.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77240" y="658368"/>
            <a:ext cx="91440" cy="1051560"/>
          </a:xfrm>
          <a:prstGeom prst="rect">
            <a:avLst/>
          </a:prstGeom>
          <a:solidFill>
            <a:srgbClr val="B08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78992" y="896112"/>
            <a:ext cx="43891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B08B5B"/>
                </a:solidFill>
                <a:latin typeface="Arial"/>
              </a:rPr>
              <a:t>EXECUTIVE HIRING SUMMARY GROUNDED IN CV_ANALYSIS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" y="1143000"/>
            <a:ext cx="6629400" cy="8686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3400" b="1" i="0">
                <a:solidFill>
                  <a:srgbClr val="14263F"/>
                </a:solidFill>
                <a:latin typeface="Arial"/>
              </a:rPr>
              <a:t>AI Workbench Local — Candidate Review · Jane Doe</a:t>
            </a:r>
            <a:endParaRPr sz="3400" b="1" i="0">
              <a:latin typeface="Arial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078992" y="1856232"/>
            <a:ext cx="6217920" cy="4114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617287"/>
                </a:solidFill>
                <a:latin typeface="Arial"/>
              </a:rPr>
              <a:t>Executive hiring summary grounded in cv_analysis</a:t>
            </a:r>
            <a:endParaRPr sz="1300" b="0" i="0">
              <a:latin typeface="Arial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8092440" y="960120"/>
            <a:ext cx="3291840" cy="4251960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58200" y="1325880"/>
            <a:ext cx="2560320" cy="19268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900" b="1" i="0">
                <a:solidFill>
                  <a:srgbClr val="617287"/>
                </a:solidFill>
                <a:latin typeface="Arial"/>
              </a:rPr>
              <a:t>Author</a:t>
            </a:r>
          </a:p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203247"/>
                </a:solidFill>
                <a:latin typeface="Arial"/>
              </a:rPr>
              <a:t>AI Workbench Local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58200" y="3325864"/>
            <a:ext cx="2560320" cy="152045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900" b="1" i="0">
                <a:solidFill>
                  <a:srgbClr val="617287"/>
                </a:solidFill>
                <a:latin typeface="Arial"/>
              </a:rPr>
              <a:t>Date</a:t>
            </a:r>
          </a:p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203247"/>
                </a:solidFill>
                <a:latin typeface="Arial"/>
              </a:rPr>
              <a:t>2026-04-05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6327648"/>
            <a:ext cx="5486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617287"/>
                </a:solidFill>
                <a:latin typeface="Arial"/>
              </a:rPr>
              <a:t>AI Workbench Local • Candidate Review  •  2026-04-05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966960" y="6327648"/>
            <a:ext cx="12344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617287"/>
                </a:solidFill>
                <a:latin typeface="Arial"/>
              </a:rPr>
              <a:t>01 / 07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777240" y="6272784"/>
            <a:ext cx="10607040" cy="0"/>
          </a:xfrm>
          <a:prstGeom prst="line">
            <a:avLst/>
          </a:prstGeom>
          <a:ln w="10160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932688"/>
            <a:ext cx="7178040" cy="8686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14263F"/>
                </a:solidFill>
                <a:latin typeface="Arial"/>
              </a:rPr>
              <a:t>Executive summary</a:t>
            </a:r>
            <a:endParaRPr sz="2800" b="1" i="0">
              <a:latin typeface="Arial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777240" y="2048256"/>
            <a:ext cx="6360476" cy="181051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203247"/>
                </a:solidFill>
                <a:latin typeface="Arial"/>
              </a:rPr>
              <a:t>Jane Doe (São Paulo) apresenta 3.5 ano(s) de experiência estimada, 3 skill(s) mapeadas e 1 experiência(s) estruturada(s).</a:t>
            </a:r>
            <a:endParaRPr sz="1500" b="0" i="0">
              <a:latin typeface="Arial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7457756" y="1865376"/>
            <a:ext cx="3926523" cy="2999232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457756" y="1865376"/>
            <a:ext cx="3926523" cy="73152"/>
          </a:xfrm>
          <a:prstGeom prst="rect">
            <a:avLst/>
          </a:prstGeom>
          <a:solidFill>
            <a:srgbClr val="B08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95500" y="2103120"/>
            <a:ext cx="3451035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7695500" y="2432303"/>
            <a:ext cx="3451035" cy="2194559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800" b="0" i="0">
                <a:solidFill>
                  <a:srgbClr val="203247"/>
                </a:solidFill>
                <a:latin typeface="Arial"/>
              </a:rPr>
              <a:t>• Strong applied AI execution</a:t>
            </a:r>
            <a:endParaRPr sz="1000" b="0" i="0">
              <a:latin typeface="Arial"/>
            </a:endParaRPr>
          </a:p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800" b="0" i="0">
                <a:solidFill>
                  <a:srgbClr val="203247"/>
                </a:solidFill>
                <a:latin typeface="Arial"/>
              </a:rPr>
              <a:t>• Good product + engineering bridge</a:t>
            </a:r>
            <a:endParaRPr sz="1000" b="0" i="0">
              <a:latin typeface="Arial"/>
            </a:endParaRPr>
          </a:p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800" b="0" i="0">
                <a:solidFill>
                  <a:srgbClr val="203247"/>
                </a:solidFill>
                <a:latin typeface="Arial"/>
              </a:rPr>
              <a:t>• Python</a:t>
            </a:r>
            <a:endParaRPr sz="1000" b="0" i="0">
              <a:latin typeface="Arial"/>
            </a:endParaRPr>
          </a:p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800" b="0" i="0">
                <a:solidFill>
                  <a:srgbClr val="203247"/>
                </a:solidFill>
                <a:latin typeface="Arial"/>
              </a:rPr>
              <a:t>• RAG</a:t>
            </a:r>
            <a:endParaRPr sz="1000" b="0" i="0">
              <a:latin typeface="Arial"/>
            </a:endParaRPr>
          </a:p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800" b="0" i="0">
                <a:solidFill>
                  <a:srgbClr val="203247"/>
                </a:solidFill>
                <a:latin typeface="Arial"/>
              </a:rPr>
              <a:t>• Structured outputs</a:t>
            </a:r>
            <a:endParaRPr sz="1000" b="0" i="0">
              <a:latin typeface="Arial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777240" y="6327648"/>
            <a:ext cx="5486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617287"/>
                </a:solidFill>
                <a:latin typeface="Arial"/>
              </a:rPr>
              <a:t>AI Workbench Local • Candidate Review  •  2026-04-05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966960" y="6327648"/>
            <a:ext cx="12344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617287"/>
                </a:solidFill>
                <a:latin typeface="Arial"/>
              </a:rPr>
              <a:t>02 / 07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777240" y="6272784"/>
            <a:ext cx="10607040" cy="0"/>
          </a:xfrm>
          <a:prstGeom prst="line">
            <a:avLst/>
          </a:prstGeom>
          <a:ln w="10160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685800"/>
            <a:ext cx="43891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B08B5B"/>
                </a:solidFill>
                <a:latin typeface="Arial"/>
              </a:rPr>
              <a:t>KEY METRICS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932688"/>
            <a:ext cx="6812280" cy="8686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14263F"/>
                </a:solidFill>
                <a:latin typeface="Arial"/>
              </a:rPr>
              <a:t>Executive snapshot</a:t>
            </a:r>
            <a:endParaRPr sz="2800" b="1" i="0">
              <a:latin typeface="Arial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777240" y="2212848"/>
            <a:ext cx="2509160" cy="2670048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77240" y="2212848"/>
            <a:ext cx="2509160" cy="73152"/>
          </a:xfrm>
          <a:prstGeom prst="rect">
            <a:avLst/>
          </a:prstGeom>
          <a:solidFill>
            <a:srgbClr val="1426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96695" y="2432304"/>
            <a:ext cx="2070248" cy="51206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400" b="1" i="0">
                <a:solidFill>
                  <a:srgbClr val="14263F"/>
                </a:solidFill>
                <a:latin typeface="Arial"/>
              </a:rPr>
              <a:t>3.5</a:t>
            </a:r>
            <a:endParaRPr sz="2400" b="1" i="0">
              <a:latin typeface="Arial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996695" y="3017520"/>
            <a:ext cx="2070248" cy="51206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203247"/>
                </a:solidFill>
                <a:latin typeface="Arial"/>
              </a:rPr>
              <a:t>Experience years</a:t>
            </a:r>
            <a:endParaRPr sz="1200" b="1" i="0">
              <a:latin typeface="Arial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3524144" y="2212848"/>
            <a:ext cx="2437743" cy="2670048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524144" y="2212848"/>
            <a:ext cx="2437743" cy="73152"/>
          </a:xfrm>
          <a:prstGeom prst="rect">
            <a:avLst/>
          </a:prstGeom>
          <a:solidFill>
            <a:srgbClr val="B08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743600" y="2432304"/>
            <a:ext cx="1998831" cy="51206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400" b="1" i="0">
                <a:solidFill>
                  <a:srgbClr val="14263F"/>
                </a:solidFill>
                <a:latin typeface="Arial"/>
              </a:rPr>
              <a:t>3</a:t>
            </a:r>
            <a:endParaRPr sz="2400" b="1" i="0">
              <a:latin typeface="Arial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3743600" y="3017520"/>
            <a:ext cx="1998831" cy="51206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203247"/>
                </a:solidFill>
                <a:latin typeface="Arial"/>
              </a:rPr>
              <a:t>Skills</a:t>
            </a:r>
            <a:endParaRPr sz="1200" b="1" i="0">
              <a:latin typeface="Arial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6199632" y="2212848"/>
            <a:ext cx="2437743" cy="2670048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199632" y="2212848"/>
            <a:ext cx="2437743" cy="73152"/>
          </a:xfrm>
          <a:prstGeom prst="rect">
            <a:avLst/>
          </a:prstGeom>
          <a:solidFill>
            <a:srgbClr val="1426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19088" y="2432304"/>
            <a:ext cx="1998831" cy="51206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400" b="1" i="0">
                <a:solidFill>
                  <a:srgbClr val="14263F"/>
                </a:solidFill>
                <a:latin typeface="Arial"/>
              </a:rPr>
              <a:t>2</a:t>
            </a:r>
            <a:endParaRPr sz="2400" b="1" i="0">
              <a:latin typeface="Arial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6419088" y="3017520"/>
            <a:ext cx="1998831" cy="51206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203247"/>
                </a:solidFill>
                <a:latin typeface="Arial"/>
              </a:rPr>
              <a:t>Languages</a:t>
            </a:r>
            <a:endParaRPr sz="1200" b="1" i="0">
              <a:latin typeface="Arial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8875119" y="2212848"/>
            <a:ext cx="2509160" cy="2670048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875119" y="2212848"/>
            <a:ext cx="2509160" cy="73152"/>
          </a:xfrm>
          <a:prstGeom prst="rect">
            <a:avLst/>
          </a:prstGeom>
          <a:solidFill>
            <a:srgbClr val="B08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094575" y="2432304"/>
            <a:ext cx="2070248" cy="51206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400" b="1" i="0">
                <a:solidFill>
                  <a:srgbClr val="14263F"/>
                </a:solidFill>
                <a:latin typeface="Arial"/>
              </a:rPr>
              <a:t>1</a:t>
            </a:r>
            <a:endParaRPr sz="2400" b="1" i="0">
              <a:latin typeface="Arial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9094575" y="3017520"/>
            <a:ext cx="2070248" cy="51206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203247"/>
                </a:solidFill>
                <a:latin typeface="Arial"/>
              </a:rPr>
              <a:t>Experience entries</a:t>
            </a:r>
            <a:endParaRPr sz="1200" b="1" i="0">
              <a:latin typeface="Arial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777240" y="6327648"/>
            <a:ext cx="5486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617287"/>
                </a:solidFill>
                <a:latin typeface="Arial"/>
              </a:rPr>
              <a:t>AI Workbench Local • Candidate Review  •  2026-04-05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966960" y="6327648"/>
            <a:ext cx="12344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617287"/>
                </a:solidFill>
                <a:latin typeface="Arial"/>
              </a:rPr>
              <a:t>03 / 07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777240" y="6272784"/>
            <a:ext cx="10607040" cy="0"/>
          </a:xfrm>
          <a:prstGeom prst="line">
            <a:avLst/>
          </a:prstGeom>
          <a:ln w="10160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685800"/>
            <a:ext cx="43891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B08B5B"/>
                </a:solidFill>
                <a:latin typeface="Arial"/>
              </a:rPr>
              <a:t>EXECUTIVE TABLE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932688"/>
            <a:ext cx="7498079" cy="8686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14263F"/>
                </a:solidFill>
                <a:latin typeface="Arial"/>
              </a:rPr>
              <a:t>Experience highlights</a:t>
            </a:r>
            <a:endParaRPr sz="2800" b="1" i="0">
              <a:latin typeface="Arial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777240" y="1920240"/>
            <a:ext cx="2840466" cy="457200"/>
          </a:xfrm>
          <a:prstGeom prst="roundRect">
            <a:avLst/>
          </a:prstGeom>
          <a:solidFill>
            <a:srgbClr val="EEF1F4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1247" y="1984248"/>
            <a:ext cx="2712450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14263F"/>
                </a:solidFill>
                <a:latin typeface="Arial"/>
              </a:rPr>
              <a:t>Role</a:t>
            </a:r>
            <a:endParaRPr sz="1000" b="1" i="0">
              <a:latin typeface="Arial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3663426" y="1920240"/>
            <a:ext cx="2384157" cy="457200"/>
          </a:xfrm>
          <a:prstGeom prst="roundRect">
            <a:avLst/>
          </a:prstGeom>
          <a:solidFill>
            <a:srgbClr val="EEF1F4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727434" y="1984248"/>
            <a:ext cx="2256141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14263F"/>
                </a:solidFill>
                <a:latin typeface="Arial"/>
              </a:rPr>
              <a:t>Organization</a:t>
            </a:r>
            <a:endParaRPr sz="1000" b="1" i="0">
              <a:latin typeface="Arial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6093303" y="1920240"/>
            <a:ext cx="2384157" cy="457200"/>
          </a:xfrm>
          <a:prstGeom prst="roundRect">
            <a:avLst/>
          </a:prstGeom>
          <a:solidFill>
            <a:srgbClr val="EEF1F4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157311" y="1984248"/>
            <a:ext cx="2256141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14263F"/>
                </a:solidFill>
                <a:latin typeface="Arial"/>
              </a:rPr>
              <a:t>Date</a:t>
            </a:r>
            <a:endParaRPr sz="1000" b="1" i="0">
              <a:latin typeface="Arial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8523181" y="1920240"/>
            <a:ext cx="2861098" cy="457200"/>
          </a:xfrm>
          <a:prstGeom prst="roundRect">
            <a:avLst/>
          </a:prstGeom>
          <a:solidFill>
            <a:srgbClr val="EEF1F4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587189" y="1984248"/>
            <a:ext cx="2733082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14263F"/>
                </a:solidFill>
                <a:latin typeface="Arial"/>
              </a:rPr>
              <a:t>Evidence</a:t>
            </a:r>
            <a:endParaRPr sz="1000" b="1" i="0">
              <a:latin typeface="Arial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777240" y="2450592"/>
            <a:ext cx="2840466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1247" y="2514600"/>
            <a:ext cx="2712450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203247"/>
                </a:solidFill>
                <a:latin typeface="Arial"/>
              </a:rPr>
              <a:t>Applied AI Engineer</a:t>
            </a:r>
            <a:endParaRPr sz="900" b="0" i="0">
              <a:latin typeface="Arial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3663426" y="2450592"/>
            <a:ext cx="2384157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727434" y="2514600"/>
            <a:ext cx="2256141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900" b="0" i="0">
                <a:solidFill>
                  <a:srgbClr val="203247"/>
                </a:solidFill>
                <a:latin typeface="Arial"/>
              </a:rPr>
              <a:t>Acme</a:t>
            </a:r>
            <a:endParaRPr sz="900" b="0" i="0">
              <a:latin typeface="Arial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6093303" y="2450592"/>
            <a:ext cx="2384157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157311" y="2514600"/>
            <a:ext cx="2256141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900" b="0" i="0">
                <a:solidFill>
                  <a:srgbClr val="203247"/>
                </a:solidFill>
                <a:latin typeface="Arial"/>
              </a:rPr>
              <a:t>2022-2025</a:t>
            </a:r>
            <a:endParaRPr sz="900" b="0" i="0">
              <a:latin typeface="Arial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8523181" y="2450592"/>
            <a:ext cx="2861098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587189" y="2514600"/>
            <a:ext cx="2733082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800" b="0" i="0">
                <a:solidFill>
                  <a:srgbClr val="203247"/>
                </a:solidFill>
                <a:latin typeface="Arial"/>
              </a:rPr>
              <a:t>Built RAG pipelines | Shipped eval-driven AI features</a:t>
            </a:r>
            <a:endParaRPr sz="900" b="0" i="0">
              <a:latin typeface="Arial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777240" y="6327648"/>
            <a:ext cx="5486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617287"/>
                </a:solidFill>
                <a:latin typeface="Arial"/>
              </a:rPr>
              <a:t>AI Workbench Local • Candidate Review  •  2026-04-05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966960" y="6327648"/>
            <a:ext cx="12344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617287"/>
                </a:solidFill>
                <a:latin typeface="Arial"/>
              </a:rPr>
              <a:t>04 / 07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777240" y="6272784"/>
            <a:ext cx="10607040" cy="0"/>
          </a:xfrm>
          <a:prstGeom prst="line">
            <a:avLst/>
          </a:prstGeom>
          <a:ln w="10160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685800"/>
            <a:ext cx="43891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B08B5B"/>
                </a:solidFill>
                <a:latin typeface="Arial"/>
              </a:rPr>
              <a:t>EXECUTIVE TABLE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932688"/>
            <a:ext cx="7498079" cy="8686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14263F"/>
                </a:solidFill>
                <a:latin typeface="Arial"/>
              </a:rPr>
              <a:t>Education snapshot</a:t>
            </a:r>
            <a:endParaRPr sz="2800" b="1" i="0">
              <a:latin typeface="Arial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777240" y="1920240"/>
            <a:ext cx="2948391" cy="457200"/>
          </a:xfrm>
          <a:prstGeom prst="roundRect">
            <a:avLst/>
          </a:prstGeom>
          <a:solidFill>
            <a:srgbClr val="EEF1F4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1247" y="1984248"/>
            <a:ext cx="2820375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14263F"/>
                </a:solidFill>
                <a:latin typeface="Arial"/>
              </a:rPr>
              <a:t>Degree</a:t>
            </a:r>
            <a:endParaRPr sz="1000" b="1" i="0">
              <a:latin typeface="Arial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3771351" y="1920240"/>
            <a:ext cx="2482925" cy="457200"/>
          </a:xfrm>
          <a:prstGeom prst="roundRect">
            <a:avLst/>
          </a:prstGeom>
          <a:solidFill>
            <a:srgbClr val="EEF1F4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835359" y="1984248"/>
            <a:ext cx="2354909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14263F"/>
                </a:solidFill>
                <a:latin typeface="Arial"/>
              </a:rPr>
              <a:t>Institution</a:t>
            </a:r>
            <a:endParaRPr sz="1000" b="1" i="0">
              <a:latin typeface="Arial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6299996" y="1920240"/>
            <a:ext cx="2482925" cy="457200"/>
          </a:xfrm>
          <a:prstGeom prst="roundRect">
            <a:avLst/>
          </a:prstGeom>
          <a:solidFill>
            <a:srgbClr val="EEF1F4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64004" y="1984248"/>
            <a:ext cx="2354909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14263F"/>
                </a:solidFill>
                <a:latin typeface="Arial"/>
              </a:rPr>
              <a:t>Date</a:t>
            </a:r>
            <a:endParaRPr sz="1000" b="1" i="0">
              <a:latin typeface="Arial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8828641" y="1920240"/>
            <a:ext cx="2555638" cy="457200"/>
          </a:xfrm>
          <a:prstGeom prst="roundRect">
            <a:avLst/>
          </a:prstGeom>
          <a:solidFill>
            <a:srgbClr val="EEF1F4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892649" y="1984248"/>
            <a:ext cx="2427622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14263F"/>
                </a:solidFill>
                <a:latin typeface="Arial"/>
              </a:rPr>
              <a:t>Location</a:t>
            </a:r>
            <a:endParaRPr sz="1000" b="1" i="0">
              <a:latin typeface="Arial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777240" y="2450592"/>
            <a:ext cx="2948391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1247" y="2514600"/>
            <a:ext cx="2820375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203247"/>
                </a:solidFill>
                <a:latin typeface="Arial"/>
              </a:rPr>
              <a:t>BSc Computer Science</a:t>
            </a:r>
            <a:endParaRPr sz="900" b="0" i="0">
              <a:latin typeface="Arial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3771351" y="2450592"/>
            <a:ext cx="2482925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835359" y="2514600"/>
            <a:ext cx="2354909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900" b="0" i="0">
                <a:solidFill>
                  <a:srgbClr val="203247"/>
                </a:solidFill>
                <a:latin typeface="Arial"/>
              </a:rPr>
              <a:t>USP</a:t>
            </a:r>
            <a:endParaRPr sz="900" b="0" i="0">
              <a:latin typeface="Arial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6299996" y="2450592"/>
            <a:ext cx="2482925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64004" y="2514600"/>
            <a:ext cx="2354909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900" b="0" i="0">
                <a:solidFill>
                  <a:srgbClr val="203247"/>
                </a:solidFill>
                <a:latin typeface="Arial"/>
              </a:rPr>
              <a:t>2018-2022</a:t>
            </a:r>
            <a:endParaRPr sz="900" b="0" i="0">
              <a:latin typeface="Arial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8828641" y="2450592"/>
            <a:ext cx="2555638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892649" y="2514600"/>
            <a:ext cx="2427622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900" b="0" i="0">
                <a:solidFill>
                  <a:srgbClr val="203247"/>
                </a:solidFill>
                <a:latin typeface="Arial"/>
              </a:rPr>
              <a:t>São Paulo</a:t>
            </a:r>
            <a:endParaRPr sz="900" b="0" i="0">
              <a:latin typeface="Arial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777240" y="6327648"/>
            <a:ext cx="5486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617287"/>
                </a:solidFill>
                <a:latin typeface="Arial"/>
              </a:rPr>
              <a:t>AI Workbench Local • Candidate Review  •  2026-04-05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966960" y="6327648"/>
            <a:ext cx="12344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617287"/>
                </a:solidFill>
                <a:latin typeface="Arial"/>
              </a:rPr>
              <a:t>05 / 07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777240" y="6272784"/>
            <a:ext cx="10607040" cy="0"/>
          </a:xfrm>
          <a:prstGeom prst="line">
            <a:avLst/>
          </a:prstGeom>
          <a:ln w="10160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685800"/>
            <a:ext cx="43891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B08B5B"/>
                </a:solidFill>
                <a:latin typeface="Arial"/>
              </a:rPr>
              <a:t>STRATEGIC COMPARISON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932688"/>
            <a:ext cx="7178040" cy="8686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14263F"/>
                </a:solidFill>
                <a:latin typeface="Arial"/>
              </a:rPr>
              <a:t>Recommendation vs watchouts</a:t>
            </a:r>
            <a:endParaRPr sz="2800" b="1" i="0">
              <a:latin typeface="Arial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777240" y="2048256"/>
            <a:ext cx="4736592" cy="3218688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77240" y="2048256"/>
            <a:ext cx="4736592" cy="73152"/>
          </a:xfrm>
          <a:prstGeom prst="rect">
            <a:avLst/>
          </a:prstGeom>
          <a:solidFill>
            <a:srgbClr val="1426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33271" y="2304288"/>
            <a:ext cx="4224527" cy="39319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14263F"/>
                </a:solidFill>
                <a:latin typeface="Arial"/>
              </a:rPr>
              <a:t>Recommendation</a:t>
            </a:r>
            <a:endParaRPr sz="1600" b="1" i="0">
              <a:latin typeface="Arial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033271" y="2752344"/>
            <a:ext cx="4224527" cy="122914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203247"/>
                </a:solidFill>
                <a:latin typeface="Arial"/>
              </a:rPr>
              <a:t>Advance to the next stage with focused validation of leadership, scope and business ownership.</a:t>
            </a:r>
            <a:endParaRPr sz="1500" b="0" i="0">
              <a:latin typeface="Arial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033271" y="4036354"/>
            <a:ext cx="4224527" cy="974557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• Agendar entrevista técnica focada em product thinking e delivery.</a:t>
            </a:r>
            <a:endParaRPr sz="1000" b="0" i="0">
              <a:latin typeface="Arial"/>
            </a:endParaRPr>
          </a:p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• Validar senioridade, liderança e ownership em cenários reais.</a:t>
            </a:r>
            <a:endParaRPr sz="1000" b="0" i="0">
              <a:latin typeface="Arial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5806440" y="2048256"/>
            <a:ext cx="4736592" cy="3218688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806440" y="2048256"/>
            <a:ext cx="4736592" cy="73152"/>
          </a:xfrm>
          <a:prstGeom prst="rect">
            <a:avLst/>
          </a:prstGeom>
          <a:solidFill>
            <a:srgbClr val="B08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062472" y="2304288"/>
            <a:ext cx="4224527" cy="39319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14263F"/>
                </a:solidFill>
                <a:latin typeface="Arial"/>
              </a:rPr>
              <a:t>Watchouts</a:t>
            </a:r>
            <a:endParaRPr sz="1600" b="1" i="0">
              <a:latin typeface="Arial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6062472" y="2752344"/>
            <a:ext cx="4224527" cy="142646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500" b="0" i="0">
                <a:solidFill>
                  <a:srgbClr val="203247"/>
                </a:solidFill>
                <a:latin typeface="Arial"/>
              </a:rPr>
              <a:t>Validate scale/production depth</a:t>
            </a:r>
            <a:endParaRPr sz="1500" b="0" i="0">
              <a:latin typeface="Arial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777240" y="6327648"/>
            <a:ext cx="5486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617287"/>
                </a:solidFill>
                <a:latin typeface="Arial"/>
              </a:rPr>
              <a:t>AI Workbench Local • Candidate Review  •  2026-04-05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966960" y="6327648"/>
            <a:ext cx="12344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617287"/>
                </a:solidFill>
                <a:latin typeface="Arial"/>
              </a:rPr>
              <a:t>06 / 07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777240" y="6272784"/>
            <a:ext cx="10607040" cy="0"/>
          </a:xfrm>
          <a:prstGeom prst="line">
            <a:avLst/>
          </a:prstGeom>
          <a:ln w="10160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932688"/>
            <a:ext cx="5852160" cy="7772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14263F"/>
                </a:solidFill>
                <a:latin typeface="Arial"/>
              </a:rPr>
              <a:t>Next steps</a:t>
            </a:r>
            <a:endParaRPr sz="2800" b="1" i="0">
              <a:latin typeface="Arial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777240" y="2331720"/>
            <a:ext cx="6263640" cy="28803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0" i="0">
                <a:solidFill>
                  <a:srgbClr val="203247"/>
                </a:solidFill>
                <a:latin typeface="Arial"/>
              </a:rPr>
              <a:t>• Agendar entrevista técnica focada em product thinking e delivery.</a:t>
            </a:r>
            <a:endParaRPr sz="1400" b="0" i="0">
              <a:latin typeface="Arial"/>
            </a:endParaRP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0" i="0">
                <a:solidFill>
                  <a:srgbClr val="203247"/>
                </a:solidFill>
                <a:latin typeface="Arial"/>
              </a:rPr>
              <a:t>• Validar senioridade, liderança e ownership em cenários reais.</a:t>
            </a:r>
            <a:endParaRPr sz="1400" b="0" i="0">
              <a:latin typeface="Arial"/>
            </a:endParaRP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0" i="0">
                <a:solidFill>
                  <a:srgbClr val="203247"/>
                </a:solidFill>
                <a:latin typeface="Arial"/>
              </a:rPr>
              <a:t>• Validate scale/production depth</a:t>
            </a:r>
            <a:endParaRPr sz="1400" b="0" i="0">
              <a:latin typeface="Arial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7360919" y="960120"/>
            <a:ext cx="4023360" cy="4526280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60919" y="960120"/>
            <a:ext cx="4023360" cy="73152"/>
          </a:xfrm>
          <a:prstGeom prst="rect">
            <a:avLst/>
          </a:prstGeom>
          <a:solidFill>
            <a:srgbClr val="B08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16951" y="1216152"/>
            <a:ext cx="3511296" cy="17003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203247"/>
                </a:solidFill>
                <a:latin typeface="Arial"/>
              </a:rPr>
              <a:t>Agendar entrevista técnica focada em product thinking e delivery.</a:t>
            </a:r>
            <a:endParaRPr sz="1400" b="0" i="0">
              <a:latin typeface="Arial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7616951" y="3007960"/>
            <a:ext cx="3511296" cy="2222407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14263F"/>
                </a:solidFill>
                <a:latin typeface="Arial"/>
              </a:rPr>
              <a:t>• Validar senioridade, liderança e ownership em cenários reais.</a:t>
            </a:r>
            <a:endParaRPr sz="1400" b="0" i="0">
              <a:latin typeface="Arial"/>
            </a:endParaRPr>
          </a:p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14263F"/>
                </a:solidFill>
                <a:latin typeface="Arial"/>
              </a:rPr>
              <a:t>• Validate scale/production depth</a:t>
            </a:r>
            <a:endParaRPr sz="1400" b="0" i="0">
              <a:latin typeface="Arial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777240" y="6327648"/>
            <a:ext cx="5486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617287"/>
                </a:solidFill>
                <a:latin typeface="Arial"/>
              </a:rPr>
              <a:t>AI Workbench Local • Candidate Review  •  2026-04-05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966960" y="6327648"/>
            <a:ext cx="12344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617287"/>
                </a:solidFill>
                <a:latin typeface="Arial"/>
              </a:rPr>
              <a:t>07 / 07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777240" y="6272784"/>
            <a:ext cx="10607040" cy="0"/>
          </a:xfrm>
          <a:prstGeom prst="line">
            <a:avLst/>
          </a:prstGeom>
          <a:ln w="10160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