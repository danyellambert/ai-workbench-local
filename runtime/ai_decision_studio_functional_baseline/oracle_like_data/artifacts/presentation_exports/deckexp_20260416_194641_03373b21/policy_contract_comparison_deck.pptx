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Export kind: policy_contract_comparison_deck. Deck family: comparison. Sources: structured_result, document_agent_comparison.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Executive summary consolidated from the product's grounded signals.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Differences and impacts extracted from the document-comparison 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Executive decision framing for this slice.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58368"/>
            <a:ext cx="91440" cy="1051560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896112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COMPARISON REVIEW OF GROUNDED DOCUMENT DIFFERENCES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1143000"/>
            <a:ext cx="6126480" cy="12435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63F"/>
                </a:solidFill>
                <a:latin typeface="Arial"/>
              </a:rPr>
              <a:t>AI Workbench Local — Policy / Contract Comparison</a:t>
            </a:r>
            <a:endParaRPr sz="3200" b="1" i="0"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8992" y="2551176"/>
            <a:ext cx="539496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17287"/>
                </a:solidFill>
                <a:latin typeface="Arial"/>
              </a:rPr>
              <a:t>Executive comparison review of grounded document differences</a:t>
            </a:r>
            <a:endParaRPr sz="1300" b="0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092440" y="960120"/>
            <a:ext cx="3291840" cy="42519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58200" y="1325880"/>
            <a:ext cx="2560320" cy="1926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Author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AI Workbench Local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3325864"/>
            <a:ext cx="2560320" cy="1520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Date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2026-04-16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Comparison Review  •  2026-04-16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01 / 06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summary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6447488" cy="19385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Executive Comparison:
Document v3.2 builds upon v3.1 by expanding security measures, particularly in workforce account authentication and vendor oversight.
- Mandatory MFA for all accounts in v3.2 vs. only privileged access in v3.1.
- Quarterly reviews of privileged access in v3.2 vs. annual reviews in v3.1.
- More rigorous vendor oversight introduced in v3.2.
- Stricter incident response protocols added in v3.2.
- Both versions emphasize multi-factor authentication and regular review cycles.
- Enhanced security controls across the entire organization in v3.2.</a:t>
            </a:r>
            <a:endParaRPr sz="14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517336" y="1865376"/>
            <a:ext cx="3866943" cy="31272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17336" y="1865376"/>
            <a:ext cx="3866943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36792" y="2084832"/>
            <a:ext cx="342803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36792" y="2414016"/>
            <a:ext cx="3428031" cy="23591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• Document v3.2 builds upon v3.1 by expanding security measures, particularly…</a:t>
            </a:r>
            <a:endParaRPr sz="10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• Mandatory MFA for all accounts in v3.2 vs. only privileged access in v3.1.</a:t>
            </a:r>
            <a:endParaRPr sz="10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• Quarterly reviews of privileged access in v3.2 vs. annual reviews in v3.1.</a:t>
            </a:r>
            <a:endParaRPr sz="10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Comparison Review  •  2026-04-16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02 / 06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KEY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68122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snapshot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212848"/>
            <a:ext cx="2509160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2</a:t>
            </a:r>
            <a:endParaRPr sz="24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69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Compared docs</a:t>
            </a:r>
            <a:endParaRPr sz="12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524144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24144" y="2212848"/>
            <a:ext cx="2437743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3600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8</a:t>
            </a:r>
            <a:endParaRPr sz="2400" b="1" i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43600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Findings</a:t>
            </a:r>
            <a:endParaRPr sz="12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99632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9632" y="2212848"/>
            <a:ext cx="2437743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4</a:t>
            </a:r>
            <a:endParaRPr sz="2400" b="1" i="0"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19088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Sources</a:t>
            </a:r>
            <a:endParaRPr sz="1200" b="1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875119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75119" y="2212848"/>
            <a:ext cx="25091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457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No</a:t>
            </a:r>
            <a:endParaRPr sz="2400" b="1" i="0"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09457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Needs review</a:t>
            </a:r>
            <a:endParaRPr sz="1200" b="1" i="0"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Comparison Review  •  2026-04-16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03 / 06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Comparison findings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2352634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84248"/>
            <a:ext cx="2224618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Type</a:t>
            </a:r>
            <a:endParaRPr sz="11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175594" y="1920240"/>
            <a:ext cx="2705748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39602" y="1984248"/>
            <a:ext cx="257773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Finding</a:t>
            </a:r>
            <a:endParaRPr sz="11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927063" y="1920240"/>
            <a:ext cx="2705748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91071" y="1984248"/>
            <a:ext cx="257773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Documents</a:t>
            </a:r>
            <a:endParaRPr sz="11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678531" y="1920240"/>
            <a:ext cx="2705748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42539" y="1984248"/>
            <a:ext cx="257773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Evidence</a:t>
            </a:r>
            <a:endParaRPr sz="11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2450592"/>
            <a:ext cx="2352634" cy="404631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514600"/>
            <a:ext cx="2224618" cy="27661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document_summary</a:t>
            </a:r>
            <a:endParaRPr sz="10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175594" y="2450592"/>
            <a:ext cx="2705748" cy="404631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39602" y="2514600"/>
            <a:ext cx="2577732" cy="27661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Summary of Information Security Policy v3.1.pdf (pdf)</a:t>
            </a:r>
            <a:endParaRPr sz="10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927063" y="2450592"/>
            <a:ext cx="2705748" cy="404631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91071" y="2514600"/>
            <a:ext cx="2577732" cy="27661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Information Security Policy v3.1.pdf (pdf)</a:t>
            </a:r>
            <a:endParaRPr sz="10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678531" y="2450592"/>
            <a:ext cx="2705748" cy="404631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42539" y="2514600"/>
            <a:ext cx="2577732" cy="27661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203247"/>
                </a:solidFill>
                <a:latin typeface="Arial"/>
              </a:rPr>
              <a:t>Annual review cycle ensures policy relevance | Multi-factor authentication strengthens administrative access security</a:t>
            </a:r>
            <a:endParaRPr sz="800" b="0" i="0">
              <a:latin typeface="Arial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77240" y="2910087"/>
            <a:ext cx="2352634" cy="404557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2974095"/>
            <a:ext cx="2224618" cy="2765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document_summary</a:t>
            </a:r>
            <a:endParaRPr sz="1000" b="0" i="0">
              <a:latin typeface="Arial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3175594" y="2910087"/>
            <a:ext cx="2705748" cy="404557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39602" y="2974095"/>
            <a:ext cx="2577732" cy="2765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Summary of Information Security Policy v3.2.pdf (pdf)</a:t>
            </a:r>
            <a:endParaRPr sz="1000" b="0" i="0">
              <a:latin typeface="Arial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5927063" y="2910087"/>
            <a:ext cx="2705748" cy="404557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91071" y="2974095"/>
            <a:ext cx="2577732" cy="2765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Information Security Policy v3.2.pdf (pdf)</a:t>
            </a:r>
            <a:endParaRPr sz="1000" b="0" i="0">
              <a:latin typeface="Arial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678531" y="2910087"/>
            <a:ext cx="2705748" cy="404557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42539" y="2974095"/>
            <a:ext cx="2577732" cy="2765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203247"/>
                </a:solidFill>
                <a:latin typeface="Arial"/>
              </a:rPr>
              <a:t>Increased security controls across the organization | Enhanced monitoring and review cycles</a:t>
            </a:r>
            <a:endParaRPr sz="800" b="0" i="0">
              <a:latin typeface="Arial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777240" y="3369508"/>
            <a:ext cx="2352634" cy="404631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7" y="3433516"/>
            <a:ext cx="2224618" cy="27661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vendor_oversight_delta</a:t>
            </a:r>
            <a:endParaRPr sz="1000" b="0" i="0">
              <a:latin typeface="Arial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3175594" y="3369508"/>
            <a:ext cx="2705748" cy="404631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39602" y="3433516"/>
            <a:ext cx="2577732" cy="27661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Document v3.2 builds upon v3.1 by expanding security…</a:t>
            </a:r>
            <a:endParaRPr sz="1000" b="0" i="0">
              <a:latin typeface="Arial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5927063" y="3369508"/>
            <a:ext cx="2705748" cy="404631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91071" y="3433516"/>
            <a:ext cx="2577732" cy="27661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Information Security Policy v3.1.pdf (pdf), Information Security Policy v3.2.pdf (pdf)</a:t>
            </a:r>
            <a:endParaRPr sz="1000" b="0" i="0">
              <a:latin typeface="Arial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8678531" y="3369508"/>
            <a:ext cx="2705748" cy="404631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42539" y="3433516"/>
            <a:ext cx="2577732" cy="27661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Information Security Policy v3.1.pdf (pdf): The Information Security Policy v3.1 outlines key security requirements, in…</a:t>
            </a:r>
            <a:endParaRPr sz="700" b="0" i="0">
              <a:latin typeface="Arial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777240" y="3829003"/>
            <a:ext cx="2352634" cy="404631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1247" y="3893011"/>
            <a:ext cx="2224618" cy="27661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identity_control_delta</a:t>
            </a:r>
            <a:endParaRPr sz="1000" b="0" i="0">
              <a:latin typeface="Arial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3175594" y="3829003"/>
            <a:ext cx="2705748" cy="404631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39602" y="3893011"/>
            <a:ext cx="2577732" cy="27661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Mandatory MFA for all accounts in v3.2 vs.…</a:t>
            </a:r>
            <a:endParaRPr sz="1000" b="0" i="0">
              <a:latin typeface="Arial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5927063" y="3829003"/>
            <a:ext cx="2705748" cy="404631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91071" y="3893011"/>
            <a:ext cx="2577732" cy="27661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Information Security Policy v3.1.pdf (pdf), Information Security Policy v3.2.pdf (pdf)</a:t>
            </a:r>
            <a:endParaRPr sz="1000" b="0" i="0">
              <a:latin typeface="Arial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8678531" y="3829003"/>
            <a:ext cx="2705748" cy="404631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742539" y="3893011"/>
            <a:ext cx="2577732" cy="27661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Information Security Policy v3.1.pdf (pdf): The Information Security Policy v3.1 outlines key security requirements, in…</a:t>
            </a:r>
            <a:endParaRPr sz="700" b="0" i="0">
              <a:latin typeface="Arial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777240" y="4288498"/>
            <a:ext cx="2352634" cy="404631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1247" y="4352506"/>
            <a:ext cx="2224618" cy="27661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approval_change</a:t>
            </a:r>
            <a:endParaRPr sz="1000" b="0" i="0">
              <a:latin typeface="Arial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3175594" y="4288498"/>
            <a:ext cx="2705748" cy="404631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39602" y="4352506"/>
            <a:ext cx="2577732" cy="27661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Quarterly reviews of privileged access in v3.2 vs.…</a:t>
            </a:r>
            <a:endParaRPr sz="1000" b="0" i="0">
              <a:latin typeface="Arial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5927063" y="4288498"/>
            <a:ext cx="2705748" cy="404631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991071" y="4352506"/>
            <a:ext cx="2577732" cy="27661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Information Security Policy v3.1.pdf (pdf), Information Security Policy v3.2.pdf (pdf)</a:t>
            </a:r>
            <a:endParaRPr sz="1000" b="0" i="0">
              <a:latin typeface="Arial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8678531" y="4288498"/>
            <a:ext cx="2705748" cy="404631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742539" y="4352506"/>
            <a:ext cx="2577732" cy="27661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Information Security Policy v3.1.pdf (pdf): The Information Security Policy v3.1 outlines key security requirements, in…</a:t>
            </a:r>
            <a:endParaRPr sz="700" b="0" i="0">
              <a:latin typeface="Arial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777240" y="4747994"/>
            <a:ext cx="2352634" cy="404631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41247" y="4812002"/>
            <a:ext cx="2224618" cy="27661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vendor_oversight_delta</a:t>
            </a:r>
            <a:endParaRPr sz="1000" b="0" i="0">
              <a:latin typeface="Arial"/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3175594" y="4747994"/>
            <a:ext cx="2705748" cy="404631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239602" y="4812002"/>
            <a:ext cx="2577732" cy="27661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More rigorous vendor oversight introduced in v3.2</a:t>
            </a:r>
            <a:endParaRPr sz="1000" b="0" i="0">
              <a:latin typeface="Arial"/>
            </a:endParaRPr>
          </a:p>
        </p:txBody>
      </p:sp>
      <p:sp>
        <p:nvSpPr>
          <p:cNvPr id="56" name="Rounded Rectangle 55"/>
          <p:cNvSpPr/>
          <p:nvPr/>
        </p:nvSpPr>
        <p:spPr>
          <a:xfrm>
            <a:off x="5927063" y="4747994"/>
            <a:ext cx="2705748" cy="404631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991071" y="4812002"/>
            <a:ext cx="2577732" cy="27661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Information Security Policy v3.1.pdf (pdf), Information Security Policy v3.2.pdf (pdf)</a:t>
            </a:r>
            <a:endParaRPr sz="1000" b="0" i="0">
              <a:latin typeface="Arial"/>
            </a:endParaRPr>
          </a:p>
        </p:txBody>
      </p:sp>
      <p:sp>
        <p:nvSpPr>
          <p:cNvPr id="58" name="Rounded Rectangle 57"/>
          <p:cNvSpPr/>
          <p:nvPr/>
        </p:nvSpPr>
        <p:spPr>
          <a:xfrm>
            <a:off x="8678531" y="4747994"/>
            <a:ext cx="2705748" cy="404631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742539" y="4812002"/>
            <a:ext cx="2577732" cy="27661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Information Security Policy v3.1.pdf (pdf): The Information Security Policy v3.1 outlines key security requirements, in…</a:t>
            </a:r>
            <a:endParaRPr sz="700" b="0" i="0">
              <a:latin typeface="Arial"/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777240" y="5207489"/>
            <a:ext cx="2352634" cy="404631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41247" y="5271497"/>
            <a:ext cx="2224618" cy="27661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incident_response_delta</a:t>
            </a:r>
            <a:endParaRPr sz="1000" b="0" i="0">
              <a:latin typeface="Arial"/>
            </a:endParaRPr>
          </a:p>
        </p:txBody>
      </p:sp>
      <p:sp>
        <p:nvSpPr>
          <p:cNvPr id="62" name="Rounded Rectangle 61"/>
          <p:cNvSpPr/>
          <p:nvPr/>
        </p:nvSpPr>
        <p:spPr>
          <a:xfrm>
            <a:off x="3175594" y="5207489"/>
            <a:ext cx="2705748" cy="404631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239602" y="5271497"/>
            <a:ext cx="2577732" cy="27661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Stricter incident response protocols added in v3.2</a:t>
            </a:r>
            <a:endParaRPr sz="1000" b="0" i="0">
              <a:latin typeface="Arial"/>
            </a:endParaRPr>
          </a:p>
        </p:txBody>
      </p:sp>
      <p:sp>
        <p:nvSpPr>
          <p:cNvPr id="64" name="Rounded Rectangle 63"/>
          <p:cNvSpPr/>
          <p:nvPr/>
        </p:nvSpPr>
        <p:spPr>
          <a:xfrm>
            <a:off x="5927063" y="5207489"/>
            <a:ext cx="2705748" cy="404631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991071" y="5271497"/>
            <a:ext cx="2577732" cy="27661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Information Security Policy v3.1.pdf (pdf), Information Security Policy v3.2.pdf (pdf)</a:t>
            </a:r>
            <a:endParaRPr sz="1000" b="0" i="0">
              <a:latin typeface="Arial"/>
            </a:endParaRPr>
          </a:p>
        </p:txBody>
      </p:sp>
      <p:sp>
        <p:nvSpPr>
          <p:cNvPr id="66" name="Rounded Rectangle 65"/>
          <p:cNvSpPr/>
          <p:nvPr/>
        </p:nvSpPr>
        <p:spPr>
          <a:xfrm>
            <a:off x="8678531" y="5207489"/>
            <a:ext cx="2705748" cy="404631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742539" y="5271497"/>
            <a:ext cx="2577732" cy="27661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Information Security Policy v3.1.pdf (pdf): The Information Security Policy v3.1 outlines key security requirements, in…</a:t>
            </a:r>
            <a:endParaRPr sz="700" b="0" i="0">
              <a:latin typeface="Arial"/>
            </a:endParaRPr>
          </a:p>
        </p:txBody>
      </p:sp>
      <p:sp>
        <p:nvSpPr>
          <p:cNvPr id="68" name="Rounded Rectangle 67"/>
          <p:cNvSpPr/>
          <p:nvPr/>
        </p:nvSpPr>
        <p:spPr>
          <a:xfrm>
            <a:off x="777240" y="5666984"/>
            <a:ext cx="2352634" cy="404631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41247" y="5730992"/>
            <a:ext cx="2224618" cy="27661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identity_control_delta</a:t>
            </a:r>
            <a:endParaRPr sz="1000" b="0" i="0">
              <a:latin typeface="Arial"/>
            </a:endParaRPr>
          </a:p>
        </p:txBody>
      </p:sp>
      <p:sp>
        <p:nvSpPr>
          <p:cNvPr id="70" name="Rounded Rectangle 69"/>
          <p:cNvSpPr/>
          <p:nvPr/>
        </p:nvSpPr>
        <p:spPr>
          <a:xfrm>
            <a:off x="3175594" y="5666984"/>
            <a:ext cx="2705748" cy="404631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239602" y="5730992"/>
            <a:ext cx="2577732" cy="27661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Both versions emphasize multi-factor authentication and regular review…</a:t>
            </a:r>
            <a:endParaRPr sz="1000" b="0" i="0">
              <a:latin typeface="Arial"/>
            </a:endParaRPr>
          </a:p>
        </p:txBody>
      </p:sp>
      <p:sp>
        <p:nvSpPr>
          <p:cNvPr id="72" name="Rounded Rectangle 71"/>
          <p:cNvSpPr/>
          <p:nvPr/>
        </p:nvSpPr>
        <p:spPr>
          <a:xfrm>
            <a:off x="5927063" y="5666984"/>
            <a:ext cx="2705748" cy="404631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991071" y="5730992"/>
            <a:ext cx="2577732" cy="27661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Information Security Policy v3.1.pdf (pdf), Information Security Policy v3.2.pdf (pdf)</a:t>
            </a:r>
            <a:endParaRPr sz="1000" b="0" i="0">
              <a:latin typeface="Arial"/>
            </a:endParaRPr>
          </a:p>
        </p:txBody>
      </p:sp>
      <p:sp>
        <p:nvSpPr>
          <p:cNvPr id="74" name="Rounded Rectangle 73"/>
          <p:cNvSpPr/>
          <p:nvPr/>
        </p:nvSpPr>
        <p:spPr>
          <a:xfrm>
            <a:off x="8678531" y="5666984"/>
            <a:ext cx="2705748" cy="404631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742539" y="5730992"/>
            <a:ext cx="2577732" cy="27661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Information Security Policy v3.1.pdf (pdf): The Information Security Policy v3.1 outlines key security requirements, in…</a:t>
            </a:r>
            <a:endParaRPr sz="700" b="0" i="0">
              <a:latin typeface="Arial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Comparison Review  •  2026-04-16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04 / 06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NARRATIVE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Recommendation vs watchouts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029968"/>
            <a:ext cx="5551932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29968"/>
            <a:ext cx="73152" cy="3255264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3" y="2267712"/>
            <a:ext cx="5076444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Recommendation</a:t>
            </a:r>
            <a:endParaRPr sz="16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14983" y="2706624"/>
            <a:ext cx="5076444" cy="127281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Open the cited source excerpts to confirm the interpretation before acting.</a:t>
            </a:r>
            <a:endParaRPr sz="15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14983" y="4034307"/>
            <a:ext cx="5076444" cy="10131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Open the cited source excerpts to confirm the interpretation before act…</a:t>
            </a:r>
            <a:endParaRPr sz="11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Validate critical differences directly in the compared documents before…</a:t>
            </a:r>
            <a:endParaRPr sz="1100" b="0" i="0">
              <a:latin typeface="Arial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621780" y="2029968"/>
            <a:ext cx="4762500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21780" y="2029968"/>
            <a:ext cx="73152" cy="3255264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9524" y="2267712"/>
            <a:ext cx="4287012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Watchouts</a:t>
            </a:r>
            <a:endParaRPr sz="1600" b="1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859524" y="2706624"/>
            <a:ext cx="4287012" cy="14813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03247"/>
                </a:solidFill>
                <a:latin typeface="Arial"/>
              </a:rPr>
              <a:t>No critical watchouts recorded for this slice.</a:t>
            </a:r>
            <a:endParaRPr sz="1500" b="0" i="0"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Comparison Review  •  2026-04-16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05 / 06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585216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Next steps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331720"/>
            <a:ext cx="6263640" cy="2880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• Open the cited source excerpts to confirm the interpretation before acting.</a:t>
            </a:r>
            <a:endParaRPr sz="1400" b="0" i="0"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• Validate critical differences directly in the compared documents before consoli…</a:t>
            </a:r>
            <a:endParaRPr sz="14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60919" y="960120"/>
            <a:ext cx="4023360" cy="4526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60919" y="960120"/>
            <a:ext cx="40233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16951" y="1216152"/>
            <a:ext cx="3511296" cy="213096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Open the cited source excerpts to confirm the interpretation before acting.</a:t>
            </a:r>
            <a:endParaRPr sz="1400" b="0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616951" y="3438559"/>
            <a:ext cx="3511296" cy="1791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4263F"/>
                </a:solidFill>
                <a:latin typeface="Arial"/>
              </a:rPr>
              <a:t>• Validate critical differences directly in the compared documents before consoli…</a:t>
            </a:r>
            <a:endParaRPr sz="14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Comparison Review  •  2026-04-16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06 / 06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