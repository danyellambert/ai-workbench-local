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1354B"/>
                </a:solidFill>
                <a:latin typeface="Aptos"/>
              </a:rPr>
              <a:t>Export kind: candidate_review_deck. Deck family: candidate_review. Sources: structured_result, cv_analysis.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1354B"/>
                </a:solidFill>
                <a:latin typeface="Aptos"/>
              </a:rPr>
              <a:t>Resumo executivo consolidado a partir dos sinais grounded do produto.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1354B"/>
                </a:solidFill>
                <a:latin typeface="Aptos"/>
              </a:rPr>
              <a:t>Top candidate strengths.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1354B"/>
                </a:solidFill>
                <a:latin typeface="Aptos"/>
              </a:rPr>
              <a:t>Candidate gaps versus hiring thesis.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68A52"/>
                </a:solidFill>
                <a:latin typeface="Aptos"/>
              </a:rPr>
              <a:t>EXECUTIVE HIRING SUMMARY GROUNDED IN CV_ANALYSIS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62940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10263F"/>
                </a:solidFill>
                <a:latin typeface="Aptos"/>
              </a:rPr>
              <a:t>AI Workbench Local — Candidate Review · Jane Doe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1856232"/>
            <a:ext cx="621792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66788B"/>
                </a:solidFill>
                <a:latin typeface="Aptos"/>
              </a:rPr>
              <a:t>Executive hiring summary grounded in cv_analysis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014984"/>
            <a:ext cx="3291840" cy="4251960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6788B"/>
                </a:solidFill>
                <a:latin typeface="Aptos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1354B"/>
                </a:solidFill>
                <a:latin typeface="Aptos"/>
              </a:rPr>
              <a:t>AI Workbench Local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6788B"/>
                </a:solidFill>
                <a:latin typeface="Aptos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1354B"/>
                </a:solidFill>
                <a:latin typeface="Aptos"/>
              </a:rPr>
              <a:t>2026-04-05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788B"/>
                </a:solidFill>
                <a:latin typeface="Aptos"/>
              </a:rPr>
              <a:t>AI Workbench Local • Candidate Review  •  2026-04-05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B68A52"/>
                </a:solidFill>
                <a:latin typeface="Aptos"/>
              </a:rPr>
              <a:t>01 / 07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143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0263F"/>
                </a:solidFill>
                <a:latin typeface="Aptos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253801" cy="1810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354B"/>
                </a:solidFill>
                <a:latin typeface="Aptos"/>
              </a:rPr>
              <a:t>Jane Doe (São Paulo) apresenta 3.5 ano(s) de experiência estimada, 3 skill(s) mapeadas e 1 experiência(s) estruturada(s).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96801" y="1920240"/>
            <a:ext cx="4033198" cy="2999232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51081" y="1865376"/>
            <a:ext cx="4033198" cy="2999232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51081" y="1865376"/>
            <a:ext cx="4033198" cy="91440"/>
          </a:xfrm>
          <a:prstGeom prst="rect">
            <a:avLst/>
          </a:prstGeom>
          <a:solidFill>
            <a:srgbClr val="B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8825" y="2103120"/>
            <a:ext cx="355771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6788B"/>
                </a:solidFill>
                <a:latin typeface="Aptos"/>
              </a:rPr>
              <a:t>Key 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8825" y="2432303"/>
            <a:ext cx="3557710" cy="21945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• Strong applied AI execution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• Good product + engineering bridge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• 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788B"/>
                </a:solidFill>
                <a:latin typeface="Aptos"/>
              </a:rPr>
              <a:t>AI Workbench Local • Candidate Review  •  2026-04-05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B68A52"/>
                </a:solidFill>
                <a:latin typeface="Aptos"/>
              </a:rPr>
              <a:t>02 / 07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143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68A52"/>
                </a:solidFill>
                <a:latin typeface="Aptos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0263F"/>
                </a:solidFill>
                <a:latin typeface="Aptos"/>
              </a:rPr>
              <a:t>Executive snapshot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267712"/>
            <a:ext cx="2509160" cy="2670048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212848"/>
            <a:ext cx="2509160" cy="91440"/>
          </a:xfrm>
          <a:prstGeom prst="rect">
            <a:avLst/>
          </a:prstGeom>
          <a:solidFill>
            <a:srgbClr val="10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0263F"/>
                </a:solidFill>
                <a:latin typeface="Aptos"/>
              </a:rPr>
              <a:t>3.5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1354B"/>
                </a:solidFill>
                <a:latin typeface="Aptos"/>
              </a:rPr>
              <a:t>Experience years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9864" y="2267712"/>
            <a:ext cx="2437743" cy="2670048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24144" y="2212848"/>
            <a:ext cx="2437743" cy="91440"/>
          </a:xfrm>
          <a:prstGeom prst="rect">
            <a:avLst/>
          </a:prstGeom>
          <a:solidFill>
            <a:srgbClr val="B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0263F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1354B"/>
                </a:solidFill>
                <a:latin typeface="Aptos"/>
              </a:rPr>
              <a:t>Skills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2267712"/>
            <a:ext cx="2437743" cy="2670048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9632" y="2212848"/>
            <a:ext cx="2437743" cy="91440"/>
          </a:xfrm>
          <a:prstGeom prst="rect">
            <a:avLst/>
          </a:prstGeom>
          <a:solidFill>
            <a:srgbClr val="10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0263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1354B"/>
                </a:solidFill>
                <a:latin typeface="Aptos"/>
              </a:rPr>
              <a:t>Languages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20839" y="2267712"/>
            <a:ext cx="2509160" cy="2670048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75119" y="2212848"/>
            <a:ext cx="2509160" cy="91440"/>
          </a:xfrm>
          <a:prstGeom prst="rect">
            <a:avLst/>
          </a:prstGeom>
          <a:solidFill>
            <a:srgbClr val="B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0263F"/>
                </a:solidFill>
                <a:latin typeface="Aptos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1354B"/>
                </a:solidFill>
                <a:latin typeface="Aptos"/>
              </a:rPr>
              <a:t>Experience entries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788B"/>
                </a:solidFill>
                <a:latin typeface="Aptos"/>
              </a:rPr>
              <a:t>AI Workbench Local • Candidate Review  •  2026-04-05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B68A52"/>
                </a:solidFill>
                <a:latin typeface="Aptos"/>
              </a:rPr>
              <a:t>03 / 07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143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658368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0263F"/>
                </a:solidFill>
                <a:latin typeface="Aptos"/>
              </a:rPr>
              <a:t>Strengths snapshot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2386584"/>
            <a:ext cx="3348058" cy="2697480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2331720"/>
            <a:ext cx="3348058" cy="2697480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331720"/>
            <a:ext cx="3348058" cy="91440"/>
          </a:xfrm>
          <a:prstGeom prst="rect">
            <a:avLst/>
          </a:prstGeom>
          <a:solidFill>
            <a:srgbClr val="10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532888"/>
            <a:ext cx="2945722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0263F"/>
                </a:solidFill>
                <a:latin typeface="Aptos"/>
              </a:rPr>
              <a:t>Strength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2953512"/>
            <a:ext cx="2945722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1354B"/>
                </a:solidFill>
                <a:latin typeface="Aptos"/>
              </a:rPr>
              <a:t>Strong applied AI execution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4626864"/>
            <a:ext cx="294572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6788B"/>
                </a:solidFill>
                <a:latin typeface="Aptos"/>
              </a:rPr>
              <a:t>Positive signal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91058" y="2386584"/>
            <a:ext cx="3386666" cy="2697480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45338" y="2331720"/>
            <a:ext cx="3386666" cy="2697480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45338" y="2331720"/>
            <a:ext cx="3386666" cy="91440"/>
          </a:xfrm>
          <a:prstGeom prst="rect">
            <a:avLst/>
          </a:prstGeom>
          <a:solidFill>
            <a:srgbClr val="B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46506" y="2532888"/>
            <a:ext cx="298433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0263F"/>
                </a:solidFill>
                <a:latin typeface="Aptos"/>
              </a:rPr>
              <a:t>Strength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6506" y="2953512"/>
            <a:ext cx="298433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1354B"/>
                </a:solidFill>
                <a:latin typeface="Aptos"/>
              </a:rPr>
              <a:t>Good product + engineering bridge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6506" y="4626864"/>
            <a:ext cx="298433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6788B"/>
                </a:solidFill>
                <a:latin typeface="Aptos"/>
              </a:rPr>
              <a:t>Positive signal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97765" y="2386584"/>
            <a:ext cx="3232234" cy="2697480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52045" y="2331720"/>
            <a:ext cx="3232234" cy="2697480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52045" y="2331720"/>
            <a:ext cx="3232234" cy="91440"/>
          </a:xfrm>
          <a:prstGeom prst="rect">
            <a:avLst/>
          </a:prstGeom>
          <a:solidFill>
            <a:srgbClr val="10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53213" y="2532888"/>
            <a:ext cx="2829898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0263F"/>
                </a:solidFill>
                <a:latin typeface="Aptos"/>
              </a:rPr>
              <a:t>Strength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3213" y="2953512"/>
            <a:ext cx="2829898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1354B"/>
                </a:solidFill>
                <a:latin typeface="Aptos"/>
              </a:rPr>
              <a:t>Python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3213" y="4626864"/>
            <a:ext cx="282989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6788B"/>
                </a:solidFill>
                <a:latin typeface="Aptos"/>
              </a:rPr>
              <a:t>Positive signal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788B"/>
                </a:solidFill>
                <a:latin typeface="Aptos"/>
              </a:rPr>
              <a:t>AI Workbench Local • Candidate Review  •  2026-04-05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B68A52"/>
                </a:solidFill>
                <a:latin typeface="Aptos"/>
              </a:rPr>
              <a:t>04 / 07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143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68A52"/>
                </a:solidFill>
                <a:latin typeface="Aptos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0263F"/>
                </a:solidFill>
                <a:latin typeface="Aptos"/>
              </a:rPr>
              <a:t>Experience highlights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975104"/>
            <a:ext cx="2840466" cy="457200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920240"/>
            <a:ext cx="2840466" cy="457200"/>
          </a:xfrm>
          <a:prstGeom prst="roundRect">
            <a:avLst/>
          </a:prstGeom>
          <a:solidFill>
            <a:srgbClr val="10263F"/>
          </a:solidFill>
          <a:ln w="11430">
            <a:solidFill>
              <a:srgbClr val="10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984248"/>
            <a:ext cx="271245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EFC"/>
                </a:solidFill>
                <a:latin typeface="Aptos"/>
              </a:rPr>
              <a:t>Role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09146" y="1975104"/>
            <a:ext cx="2384157" cy="457200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63426" y="1920240"/>
            <a:ext cx="2384157" cy="457200"/>
          </a:xfrm>
          <a:prstGeom prst="roundRect">
            <a:avLst/>
          </a:prstGeom>
          <a:solidFill>
            <a:srgbClr val="10263F"/>
          </a:solidFill>
          <a:ln w="11430">
            <a:solidFill>
              <a:srgbClr val="10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7434" y="1984248"/>
            <a:ext cx="225614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EFC"/>
                </a:solidFill>
                <a:latin typeface="Aptos"/>
              </a:rPr>
              <a:t>Organization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39023" y="1975104"/>
            <a:ext cx="2384157" cy="457200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93303" y="1920240"/>
            <a:ext cx="2384157" cy="457200"/>
          </a:xfrm>
          <a:prstGeom prst="roundRect">
            <a:avLst/>
          </a:prstGeom>
          <a:solidFill>
            <a:srgbClr val="10263F"/>
          </a:solidFill>
          <a:ln w="11430">
            <a:solidFill>
              <a:srgbClr val="10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57311" y="1984248"/>
            <a:ext cx="225614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EFC"/>
                </a:solidFill>
                <a:latin typeface="Aptos"/>
              </a:rPr>
              <a:t>Date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68901" y="1975104"/>
            <a:ext cx="2861098" cy="457200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523181" y="1920240"/>
            <a:ext cx="2861098" cy="457200"/>
          </a:xfrm>
          <a:prstGeom prst="roundRect">
            <a:avLst/>
          </a:prstGeom>
          <a:solidFill>
            <a:srgbClr val="10263F"/>
          </a:solidFill>
          <a:ln w="11430">
            <a:solidFill>
              <a:srgbClr val="10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87189" y="1984248"/>
            <a:ext cx="273308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EFC"/>
                </a:solidFill>
                <a:latin typeface="Aptos"/>
              </a:rPr>
              <a:t>Evidence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2505456"/>
            <a:ext cx="2840466" cy="608624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2450592"/>
            <a:ext cx="2840466" cy="608624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2514600"/>
            <a:ext cx="2712450" cy="48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0263F"/>
                </a:solidFill>
                <a:latin typeface="Aptos"/>
              </a:rPr>
              <a:t>Applied AI Engineer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09146" y="2505456"/>
            <a:ext cx="2384157" cy="608624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663426" y="2450592"/>
            <a:ext cx="2384157" cy="608624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27434" y="2514600"/>
            <a:ext cx="2256141" cy="48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Acme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39023" y="2505456"/>
            <a:ext cx="2384157" cy="608624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093303" y="2450592"/>
            <a:ext cx="2384157" cy="608624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57311" y="2514600"/>
            <a:ext cx="2256141" cy="48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1354B"/>
                </a:solidFill>
                <a:latin typeface="Aptos"/>
              </a:rPr>
              <a:t>2022-2025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68901" y="2505456"/>
            <a:ext cx="2861098" cy="608624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523181" y="2450592"/>
            <a:ext cx="2861098" cy="608624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87189" y="2514600"/>
            <a:ext cx="2733082" cy="48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1354B"/>
                </a:solidFill>
                <a:latin typeface="Aptos"/>
              </a:rPr>
              <a:t>Built RAG pipelines | Shipped eval-driven AI features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788B"/>
                </a:solidFill>
                <a:latin typeface="Aptos"/>
              </a:rPr>
              <a:t>AI Workbench Local • Candidate Review  •  2026-04-05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B68A52"/>
                </a:solidFill>
                <a:latin typeface="Aptos"/>
              </a:rPr>
              <a:t>05 / 07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143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68A52"/>
                </a:solidFill>
                <a:latin typeface="Aptos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0263F"/>
                </a:solidFill>
                <a:latin typeface="Aptos"/>
              </a:rPr>
              <a:t>Gaps vs hiring thesis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03120"/>
            <a:ext cx="4689307" cy="3255264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2048256"/>
            <a:ext cx="4689307" cy="3255264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048256"/>
            <a:ext cx="73152" cy="3255264"/>
          </a:xfrm>
          <a:prstGeom prst="rect">
            <a:avLst/>
          </a:prstGeom>
          <a:solidFill>
            <a:srgbClr val="10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4983" y="2286000"/>
            <a:ext cx="4213819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0263F"/>
                </a:solidFill>
                <a:latin typeface="Aptos"/>
              </a:rPr>
              <a:t>Gaps / 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3" y="2734056"/>
            <a:ext cx="4213819" cy="1481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1354B"/>
                </a:solidFill>
                <a:latin typeface="Aptos"/>
              </a:rPr>
              <a:t>Validate scale/production depth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4875" y="2103120"/>
            <a:ext cx="5625124" cy="3255264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759155" y="2048256"/>
            <a:ext cx="5625124" cy="3255264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59155" y="2048256"/>
            <a:ext cx="73152" cy="3255264"/>
          </a:xfrm>
          <a:prstGeom prst="rect">
            <a:avLst/>
          </a:prstGeom>
          <a:solidFill>
            <a:srgbClr val="B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96899" y="2286000"/>
            <a:ext cx="5149636" cy="393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0263F"/>
                </a:solidFill>
                <a:latin typeface="Aptos"/>
              </a:rPr>
              <a:t>Hiring thesis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899" y="2734056"/>
            <a:ext cx="5149636" cy="12936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1354B"/>
                </a:solidFill>
                <a:latin typeface="Aptos"/>
              </a:rPr>
              <a:t>Advance to the next stage with focused validation of leadership, scope and business ownership.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96899" y="4082555"/>
            <a:ext cx="5149636" cy="983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1354B"/>
                </a:solidFill>
                <a:latin typeface="Aptos"/>
              </a:rPr>
              <a:t>• Agendar entrevista técnica focada em product thinking e delivery.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1354B"/>
                </a:solidFill>
                <a:latin typeface="Aptos"/>
              </a:rPr>
              <a:t>• Validar senioridade, liderança e ownership em cenários reais.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788B"/>
                </a:solidFill>
                <a:latin typeface="Aptos"/>
              </a:rPr>
              <a:t>AI Workbench Local • Candidate Review  •  2026-04-05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B68A52"/>
                </a:solidFill>
                <a:latin typeface="Aptos"/>
              </a:rPr>
              <a:t>06 / 07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143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0263F"/>
                </a:solidFill>
                <a:latin typeface="Aptos"/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21354B"/>
                </a:solidFill>
                <a:latin typeface="Aptos"/>
              </a:rPr>
              <a:t>• Agendar entrevista técnica focada em product thinking e delivery.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21354B"/>
                </a:solidFill>
                <a:latin typeface="Aptos"/>
              </a:rPr>
              <a:t>• Validar senioridade, liderança e ownership em cenários reais.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21354B"/>
                </a:solidFill>
                <a:latin typeface="Aptos"/>
              </a:rPr>
              <a:t>• Validate scale/production depth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06640" y="1014984"/>
            <a:ext cx="4023360" cy="4526280"/>
          </a:xfrm>
          <a:prstGeom prst="roundRect">
            <a:avLst/>
          </a:prstGeom>
          <a:solidFill>
            <a:srgbClr val="D6D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EFC"/>
          </a:solidFill>
          <a:ln w="11430">
            <a:solidFill>
              <a:srgbClr val="D6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60919" y="960120"/>
            <a:ext cx="4023360" cy="91440"/>
          </a:xfrm>
          <a:prstGeom prst="rect">
            <a:avLst/>
          </a:prstGeom>
          <a:solidFill>
            <a:srgbClr val="B68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6951" y="1216152"/>
            <a:ext cx="3511296" cy="1700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1354B"/>
                </a:solidFill>
                <a:latin typeface="Aptos"/>
              </a:rPr>
              <a:t>Agendar entrevista técnica focada em product thinking e delivery.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16951" y="3007960"/>
            <a:ext cx="3511296" cy="22224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0263F"/>
                </a:solidFill>
                <a:latin typeface="Aptos"/>
              </a:rPr>
              <a:t>• Validar senioridade, liderança e ownership em cenários reais.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0263F"/>
                </a:solidFill>
                <a:latin typeface="Aptos"/>
              </a:rPr>
              <a:t>• Validate scale/production depth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788B"/>
                </a:solidFill>
                <a:latin typeface="Aptos"/>
              </a:rPr>
              <a:t>AI Workbench Local • Candidate Review  •  2026-04-05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B68A52"/>
                </a:solidFill>
                <a:latin typeface="Aptos"/>
              </a:rPr>
              <a:t>07 / 07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1430">
            <a:solidFill>
              <a:srgbClr val="D6DE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