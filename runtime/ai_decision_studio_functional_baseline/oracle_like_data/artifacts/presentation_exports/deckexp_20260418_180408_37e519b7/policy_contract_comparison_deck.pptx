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Export kind: policy_contract_comparison_deck. Deck family: comparison. Sources: structured_result, document_agent_comparison.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summary consolidated from the product's grounded signals.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Differences and impacts extracted from the document-comparison flow.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decision framing for this slice.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777240" y="658368"/>
            <a:ext cx="91440" cy="1051560"/>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78992" y="896112"/>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COMPARISON REVIEW OF GROUNDED DOCUMENT DIFFERENCES</a:t>
            </a:r>
          </a:p>
        </p:txBody>
      </p:sp>
      <p:sp>
        <p:nvSpPr>
          <p:cNvPr id="4" name="TextBox 3"/>
          <p:cNvSpPr txBox="1"/>
          <p:nvPr/>
        </p:nvSpPr>
        <p:spPr>
          <a:xfrm>
            <a:off x="1078992" y="1143000"/>
            <a:ext cx="6126480" cy="1243584"/>
          </a:xfrm>
          <a:prstGeom prst="rect">
            <a:avLst/>
          </a:prstGeom>
          <a:noFill/>
        </p:spPr>
        <p:txBody>
          <a:bodyPr wrap="square" anchor="t" lIns="0" rIns="0" tIns="0" bIns="0">
            <a:noAutofit/>
          </a:bodyPr>
          <a:lstStyle/>
          <a:p>
            <a:pPr algn="l">
              <a:spcAft>
                <a:spcPts val="0"/>
              </a:spcAft>
            </a:pPr>
            <a:r>
              <a:rPr sz="3200" b="1" i="0">
                <a:solidFill>
                  <a:srgbClr val="14263F"/>
                </a:solidFill>
                <a:latin typeface="Arial"/>
              </a:rPr>
              <a:t>AI Workbench Local — Policy / Contract Comparison</a:t>
            </a:r>
            <a:endParaRPr sz="3200" b="1" i="0">
              <a:latin typeface="Arial"/>
            </a:endParaRPr>
          </a:p>
        </p:txBody>
      </p:sp>
      <p:sp>
        <p:nvSpPr>
          <p:cNvPr id="5" name="TextBox 4"/>
          <p:cNvSpPr txBox="1"/>
          <p:nvPr/>
        </p:nvSpPr>
        <p:spPr>
          <a:xfrm>
            <a:off x="1078992" y="2551176"/>
            <a:ext cx="5394960" cy="475488"/>
          </a:xfrm>
          <a:prstGeom prst="rect">
            <a:avLst/>
          </a:prstGeom>
          <a:noFill/>
        </p:spPr>
        <p:txBody>
          <a:bodyPr wrap="square" anchor="t" lIns="0" rIns="0" tIns="0" bIns="0">
            <a:noAutofit/>
          </a:bodyPr>
          <a:lstStyle/>
          <a:p>
            <a:pPr algn="l">
              <a:spcAft>
                <a:spcPts val="0"/>
              </a:spcAft>
            </a:pPr>
            <a:r>
              <a:rPr sz="1300" b="0" i="0">
                <a:solidFill>
                  <a:srgbClr val="617287"/>
                </a:solidFill>
                <a:latin typeface="Arial"/>
              </a:rPr>
              <a:t>Executive comparison review of grounded document differences</a:t>
            </a:r>
            <a:endParaRPr sz="1300" b="0" i="0">
              <a:latin typeface="Arial"/>
            </a:endParaRPr>
          </a:p>
        </p:txBody>
      </p:sp>
      <p:sp>
        <p:nvSpPr>
          <p:cNvPr id="6" name="Rounded Rectangle 5"/>
          <p:cNvSpPr/>
          <p:nvPr/>
        </p:nvSpPr>
        <p:spPr>
          <a:xfrm>
            <a:off x="8092440" y="960120"/>
            <a:ext cx="3291840" cy="425196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58200" y="1325880"/>
            <a:ext cx="2560320" cy="1926832"/>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Author</a:t>
            </a:r>
          </a:p>
          <a:p>
            <a:pPr algn="l">
              <a:spcAft>
                <a:spcPts val="0"/>
              </a:spcAft>
            </a:pPr>
            <a:r>
              <a:rPr sz="1400" b="0" i="0">
                <a:solidFill>
                  <a:srgbClr val="203247"/>
                </a:solidFill>
                <a:latin typeface="Arial"/>
              </a:rPr>
              <a:t>AI Workbench Local</a:t>
            </a:r>
          </a:p>
        </p:txBody>
      </p:sp>
      <p:sp>
        <p:nvSpPr>
          <p:cNvPr id="8" name="TextBox 7"/>
          <p:cNvSpPr txBox="1"/>
          <p:nvPr/>
        </p:nvSpPr>
        <p:spPr>
          <a:xfrm>
            <a:off x="8458200" y="3325864"/>
            <a:ext cx="2560320" cy="1520455"/>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Date</a:t>
            </a:r>
          </a:p>
          <a:p>
            <a:pPr algn="l">
              <a:spcAft>
                <a:spcPts val="0"/>
              </a:spcAft>
            </a:pPr>
            <a:r>
              <a:rPr sz="1400" b="0" i="0">
                <a:solidFill>
                  <a:srgbClr val="203247"/>
                </a:solidFill>
                <a:latin typeface="Arial"/>
              </a:rPr>
              <a:t>2026-04-18</a:t>
            </a:r>
          </a:p>
        </p:txBody>
      </p:sp>
      <p:sp>
        <p:nvSpPr>
          <p:cNvPr id="9" name="TextBox 8"/>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0" name="TextBox 9"/>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01 / 06</a:t>
            </a:r>
          </a:p>
        </p:txBody>
      </p:sp>
      <p:cxnSp>
        <p:nvCxnSpPr>
          <p:cNvPr id="11" name="Connector 10"/>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summary</a:t>
            </a:r>
            <a:endParaRPr sz="2800" b="1" i="0">
              <a:latin typeface="Arial"/>
            </a:endParaRPr>
          </a:p>
        </p:txBody>
      </p:sp>
      <p:sp>
        <p:nvSpPr>
          <p:cNvPr id="3" name="TextBox 2"/>
          <p:cNvSpPr txBox="1"/>
          <p:nvPr/>
        </p:nvSpPr>
        <p:spPr>
          <a:xfrm>
            <a:off x="777240" y="2048256"/>
            <a:ext cx="6447488" cy="1938528"/>
          </a:xfrm>
          <a:prstGeom prst="rect">
            <a:avLst/>
          </a:prstGeom>
          <a:noFill/>
        </p:spPr>
        <p:txBody>
          <a:bodyPr wrap="square" anchor="t" lIns="0" rIns="0" tIns="0" bIns="0">
            <a:noAutofit/>
          </a:bodyPr>
          <a:lstStyle/>
          <a:p>
            <a:pPr algn="l">
              <a:spcAft>
                <a:spcPts val="0"/>
              </a:spcAft>
            </a:pPr>
            <a:r>
              <a:rPr sz="1100" b="0" i="0">
                <a:solidFill>
                  <a:srgbClr val="203247"/>
                </a:solidFill>
                <a:latin typeface="Arial"/>
              </a:rPr>
              <a:t>Executive Comparison:  
The Access Review Evidence Log addresses gaps in vendor control evidence for Q1 2024, requiring full provenance, ownership, and archival of artifacts to close controls, while the Privileged Account Approval Email governs temporary, scoped access for specific personnel under strict compliance and oversight controls. The former resolves missing evidence to enable control closure; the latter enfors conditional access with quarterly reviews and vendor validation.
- Access Review Evidence Log requires archival of email-export artifacts to resolve outstanding evidence (EV-002).  
- Privileged Account Approval Email mandates vendor confirmation of personnel for standing privileged access.  
- Evidence completeness is a prerequisite for control closure in the Access Review Log.  
- Privileged access is granted conditionally under scoped, logged, and quarterly-reviewed terms.  
- The Access Review Log focuses on vendor control evidence gaps; the email addresses personnel access governance.  
- Archiving artifacts resolves status gaps; quarterly recertification enforces ongoing compliance.</a:t>
            </a:r>
            <a:endParaRPr sz="1200" b="0" i="0">
              <a:latin typeface="Arial"/>
            </a:endParaRPr>
          </a:p>
        </p:txBody>
      </p:sp>
      <p:sp>
        <p:nvSpPr>
          <p:cNvPr id="4" name="Rounded Rectangle 3"/>
          <p:cNvSpPr/>
          <p:nvPr/>
        </p:nvSpPr>
        <p:spPr>
          <a:xfrm>
            <a:off x="7517336" y="1865376"/>
            <a:ext cx="3866943" cy="31272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17336" y="1865376"/>
            <a:ext cx="38669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36792" y="2084832"/>
            <a:ext cx="3428031" cy="256032"/>
          </a:xfrm>
          <a:prstGeom prst="rect">
            <a:avLst/>
          </a:prstGeom>
          <a:noFill/>
        </p:spPr>
        <p:txBody>
          <a:bodyPr wrap="square" anchor="t" lIns="0" rIns="0" tIns="0" bIns="0">
            <a:spAutoFit/>
          </a:bodyPr>
          <a:lstStyle/>
          <a:p/>
        </p:txBody>
      </p:sp>
      <p:sp>
        <p:nvSpPr>
          <p:cNvPr id="7" name="TextBox 6"/>
          <p:cNvSpPr txBox="1"/>
          <p:nvPr/>
        </p:nvSpPr>
        <p:spPr>
          <a:xfrm>
            <a:off x="7736792" y="2414016"/>
            <a:ext cx="3428031" cy="2359152"/>
          </a:xfrm>
          <a:prstGeom prst="rect">
            <a:avLst/>
          </a:prstGeom>
          <a:noFill/>
        </p:spPr>
        <p:txBody>
          <a:bodyPr wrap="square" anchor="t" lIns="0" rIns="0" tIns="0" bIns="0">
            <a:noAutofit/>
          </a:bodyPr>
          <a:lstStyle/>
          <a:p>
            <a:pPr algn="l">
              <a:lnSpc>
                <a:spcPct val="100000"/>
              </a:lnSpc>
              <a:spcAft>
                <a:spcPts val="300"/>
              </a:spcAft>
            </a:pPr>
            <a:r>
              <a:rPr sz="900" b="0" i="0">
                <a:solidFill>
                  <a:srgbClr val="203247"/>
                </a:solidFill>
                <a:latin typeface="Arial"/>
              </a:rPr>
              <a:t>• The Access Review Evidence Log addresses gaps in vendor control evidence fo…</a:t>
            </a:r>
            <a:endParaRPr sz="1000" b="0" i="0">
              <a:latin typeface="Arial"/>
            </a:endParaRPr>
          </a:p>
          <a:p>
            <a:pPr algn="l">
              <a:lnSpc>
                <a:spcPct val="100000"/>
              </a:lnSpc>
              <a:spcAft>
                <a:spcPts val="300"/>
              </a:spcAft>
            </a:pPr>
            <a:r>
              <a:rPr sz="900" b="0" i="0">
                <a:solidFill>
                  <a:srgbClr val="203247"/>
                </a:solidFill>
                <a:latin typeface="Arial"/>
              </a:rPr>
              <a:t>• Access Review Evidence Log requires archival of email-export artifacts to r…</a:t>
            </a:r>
            <a:endParaRPr sz="1000" b="0" i="0">
              <a:latin typeface="Arial"/>
            </a:endParaRPr>
          </a:p>
          <a:p>
            <a:pPr algn="l">
              <a:lnSpc>
                <a:spcPct val="100000"/>
              </a:lnSpc>
              <a:spcAft>
                <a:spcPts val="300"/>
              </a:spcAft>
            </a:pPr>
            <a:r>
              <a:rPr sz="900" b="0" i="0">
                <a:solidFill>
                  <a:srgbClr val="203247"/>
                </a:solidFill>
                <a:latin typeface="Arial"/>
              </a:rPr>
              <a:t>• Privileged Account Approval Email mandates vendor confirmation of personnel…</a:t>
            </a:r>
            <a:endParaRPr sz="10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02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KEY METRICS</a:t>
            </a:r>
          </a:p>
        </p:txBody>
      </p:sp>
      <p:sp>
        <p:nvSpPr>
          <p:cNvPr id="3" name="TextBox 2"/>
          <p:cNvSpPr txBox="1"/>
          <p:nvPr/>
        </p:nvSpPr>
        <p:spPr>
          <a:xfrm>
            <a:off x="777240" y="932688"/>
            <a:ext cx="681228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snapshot</a:t>
            </a:r>
            <a:endParaRPr sz="2800" b="1" i="0">
              <a:latin typeface="Arial"/>
            </a:endParaRPr>
          </a:p>
        </p:txBody>
      </p:sp>
      <p:sp>
        <p:nvSpPr>
          <p:cNvPr id="4" name="Rounded Rectangle 3"/>
          <p:cNvSpPr/>
          <p:nvPr/>
        </p:nvSpPr>
        <p:spPr>
          <a:xfrm>
            <a:off x="777240"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212848"/>
            <a:ext cx="2509160"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2</a:t>
            </a:r>
            <a:endParaRPr sz="2400" b="1" i="0">
              <a:latin typeface="Arial"/>
            </a:endParaRPr>
          </a:p>
        </p:txBody>
      </p:sp>
      <p:sp>
        <p:nvSpPr>
          <p:cNvPr id="7" name="TextBox 6"/>
          <p:cNvSpPr txBox="1"/>
          <p:nvPr/>
        </p:nvSpPr>
        <p:spPr>
          <a:xfrm>
            <a:off x="99669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Compared docs</a:t>
            </a:r>
            <a:endParaRPr sz="1200" b="1" i="0">
              <a:latin typeface="Arial"/>
            </a:endParaRPr>
          </a:p>
        </p:txBody>
      </p:sp>
      <p:sp>
        <p:nvSpPr>
          <p:cNvPr id="8" name="Rounded Rectangle 7"/>
          <p:cNvSpPr/>
          <p:nvPr/>
        </p:nvSpPr>
        <p:spPr>
          <a:xfrm>
            <a:off x="3524144"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24144" y="2212848"/>
            <a:ext cx="24377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3600"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8</a:t>
            </a:r>
            <a:endParaRPr sz="2400" b="1" i="0">
              <a:latin typeface="Arial"/>
            </a:endParaRPr>
          </a:p>
        </p:txBody>
      </p:sp>
      <p:sp>
        <p:nvSpPr>
          <p:cNvPr id="11" name="TextBox 10"/>
          <p:cNvSpPr txBox="1"/>
          <p:nvPr/>
        </p:nvSpPr>
        <p:spPr>
          <a:xfrm>
            <a:off x="3743600"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Findings</a:t>
            </a:r>
            <a:endParaRPr sz="1200" b="1" i="0">
              <a:latin typeface="Arial"/>
            </a:endParaRPr>
          </a:p>
        </p:txBody>
      </p:sp>
      <p:sp>
        <p:nvSpPr>
          <p:cNvPr id="12" name="Rounded Rectangle 11"/>
          <p:cNvSpPr/>
          <p:nvPr/>
        </p:nvSpPr>
        <p:spPr>
          <a:xfrm>
            <a:off x="6199632"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2212848"/>
            <a:ext cx="2437743"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4</a:t>
            </a:r>
            <a:endParaRPr sz="2400" b="1" i="0">
              <a:latin typeface="Arial"/>
            </a:endParaRPr>
          </a:p>
        </p:txBody>
      </p:sp>
      <p:sp>
        <p:nvSpPr>
          <p:cNvPr id="15" name="TextBox 14"/>
          <p:cNvSpPr txBox="1"/>
          <p:nvPr/>
        </p:nvSpPr>
        <p:spPr>
          <a:xfrm>
            <a:off x="6419088"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Sources</a:t>
            </a:r>
            <a:endParaRPr sz="1200" b="1" i="0">
              <a:latin typeface="Arial"/>
            </a:endParaRPr>
          </a:p>
        </p:txBody>
      </p:sp>
      <p:sp>
        <p:nvSpPr>
          <p:cNvPr id="16" name="Rounded Rectangle 15"/>
          <p:cNvSpPr/>
          <p:nvPr/>
        </p:nvSpPr>
        <p:spPr>
          <a:xfrm>
            <a:off x="8875119"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75119" y="2212848"/>
            <a:ext cx="25091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457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No</a:t>
            </a:r>
            <a:endParaRPr sz="2400" b="1" i="0">
              <a:latin typeface="Arial"/>
            </a:endParaRPr>
          </a:p>
        </p:txBody>
      </p:sp>
      <p:sp>
        <p:nvSpPr>
          <p:cNvPr id="19" name="TextBox 18"/>
          <p:cNvSpPr txBox="1"/>
          <p:nvPr/>
        </p:nvSpPr>
        <p:spPr>
          <a:xfrm>
            <a:off x="909457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Needs review</a:t>
            </a:r>
            <a:endParaRPr sz="1200" b="1" i="0">
              <a:latin typeface="Arial"/>
            </a:endParaRPr>
          </a:p>
        </p:txBody>
      </p:sp>
      <p:sp>
        <p:nvSpPr>
          <p:cNvPr id="20" name="TextBox 19"/>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21" name="TextBox 20"/>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03 / 06</a:t>
            </a:r>
          </a:p>
        </p:txBody>
      </p:sp>
      <p:cxnSp>
        <p:nvCxnSpPr>
          <p:cNvPr id="22" name="Connector 21"/>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TABLE</a:t>
            </a:r>
          </a:p>
        </p:txBody>
      </p:sp>
      <p:sp>
        <p:nvSpPr>
          <p:cNvPr id="3" name="TextBox 2"/>
          <p:cNvSpPr txBox="1"/>
          <p:nvPr/>
        </p:nvSpPr>
        <p:spPr>
          <a:xfrm>
            <a:off x="777240" y="932688"/>
            <a:ext cx="7498079"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Comparison findings</a:t>
            </a:r>
            <a:endParaRPr sz="2800" b="1" i="0">
              <a:latin typeface="Arial"/>
            </a:endParaRPr>
          </a:p>
        </p:txBody>
      </p:sp>
      <p:sp>
        <p:nvSpPr>
          <p:cNvPr id="4" name="Rounded Rectangle 3"/>
          <p:cNvSpPr/>
          <p:nvPr/>
        </p:nvSpPr>
        <p:spPr>
          <a:xfrm>
            <a:off x="777240" y="1920240"/>
            <a:ext cx="2352634"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7" y="1984248"/>
            <a:ext cx="2224618"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Type</a:t>
            </a:r>
            <a:endParaRPr sz="1100" b="1" i="0">
              <a:latin typeface="Arial"/>
            </a:endParaRPr>
          </a:p>
        </p:txBody>
      </p:sp>
      <p:sp>
        <p:nvSpPr>
          <p:cNvPr id="6" name="Rounded Rectangle 5"/>
          <p:cNvSpPr/>
          <p:nvPr/>
        </p:nvSpPr>
        <p:spPr>
          <a:xfrm>
            <a:off x="3175594"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39602"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Finding</a:t>
            </a:r>
            <a:endParaRPr sz="1100" b="1" i="0">
              <a:latin typeface="Arial"/>
            </a:endParaRPr>
          </a:p>
        </p:txBody>
      </p:sp>
      <p:sp>
        <p:nvSpPr>
          <p:cNvPr id="8" name="Rounded Rectangle 7"/>
          <p:cNvSpPr/>
          <p:nvPr/>
        </p:nvSpPr>
        <p:spPr>
          <a:xfrm>
            <a:off x="5927063"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91071"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Documents</a:t>
            </a:r>
            <a:endParaRPr sz="1100" b="1" i="0">
              <a:latin typeface="Arial"/>
            </a:endParaRPr>
          </a:p>
        </p:txBody>
      </p:sp>
      <p:sp>
        <p:nvSpPr>
          <p:cNvPr id="10" name="Rounded Rectangle 9"/>
          <p:cNvSpPr/>
          <p:nvPr/>
        </p:nvSpPr>
        <p:spPr>
          <a:xfrm>
            <a:off x="8678531"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42539"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Evidence</a:t>
            </a:r>
            <a:endParaRPr sz="1100" b="1" i="0">
              <a:latin typeface="Arial"/>
            </a:endParaRPr>
          </a:p>
        </p:txBody>
      </p:sp>
      <p:sp>
        <p:nvSpPr>
          <p:cNvPr id="12" name="Rounded Rectangle 11"/>
          <p:cNvSpPr/>
          <p:nvPr/>
        </p:nvSpPr>
        <p:spPr>
          <a:xfrm>
            <a:off x="777240" y="245059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51460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14" name="Rounded Rectangle 13"/>
          <p:cNvSpPr/>
          <p:nvPr/>
        </p:nvSpPr>
        <p:spPr>
          <a:xfrm>
            <a:off x="3175594"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39602"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Access Review Evidence Log.pdf (pdf)</a:t>
            </a:r>
            <a:endParaRPr sz="1000" b="0" i="0">
              <a:latin typeface="Arial"/>
            </a:endParaRPr>
          </a:p>
        </p:txBody>
      </p:sp>
      <p:sp>
        <p:nvSpPr>
          <p:cNvPr id="16" name="Rounded Rectangle 15"/>
          <p:cNvSpPr/>
          <p:nvPr/>
        </p:nvSpPr>
        <p:spPr>
          <a:xfrm>
            <a:off x="5927063"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91071"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a:t>
            </a:r>
            <a:endParaRPr sz="1000" b="0" i="0">
              <a:latin typeface="Arial"/>
            </a:endParaRPr>
          </a:p>
        </p:txBody>
      </p:sp>
      <p:sp>
        <p:nvSpPr>
          <p:cNvPr id="18" name="Rounded Rectangle 17"/>
          <p:cNvSpPr/>
          <p:nvPr/>
        </p:nvSpPr>
        <p:spPr>
          <a:xfrm>
            <a:off x="8678531"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42539" y="2514600"/>
            <a:ext cx="2577732" cy="276606"/>
          </a:xfrm>
          <a:prstGeom prst="rect">
            <a:avLst/>
          </a:prstGeom>
          <a:noFill/>
        </p:spPr>
        <p:txBody>
          <a:bodyPr wrap="square" anchor="t" lIns="0" rIns="0" tIns="0" bIns="0">
            <a:noAutofit/>
          </a:bodyPr>
          <a:lstStyle/>
          <a:p>
            <a:pPr algn="l">
              <a:spcAft>
                <a:spcPts val="0"/>
              </a:spcAft>
            </a:pPr>
            <a:r>
              <a:rPr sz="800" b="0" i="0">
                <a:solidFill>
                  <a:srgbClr val="203247"/>
                </a:solidFill>
                <a:latin typeface="Arial"/>
              </a:rPr>
              <a:t>Incomplete evidence blocks control closure until verified. | Archiving the email-export artifact resolves EV-002 status.</a:t>
            </a:r>
            <a:endParaRPr sz="800" b="0" i="0">
              <a:latin typeface="Arial"/>
            </a:endParaRPr>
          </a:p>
        </p:txBody>
      </p:sp>
      <p:sp>
        <p:nvSpPr>
          <p:cNvPr id="20" name="Rounded Rectangle 19"/>
          <p:cNvSpPr/>
          <p:nvPr/>
        </p:nvSpPr>
        <p:spPr>
          <a:xfrm>
            <a:off x="777240" y="291007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297408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22" name="Rounded Rectangle 21"/>
          <p:cNvSpPr/>
          <p:nvPr/>
        </p:nvSpPr>
        <p:spPr>
          <a:xfrm>
            <a:off x="3175594"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39602"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Privileged Account Approval Email.pdf (pdf)</a:t>
            </a:r>
            <a:endParaRPr sz="1000" b="0" i="0">
              <a:latin typeface="Arial"/>
            </a:endParaRPr>
          </a:p>
        </p:txBody>
      </p:sp>
      <p:sp>
        <p:nvSpPr>
          <p:cNvPr id="24" name="Rounded Rectangle 23"/>
          <p:cNvSpPr/>
          <p:nvPr/>
        </p:nvSpPr>
        <p:spPr>
          <a:xfrm>
            <a:off x="5927063"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91071"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Privileged Account Approval Email.pdf (pdf)</a:t>
            </a:r>
            <a:endParaRPr sz="1000" b="0" i="0">
              <a:latin typeface="Arial"/>
            </a:endParaRPr>
          </a:p>
        </p:txBody>
      </p:sp>
      <p:sp>
        <p:nvSpPr>
          <p:cNvPr id="26" name="Rounded Rectangle 25"/>
          <p:cNvSpPr/>
          <p:nvPr/>
        </p:nvSpPr>
        <p:spPr>
          <a:xfrm>
            <a:off x="8678531"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42539" y="297408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is conditional on strict operational and compliance controls. | Oversight mechanisms include quarterly recertifi…</a:t>
            </a:r>
            <a:endParaRPr sz="700" b="0" i="0">
              <a:latin typeface="Arial"/>
            </a:endParaRPr>
          </a:p>
        </p:txBody>
      </p:sp>
      <p:sp>
        <p:nvSpPr>
          <p:cNvPr id="28" name="Rounded Rectangle 27"/>
          <p:cNvSpPr/>
          <p:nvPr/>
        </p:nvSpPr>
        <p:spPr>
          <a:xfrm>
            <a:off x="777240" y="336956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7" y="343357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30" name="Rounded Rectangle 29"/>
          <p:cNvSpPr/>
          <p:nvPr/>
        </p:nvSpPr>
        <p:spPr>
          <a:xfrm>
            <a:off x="3175594"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39602"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Access Review Evidence Log addresses gaps in…</a:t>
            </a:r>
            <a:endParaRPr sz="1000" b="0" i="0">
              <a:latin typeface="Arial"/>
            </a:endParaRPr>
          </a:p>
        </p:txBody>
      </p:sp>
      <p:sp>
        <p:nvSpPr>
          <p:cNvPr id="32" name="Rounded Rectangle 31"/>
          <p:cNvSpPr/>
          <p:nvPr/>
        </p:nvSpPr>
        <p:spPr>
          <a:xfrm>
            <a:off x="5927063"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91071"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34" name="Rounded Rectangle 33"/>
          <p:cNvSpPr/>
          <p:nvPr/>
        </p:nvSpPr>
        <p:spPr>
          <a:xfrm>
            <a:off x="8678531"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42539" y="343357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documents five evidence items tied to Q1 2024 vend…</a:t>
            </a:r>
            <a:endParaRPr sz="700" b="0" i="0">
              <a:latin typeface="Arial"/>
            </a:endParaRPr>
          </a:p>
        </p:txBody>
      </p:sp>
      <p:sp>
        <p:nvSpPr>
          <p:cNvPr id="36" name="Rounded Rectangle 35"/>
          <p:cNvSpPr/>
          <p:nvPr/>
        </p:nvSpPr>
        <p:spPr>
          <a:xfrm>
            <a:off x="777240" y="3829050"/>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7" y="3893058"/>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auditability_delta</a:t>
            </a:r>
            <a:endParaRPr sz="1000" b="0" i="0">
              <a:latin typeface="Arial"/>
            </a:endParaRPr>
          </a:p>
        </p:txBody>
      </p:sp>
      <p:sp>
        <p:nvSpPr>
          <p:cNvPr id="38" name="Rounded Rectangle 37"/>
          <p:cNvSpPr/>
          <p:nvPr/>
        </p:nvSpPr>
        <p:spPr>
          <a:xfrm>
            <a:off x="3175594"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39602"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 requires archival of email-export…</a:t>
            </a:r>
            <a:endParaRPr sz="1000" b="0" i="0">
              <a:latin typeface="Arial"/>
            </a:endParaRPr>
          </a:p>
        </p:txBody>
      </p:sp>
      <p:sp>
        <p:nvSpPr>
          <p:cNvPr id="40" name="Rounded Rectangle 39"/>
          <p:cNvSpPr/>
          <p:nvPr/>
        </p:nvSpPr>
        <p:spPr>
          <a:xfrm>
            <a:off x="5927063"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91071"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42" name="Rounded Rectangle 41"/>
          <p:cNvSpPr/>
          <p:nvPr/>
        </p:nvSpPr>
        <p:spPr>
          <a:xfrm>
            <a:off x="8678531"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42539" y="3893058"/>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documents five evidence items tied to Q1 2024 vend…</a:t>
            </a:r>
            <a:endParaRPr sz="700" b="0" i="0">
              <a:latin typeface="Arial"/>
            </a:endParaRPr>
          </a:p>
        </p:txBody>
      </p:sp>
      <p:sp>
        <p:nvSpPr>
          <p:cNvPr id="44" name="Rounded Rectangle 43"/>
          <p:cNvSpPr/>
          <p:nvPr/>
        </p:nvSpPr>
        <p:spPr>
          <a:xfrm>
            <a:off x="777240" y="4288536"/>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1247" y="4352544"/>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46" name="Rounded Rectangle 45"/>
          <p:cNvSpPr/>
          <p:nvPr/>
        </p:nvSpPr>
        <p:spPr>
          <a:xfrm>
            <a:off x="3175594"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39602"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Privileged Account Approval Email mandates vendor confirmation of…</a:t>
            </a:r>
            <a:endParaRPr sz="1000" b="0" i="0">
              <a:latin typeface="Arial"/>
            </a:endParaRPr>
          </a:p>
        </p:txBody>
      </p:sp>
      <p:sp>
        <p:nvSpPr>
          <p:cNvPr id="48" name="Rounded Rectangle 47"/>
          <p:cNvSpPr/>
          <p:nvPr/>
        </p:nvSpPr>
        <p:spPr>
          <a:xfrm>
            <a:off x="5927063"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91071"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0" name="Rounded Rectangle 49"/>
          <p:cNvSpPr/>
          <p:nvPr/>
        </p:nvSpPr>
        <p:spPr>
          <a:xfrm>
            <a:off x="8678531"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42539" y="4352544"/>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EV-002 System owner approval email for privileged vendor accounts Operations Dire…</a:t>
            </a:r>
            <a:endParaRPr sz="700" b="0" i="0">
              <a:latin typeface="Arial"/>
            </a:endParaRPr>
          </a:p>
        </p:txBody>
      </p:sp>
      <p:sp>
        <p:nvSpPr>
          <p:cNvPr id="52" name="Rounded Rectangle 51"/>
          <p:cNvSpPr/>
          <p:nvPr/>
        </p:nvSpPr>
        <p:spPr>
          <a:xfrm>
            <a:off x="777240" y="474802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1247" y="481203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auditability_delta</a:t>
            </a:r>
            <a:endParaRPr sz="1000" b="0" i="0">
              <a:latin typeface="Arial"/>
            </a:endParaRPr>
          </a:p>
        </p:txBody>
      </p:sp>
      <p:sp>
        <p:nvSpPr>
          <p:cNvPr id="54" name="Rounded Rectangle 53"/>
          <p:cNvSpPr/>
          <p:nvPr/>
        </p:nvSpPr>
        <p:spPr>
          <a:xfrm>
            <a:off x="3175594"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39602"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Evidence completeness is a prerequisite for control closure…</a:t>
            </a:r>
            <a:endParaRPr sz="1000" b="0" i="0">
              <a:latin typeface="Arial"/>
            </a:endParaRPr>
          </a:p>
        </p:txBody>
      </p:sp>
      <p:sp>
        <p:nvSpPr>
          <p:cNvPr id="56" name="Rounded Rectangle 55"/>
          <p:cNvSpPr/>
          <p:nvPr/>
        </p:nvSpPr>
        <p:spPr>
          <a:xfrm>
            <a:off x="5927063"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91071"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8" name="Rounded Rectangle 57"/>
          <p:cNvSpPr/>
          <p:nvPr/>
        </p:nvSpPr>
        <p:spPr>
          <a:xfrm>
            <a:off x="8678531"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742539" y="4812030"/>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documents five evidence items tied to Q1 2024 vend…</a:t>
            </a:r>
            <a:endParaRPr sz="700" b="0" i="0">
              <a:latin typeface="Arial"/>
            </a:endParaRPr>
          </a:p>
        </p:txBody>
      </p:sp>
      <p:sp>
        <p:nvSpPr>
          <p:cNvPr id="60" name="Rounded Rectangle 59"/>
          <p:cNvSpPr/>
          <p:nvPr/>
        </p:nvSpPr>
        <p:spPr>
          <a:xfrm>
            <a:off x="777240" y="520750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1247" y="527151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62" name="Rounded Rectangle 61"/>
          <p:cNvSpPr/>
          <p:nvPr/>
        </p:nvSpPr>
        <p:spPr>
          <a:xfrm>
            <a:off x="3175594"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39602"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Privileged access is granted conditionally under scoped, logged,…</a:t>
            </a:r>
            <a:endParaRPr sz="1000" b="0" i="0">
              <a:latin typeface="Arial"/>
            </a:endParaRPr>
          </a:p>
        </p:txBody>
      </p:sp>
      <p:sp>
        <p:nvSpPr>
          <p:cNvPr id="64" name="Rounded Rectangle 63"/>
          <p:cNvSpPr/>
          <p:nvPr/>
        </p:nvSpPr>
        <p:spPr>
          <a:xfrm>
            <a:off x="5927063"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91071"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66" name="Rounded Rectangle 65"/>
          <p:cNvSpPr/>
          <p:nvPr/>
        </p:nvSpPr>
        <p:spPr>
          <a:xfrm>
            <a:off x="8678531"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742539" y="527151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documents five evidence items tied to Q1 2024 vend…</a:t>
            </a:r>
            <a:endParaRPr sz="700" b="0" i="0">
              <a:latin typeface="Arial"/>
            </a:endParaRPr>
          </a:p>
        </p:txBody>
      </p:sp>
      <p:sp>
        <p:nvSpPr>
          <p:cNvPr id="68" name="Rounded Rectangle 67"/>
          <p:cNvSpPr/>
          <p:nvPr/>
        </p:nvSpPr>
        <p:spPr>
          <a:xfrm>
            <a:off x="777240" y="566699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1247" y="573100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vendor_oversight_delta</a:t>
            </a:r>
            <a:endParaRPr sz="1000" b="0" i="0">
              <a:latin typeface="Arial"/>
            </a:endParaRPr>
          </a:p>
        </p:txBody>
      </p:sp>
      <p:sp>
        <p:nvSpPr>
          <p:cNvPr id="70" name="Rounded Rectangle 69"/>
          <p:cNvSpPr/>
          <p:nvPr/>
        </p:nvSpPr>
        <p:spPr>
          <a:xfrm>
            <a:off x="3175594"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39602"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Access Review Log focuses on vendor control…</a:t>
            </a:r>
            <a:endParaRPr sz="1000" b="0" i="0">
              <a:latin typeface="Arial"/>
            </a:endParaRPr>
          </a:p>
        </p:txBody>
      </p:sp>
      <p:sp>
        <p:nvSpPr>
          <p:cNvPr id="72" name="Rounded Rectangle 71"/>
          <p:cNvSpPr/>
          <p:nvPr/>
        </p:nvSpPr>
        <p:spPr>
          <a:xfrm>
            <a:off x="5927063"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991071"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74" name="Rounded Rectangle 73"/>
          <p:cNvSpPr/>
          <p:nvPr/>
        </p:nvSpPr>
        <p:spPr>
          <a:xfrm>
            <a:off x="8678531"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742539" y="573100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documents five evidence items tied to Q1 2024 vend…</a:t>
            </a:r>
            <a:endParaRPr sz="700" b="0" i="0">
              <a:latin typeface="Arial"/>
            </a:endParaRPr>
          </a:p>
        </p:txBody>
      </p:sp>
      <p:sp>
        <p:nvSpPr>
          <p:cNvPr id="76" name="TextBox 75"/>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77" name="TextBox 76"/>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04 / 06</a:t>
            </a:r>
          </a:p>
        </p:txBody>
      </p:sp>
      <p:cxnSp>
        <p:nvCxnSpPr>
          <p:cNvPr id="78" name="Connector 77"/>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NARRATIVE</a:t>
            </a:r>
          </a:p>
        </p:txBody>
      </p:sp>
      <p:sp>
        <p:nvSpPr>
          <p:cNvPr id="3" name="TextBox 2"/>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Recommendation vs watchouts</a:t>
            </a:r>
            <a:endParaRPr sz="2800" b="1" i="0">
              <a:latin typeface="Arial"/>
            </a:endParaRPr>
          </a:p>
        </p:txBody>
      </p:sp>
      <p:sp>
        <p:nvSpPr>
          <p:cNvPr id="4" name="Rounded Rectangle 3"/>
          <p:cNvSpPr/>
          <p:nvPr/>
        </p:nvSpPr>
        <p:spPr>
          <a:xfrm>
            <a:off x="777240" y="2029968"/>
            <a:ext cx="5551932"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029968"/>
            <a:ext cx="73152" cy="3255264"/>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4983" y="2267712"/>
            <a:ext cx="5076444"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Recommendation</a:t>
            </a:r>
            <a:endParaRPr sz="1600" b="1" i="0">
              <a:latin typeface="Arial"/>
            </a:endParaRPr>
          </a:p>
        </p:txBody>
      </p:sp>
      <p:sp>
        <p:nvSpPr>
          <p:cNvPr id="7" name="TextBox 6"/>
          <p:cNvSpPr txBox="1"/>
          <p:nvPr/>
        </p:nvSpPr>
        <p:spPr>
          <a:xfrm>
            <a:off x="1014983" y="2706624"/>
            <a:ext cx="5076444" cy="1272819"/>
          </a:xfrm>
          <a:prstGeom prst="rect">
            <a:avLst/>
          </a:prstGeom>
          <a:noFill/>
        </p:spPr>
        <p:txBody>
          <a:bodyPr wrap="square" anchor="t" lIns="0" rIns="0" tIns="0" bIns="0">
            <a:noAutofit/>
          </a:bodyPr>
          <a:lstStyle/>
          <a:p>
            <a:pPr algn="l">
              <a:spcAft>
                <a:spcPts val="0"/>
              </a:spcAft>
            </a:pPr>
            <a:r>
              <a:rPr sz="1400" b="0" i="0">
                <a:solidFill>
                  <a:srgbClr val="203247"/>
                </a:solidFill>
                <a:latin typeface="Arial"/>
              </a:rPr>
              <a:t>Open the cited source excerpts to confirm the interpretation before acting.</a:t>
            </a:r>
            <a:endParaRPr sz="1500" b="0" i="0">
              <a:latin typeface="Arial"/>
            </a:endParaRPr>
          </a:p>
        </p:txBody>
      </p:sp>
      <p:sp>
        <p:nvSpPr>
          <p:cNvPr id="8" name="TextBox 7"/>
          <p:cNvSpPr txBox="1"/>
          <p:nvPr/>
        </p:nvSpPr>
        <p:spPr>
          <a:xfrm>
            <a:off x="1014983" y="4034307"/>
            <a:ext cx="5076444" cy="1013180"/>
          </a:xfrm>
          <a:prstGeom prst="rect">
            <a:avLst/>
          </a:prstGeom>
          <a:noFill/>
        </p:spPr>
        <p:txBody>
          <a:bodyPr wrap="square" anchor="t" lIns="0" rIns="0" tIns="0" bIns="0">
            <a:noAutofit/>
          </a:bodyPr>
          <a:lstStyle/>
          <a:p>
            <a:pPr algn="l">
              <a:spcAft>
                <a:spcPts val="300"/>
              </a:spcAft>
            </a:pPr>
            <a:r>
              <a:rPr sz="1000" b="0" i="0">
                <a:solidFill>
                  <a:srgbClr val="203247"/>
                </a:solidFill>
                <a:latin typeface="Arial"/>
              </a:rPr>
              <a:t>• Open the cited source excerpts to confirm the interpretation before act…</a:t>
            </a:r>
            <a:endParaRPr sz="1100" b="0" i="0">
              <a:latin typeface="Arial"/>
            </a:endParaRPr>
          </a:p>
          <a:p>
            <a:pPr algn="l">
              <a:spcAft>
                <a:spcPts val="300"/>
              </a:spcAft>
            </a:pPr>
            <a:r>
              <a:rPr sz="1000" b="0" i="0">
                <a:solidFill>
                  <a:srgbClr val="203247"/>
                </a:solidFill>
                <a:latin typeface="Arial"/>
              </a:rPr>
              <a:t>• Validate critical differences directly in the compared documents before…</a:t>
            </a:r>
            <a:endParaRPr sz="1100" b="0" i="0">
              <a:latin typeface="Arial"/>
            </a:endParaRPr>
          </a:p>
        </p:txBody>
      </p:sp>
      <p:sp>
        <p:nvSpPr>
          <p:cNvPr id="9" name="Rounded Rectangle 8"/>
          <p:cNvSpPr/>
          <p:nvPr/>
        </p:nvSpPr>
        <p:spPr>
          <a:xfrm>
            <a:off x="6621780" y="2029968"/>
            <a:ext cx="4762500"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21780" y="2029968"/>
            <a:ext cx="73152" cy="3255264"/>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9524" y="2267712"/>
            <a:ext cx="4287012"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Watchouts</a:t>
            </a:r>
            <a:endParaRPr sz="1600" b="1" i="0">
              <a:latin typeface="Arial"/>
            </a:endParaRPr>
          </a:p>
        </p:txBody>
      </p:sp>
      <p:sp>
        <p:nvSpPr>
          <p:cNvPr id="12" name="TextBox 11"/>
          <p:cNvSpPr txBox="1"/>
          <p:nvPr/>
        </p:nvSpPr>
        <p:spPr>
          <a:xfrm>
            <a:off x="6859524" y="2706624"/>
            <a:ext cx="4287012" cy="1481328"/>
          </a:xfrm>
          <a:prstGeom prst="rect">
            <a:avLst/>
          </a:prstGeom>
          <a:noFill/>
        </p:spPr>
        <p:txBody>
          <a:bodyPr wrap="square" anchor="t" lIns="0" rIns="0" tIns="0" bIns="0">
            <a:noAutofit/>
          </a:bodyPr>
          <a:lstStyle/>
          <a:p>
            <a:pPr algn="l">
              <a:spcAft>
                <a:spcPts val="0"/>
              </a:spcAft>
            </a:pPr>
            <a:r>
              <a:rPr sz="1500" b="0" i="0">
                <a:solidFill>
                  <a:srgbClr val="203247"/>
                </a:solidFill>
                <a:latin typeface="Arial"/>
              </a:rPr>
              <a:t>No critical watchouts recorded for this slice.</a:t>
            </a:r>
            <a:endParaRPr sz="1500" b="0" i="0">
              <a:latin typeface="Arial"/>
            </a:endParaRPr>
          </a:p>
        </p:txBody>
      </p:sp>
      <p:sp>
        <p:nvSpPr>
          <p:cNvPr id="13" name="TextBox 12"/>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4" name="TextBox 13"/>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05 / 06</a:t>
            </a:r>
          </a:p>
        </p:txBody>
      </p:sp>
      <p:cxnSp>
        <p:nvCxnSpPr>
          <p:cNvPr id="15" name="Connector 14"/>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5852160" cy="777240"/>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Next steps</a:t>
            </a:r>
            <a:endParaRPr sz="2800" b="1" i="0">
              <a:latin typeface="Arial"/>
            </a:endParaRPr>
          </a:p>
        </p:txBody>
      </p:sp>
      <p:sp>
        <p:nvSpPr>
          <p:cNvPr id="3" name="TextBox 2"/>
          <p:cNvSpPr txBox="1"/>
          <p:nvPr/>
        </p:nvSpPr>
        <p:spPr>
          <a:xfrm>
            <a:off x="777240" y="2331720"/>
            <a:ext cx="6263640" cy="2880360"/>
          </a:xfrm>
          <a:prstGeom prst="rect">
            <a:avLst/>
          </a:prstGeom>
          <a:noFill/>
        </p:spPr>
        <p:txBody>
          <a:bodyPr wrap="square" anchor="t" lIns="0" rIns="0" tIns="0" bIns="0">
            <a:noAutofit/>
          </a:bodyPr>
          <a:lstStyle/>
          <a:p>
            <a:pPr algn="l">
              <a:spcAft>
                <a:spcPts val="400"/>
              </a:spcAft>
            </a:pPr>
            <a:r>
              <a:rPr sz="1300" b="0" i="0">
                <a:solidFill>
                  <a:srgbClr val="203247"/>
                </a:solidFill>
                <a:latin typeface="Arial"/>
              </a:rPr>
              <a:t>• Open the cited source excerpts to confirm the interpretation before acting.</a:t>
            </a:r>
            <a:endParaRPr sz="1400" b="0" i="0">
              <a:latin typeface="Arial"/>
            </a:endParaRPr>
          </a:p>
          <a:p>
            <a:pPr algn="l">
              <a:spcAft>
                <a:spcPts val="400"/>
              </a:spcAft>
            </a:pPr>
            <a:r>
              <a:rPr sz="1300" b="0" i="0">
                <a:solidFill>
                  <a:srgbClr val="203247"/>
                </a:solidFill>
                <a:latin typeface="Arial"/>
              </a:rPr>
              <a:t>• Validate critical differences directly in the compared documents before consoli…</a:t>
            </a:r>
            <a:endParaRPr sz="1400" b="0" i="0">
              <a:latin typeface="Arial"/>
            </a:endParaRPr>
          </a:p>
        </p:txBody>
      </p:sp>
      <p:sp>
        <p:nvSpPr>
          <p:cNvPr id="4" name="Rounded Rectangle 3"/>
          <p:cNvSpPr/>
          <p:nvPr/>
        </p:nvSpPr>
        <p:spPr>
          <a:xfrm>
            <a:off x="7360919" y="960120"/>
            <a:ext cx="4023360" cy="452628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60919" y="960120"/>
            <a:ext cx="40233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16951" y="1216152"/>
            <a:ext cx="3511296" cy="2130967"/>
          </a:xfrm>
          <a:prstGeom prst="rect">
            <a:avLst/>
          </a:prstGeom>
          <a:noFill/>
        </p:spPr>
        <p:txBody>
          <a:bodyPr wrap="square" anchor="t" lIns="0" rIns="0" tIns="0" bIns="0">
            <a:noAutofit/>
          </a:bodyPr>
          <a:lstStyle/>
          <a:p>
            <a:pPr algn="l">
              <a:spcAft>
                <a:spcPts val="0"/>
              </a:spcAft>
            </a:pPr>
            <a:r>
              <a:rPr sz="1300" b="0" i="0">
                <a:solidFill>
                  <a:srgbClr val="203247"/>
                </a:solidFill>
                <a:latin typeface="Arial"/>
              </a:rPr>
              <a:t>Open the cited source excerpts to confirm the interpretation before acting.</a:t>
            </a:r>
            <a:endParaRPr sz="1400" b="0" i="0">
              <a:latin typeface="Arial"/>
            </a:endParaRPr>
          </a:p>
        </p:txBody>
      </p:sp>
      <p:sp>
        <p:nvSpPr>
          <p:cNvPr id="7" name="TextBox 6"/>
          <p:cNvSpPr txBox="1"/>
          <p:nvPr/>
        </p:nvSpPr>
        <p:spPr>
          <a:xfrm>
            <a:off x="7616951" y="3438559"/>
            <a:ext cx="3511296" cy="1791808"/>
          </a:xfrm>
          <a:prstGeom prst="rect">
            <a:avLst/>
          </a:prstGeom>
          <a:noFill/>
        </p:spPr>
        <p:txBody>
          <a:bodyPr wrap="square" anchor="t" lIns="0" rIns="0" tIns="0" bIns="0">
            <a:noAutofit/>
          </a:bodyPr>
          <a:lstStyle/>
          <a:p>
            <a:pPr algn="l">
              <a:spcAft>
                <a:spcPts val="400"/>
              </a:spcAft>
            </a:pPr>
            <a:r>
              <a:rPr sz="1300" b="0" i="0">
                <a:solidFill>
                  <a:srgbClr val="14263F"/>
                </a:solidFill>
                <a:latin typeface="Arial"/>
              </a:rPr>
              <a:t>• Validate critical differences directly in the compared documents before consoli…</a:t>
            </a:r>
            <a:endParaRPr sz="14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06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