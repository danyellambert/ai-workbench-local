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b="0" i="0">
                <a:solidFill>
                  <a:srgbClr val="203247"/>
                </a:solidFill>
                <a:latin typeface="Arial"/>
              </a:rPr>
              <a:t>Export kind: policy_contract_comparison_deck. Deck family: comparison. Sources: structured_result, document_agent_comparison.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b="0" i="0">
                <a:solidFill>
                  <a:srgbClr val="203247"/>
                </a:solidFill>
                <a:latin typeface="Arial"/>
              </a:rPr>
              <a:t>Executive summary consolidated from the product's grounded signals.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b="0" i="0">
                <a:solidFill>
                  <a:srgbClr val="203247"/>
                </a:solidFill>
                <a:latin typeface="Arial"/>
              </a:rPr>
              <a:t>Differences and impacts extracted from the document-comparison flow.</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b="0" i="0">
                <a:solidFill>
                  <a:srgbClr val="203247"/>
                </a:solidFill>
                <a:latin typeface="Arial"/>
              </a:rPr>
              <a:t>Executive decision framing for this slice.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7F5F2"/>
        </a:solidFill>
        <a:effectLst/>
      </p:bgPr>
    </p:bg>
    <p:spTree>
      <p:nvGrpSpPr>
        <p:cNvPr id="1" name=""/>
        <p:cNvGrpSpPr/>
        <p:nvPr/>
      </p:nvGrpSpPr>
      <p:grpSpPr/>
      <p:sp>
        <p:nvSpPr>
          <p:cNvPr id="2" name="Rectangle 1"/>
          <p:cNvSpPr/>
          <p:nvPr/>
        </p:nvSpPr>
        <p:spPr>
          <a:xfrm>
            <a:off x="777240" y="658368"/>
            <a:ext cx="91440" cy="1051560"/>
          </a:xfrm>
          <a:prstGeom prst="rect">
            <a:avLst/>
          </a:prstGeom>
          <a:solidFill>
            <a:srgbClr val="B08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78992" y="896112"/>
            <a:ext cx="4389120" cy="228600"/>
          </a:xfrm>
          <a:prstGeom prst="rect">
            <a:avLst/>
          </a:prstGeom>
          <a:noFill/>
        </p:spPr>
        <p:txBody>
          <a:bodyPr wrap="square" anchor="t" lIns="0" rIns="0" tIns="0" bIns="0">
            <a:spAutoFit/>
          </a:bodyPr>
          <a:lstStyle/>
          <a:p>
            <a:pPr algn="l"/>
            <a:r>
              <a:rPr sz="1000" b="1" i="0">
                <a:solidFill>
                  <a:srgbClr val="B08B5B"/>
                </a:solidFill>
                <a:latin typeface="Arial"/>
              </a:rPr>
              <a:t>EXECUTIVE COMPARISON REVIEW OF GROUNDED DOCUMENT DIFFERENCES</a:t>
            </a:r>
          </a:p>
        </p:txBody>
      </p:sp>
      <p:sp>
        <p:nvSpPr>
          <p:cNvPr id="4" name="TextBox 3"/>
          <p:cNvSpPr txBox="1"/>
          <p:nvPr/>
        </p:nvSpPr>
        <p:spPr>
          <a:xfrm>
            <a:off x="1078992" y="1143000"/>
            <a:ext cx="6126480" cy="1243584"/>
          </a:xfrm>
          <a:prstGeom prst="rect">
            <a:avLst/>
          </a:prstGeom>
          <a:noFill/>
        </p:spPr>
        <p:txBody>
          <a:bodyPr wrap="square" anchor="t" lIns="0" rIns="0" tIns="0" bIns="0">
            <a:noAutofit/>
          </a:bodyPr>
          <a:lstStyle/>
          <a:p>
            <a:pPr algn="l">
              <a:spcAft>
                <a:spcPts val="0"/>
              </a:spcAft>
            </a:pPr>
            <a:r>
              <a:rPr sz="3200" b="1" i="0">
                <a:solidFill>
                  <a:srgbClr val="14263F"/>
                </a:solidFill>
                <a:latin typeface="Arial"/>
              </a:rPr>
              <a:t>AI Workbench Local — Policy / Contract Comparison</a:t>
            </a:r>
            <a:endParaRPr sz="3200" b="1" i="0">
              <a:latin typeface="Arial"/>
            </a:endParaRPr>
          </a:p>
        </p:txBody>
      </p:sp>
      <p:sp>
        <p:nvSpPr>
          <p:cNvPr id="5" name="TextBox 4"/>
          <p:cNvSpPr txBox="1"/>
          <p:nvPr/>
        </p:nvSpPr>
        <p:spPr>
          <a:xfrm>
            <a:off x="1078992" y="2551176"/>
            <a:ext cx="5394960" cy="475488"/>
          </a:xfrm>
          <a:prstGeom prst="rect">
            <a:avLst/>
          </a:prstGeom>
          <a:noFill/>
        </p:spPr>
        <p:txBody>
          <a:bodyPr wrap="square" anchor="t" lIns="0" rIns="0" tIns="0" bIns="0">
            <a:noAutofit/>
          </a:bodyPr>
          <a:lstStyle/>
          <a:p>
            <a:pPr algn="l">
              <a:spcAft>
                <a:spcPts val="0"/>
              </a:spcAft>
            </a:pPr>
            <a:r>
              <a:rPr sz="1300" b="0" i="0">
                <a:solidFill>
                  <a:srgbClr val="617287"/>
                </a:solidFill>
                <a:latin typeface="Arial"/>
              </a:rPr>
              <a:t>Executive comparison review of grounded document differences</a:t>
            </a:r>
            <a:endParaRPr sz="1300" b="0" i="0">
              <a:latin typeface="Arial"/>
            </a:endParaRPr>
          </a:p>
        </p:txBody>
      </p:sp>
      <p:sp>
        <p:nvSpPr>
          <p:cNvPr id="6" name="Rounded Rectangle 5"/>
          <p:cNvSpPr/>
          <p:nvPr/>
        </p:nvSpPr>
        <p:spPr>
          <a:xfrm>
            <a:off x="8092440" y="960120"/>
            <a:ext cx="3291840" cy="4251960"/>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458200" y="1325880"/>
            <a:ext cx="2560320" cy="1926832"/>
          </a:xfrm>
          <a:prstGeom prst="rect">
            <a:avLst/>
          </a:prstGeom>
          <a:noFill/>
        </p:spPr>
        <p:txBody>
          <a:bodyPr wrap="square" anchor="t" lIns="0" rIns="0" tIns="0" bIns="0">
            <a:spAutoFit/>
          </a:bodyPr>
          <a:lstStyle/>
          <a:p>
            <a:pPr algn="l">
              <a:spcAft>
                <a:spcPts val="200"/>
              </a:spcAft>
            </a:pPr>
            <a:r>
              <a:rPr sz="1000" b="1" i="0">
                <a:solidFill>
                  <a:srgbClr val="617287"/>
                </a:solidFill>
                <a:latin typeface="Arial"/>
              </a:rPr>
              <a:t>Author</a:t>
            </a:r>
          </a:p>
          <a:p>
            <a:pPr algn="l">
              <a:spcAft>
                <a:spcPts val="0"/>
              </a:spcAft>
            </a:pPr>
            <a:r>
              <a:rPr sz="1400" b="0" i="0">
                <a:solidFill>
                  <a:srgbClr val="203247"/>
                </a:solidFill>
                <a:latin typeface="Arial"/>
              </a:rPr>
              <a:t>AI Workbench Local</a:t>
            </a:r>
          </a:p>
        </p:txBody>
      </p:sp>
      <p:sp>
        <p:nvSpPr>
          <p:cNvPr id="8" name="TextBox 7"/>
          <p:cNvSpPr txBox="1"/>
          <p:nvPr/>
        </p:nvSpPr>
        <p:spPr>
          <a:xfrm>
            <a:off x="8458200" y="3325864"/>
            <a:ext cx="2560320" cy="1520455"/>
          </a:xfrm>
          <a:prstGeom prst="rect">
            <a:avLst/>
          </a:prstGeom>
          <a:noFill/>
        </p:spPr>
        <p:txBody>
          <a:bodyPr wrap="square" anchor="t" lIns="0" rIns="0" tIns="0" bIns="0">
            <a:spAutoFit/>
          </a:bodyPr>
          <a:lstStyle/>
          <a:p>
            <a:pPr algn="l">
              <a:spcAft>
                <a:spcPts val="200"/>
              </a:spcAft>
            </a:pPr>
            <a:r>
              <a:rPr sz="1000" b="1" i="0">
                <a:solidFill>
                  <a:srgbClr val="617287"/>
                </a:solidFill>
                <a:latin typeface="Arial"/>
              </a:rPr>
              <a:t>Date</a:t>
            </a:r>
          </a:p>
          <a:p>
            <a:pPr algn="l">
              <a:spcAft>
                <a:spcPts val="0"/>
              </a:spcAft>
            </a:pPr>
            <a:r>
              <a:rPr sz="1400" b="0" i="0">
                <a:solidFill>
                  <a:srgbClr val="203247"/>
                </a:solidFill>
                <a:latin typeface="Arial"/>
              </a:rPr>
              <a:t>2026-04-18</a:t>
            </a:r>
          </a:p>
        </p:txBody>
      </p:sp>
      <p:sp>
        <p:nvSpPr>
          <p:cNvPr id="9" name="TextBox 8"/>
          <p:cNvSpPr txBox="1"/>
          <p:nvPr/>
        </p:nvSpPr>
        <p:spPr>
          <a:xfrm>
            <a:off x="777240" y="6327648"/>
            <a:ext cx="5486400" cy="182880"/>
          </a:xfrm>
          <a:prstGeom prst="rect">
            <a:avLst/>
          </a:prstGeom>
          <a:noFill/>
        </p:spPr>
        <p:txBody>
          <a:bodyPr wrap="square" anchor="t" lIns="0" rIns="0" tIns="0" bIns="0">
            <a:spAutoFit/>
          </a:bodyPr>
          <a:lstStyle/>
          <a:p>
            <a:pPr algn="l"/>
            <a:r>
              <a:rPr sz="1000" b="0" i="0">
                <a:solidFill>
                  <a:srgbClr val="617287"/>
                </a:solidFill>
                <a:latin typeface="Arial"/>
              </a:rPr>
              <a:t>AI Workbench Local • Comparison Review  •  2026-04-18</a:t>
            </a:r>
          </a:p>
        </p:txBody>
      </p:sp>
      <p:sp>
        <p:nvSpPr>
          <p:cNvPr id="10" name="TextBox 9"/>
          <p:cNvSpPr txBox="1"/>
          <p:nvPr/>
        </p:nvSpPr>
        <p:spPr>
          <a:xfrm>
            <a:off x="9966960" y="6327648"/>
            <a:ext cx="1234440" cy="182880"/>
          </a:xfrm>
          <a:prstGeom prst="rect">
            <a:avLst/>
          </a:prstGeom>
          <a:noFill/>
        </p:spPr>
        <p:txBody>
          <a:bodyPr wrap="square" anchor="t" lIns="0" rIns="0" tIns="0" bIns="0">
            <a:spAutoFit/>
          </a:bodyPr>
          <a:lstStyle/>
          <a:p>
            <a:pPr algn="r"/>
            <a:r>
              <a:rPr sz="1000" b="0" i="0">
                <a:solidFill>
                  <a:srgbClr val="617287"/>
                </a:solidFill>
                <a:latin typeface="Arial"/>
              </a:rPr>
              <a:t>01 / 06</a:t>
            </a:r>
          </a:p>
        </p:txBody>
      </p:sp>
      <p:cxnSp>
        <p:nvCxnSpPr>
          <p:cNvPr id="11" name="Connector 10"/>
          <p:cNvCxnSpPr/>
          <p:nvPr/>
        </p:nvCxnSpPr>
        <p:spPr>
          <a:xfrm>
            <a:off x="777240" y="6272784"/>
            <a:ext cx="10607040" cy="0"/>
          </a:xfrm>
          <a:prstGeom prst="line">
            <a:avLst/>
          </a:prstGeom>
          <a:ln w="10160">
            <a:solidFill>
              <a:srgbClr val="D8DEE6"/>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7F5F2"/>
        </a:solidFill>
        <a:effectLst/>
      </p:bgPr>
    </p:bg>
    <p:spTree>
      <p:nvGrpSpPr>
        <p:cNvPr id="1" name=""/>
        <p:cNvGrpSpPr/>
        <p:nvPr/>
      </p:nvGrpSpPr>
      <p:grpSpPr/>
      <p:sp>
        <p:nvSpPr>
          <p:cNvPr id="2" name="TextBox 1"/>
          <p:cNvSpPr txBox="1"/>
          <p:nvPr/>
        </p:nvSpPr>
        <p:spPr>
          <a:xfrm>
            <a:off x="777240" y="932688"/>
            <a:ext cx="7178040" cy="950976"/>
          </a:xfrm>
          <a:prstGeom prst="rect">
            <a:avLst/>
          </a:prstGeom>
          <a:noFill/>
        </p:spPr>
        <p:txBody>
          <a:bodyPr wrap="square" anchor="t" lIns="0" rIns="0" tIns="0" bIns="0">
            <a:noAutofit/>
          </a:bodyPr>
          <a:lstStyle/>
          <a:p>
            <a:pPr algn="l">
              <a:spcAft>
                <a:spcPts val="0"/>
              </a:spcAft>
            </a:pPr>
            <a:r>
              <a:rPr sz="2800" b="1" i="0">
                <a:solidFill>
                  <a:srgbClr val="14263F"/>
                </a:solidFill>
                <a:latin typeface="Arial"/>
              </a:rPr>
              <a:t>Executive summary</a:t>
            </a:r>
            <a:endParaRPr sz="2800" b="1" i="0">
              <a:latin typeface="Arial"/>
            </a:endParaRPr>
          </a:p>
        </p:txBody>
      </p:sp>
      <p:sp>
        <p:nvSpPr>
          <p:cNvPr id="3" name="TextBox 2"/>
          <p:cNvSpPr txBox="1"/>
          <p:nvPr/>
        </p:nvSpPr>
        <p:spPr>
          <a:xfrm>
            <a:off x="777240" y="2048256"/>
            <a:ext cx="6447488" cy="1938528"/>
          </a:xfrm>
          <a:prstGeom prst="rect">
            <a:avLst/>
          </a:prstGeom>
          <a:noFill/>
        </p:spPr>
        <p:txBody>
          <a:bodyPr wrap="square" anchor="t" lIns="0" rIns="0" tIns="0" bIns="0">
            <a:noAutofit/>
          </a:bodyPr>
          <a:lstStyle/>
          <a:p>
            <a:pPr algn="l">
              <a:spcAft>
                <a:spcPts val="0"/>
              </a:spcAft>
            </a:pPr>
            <a:r>
              <a:rPr sz="1100" b="0" i="0">
                <a:solidFill>
                  <a:srgbClr val="203247"/>
                </a:solidFill>
                <a:latin typeface="Arial"/>
              </a:rPr>
              <a:t>Executive Comparison:  
The Access Review Evidence Log serves as a test artifact documenting Q1 2024 vendor-control review progress, with control closure dependent on completing missing provenance and archiving tasks, while the Privileged Account Approval Email establishes a conditional, pilot-level standing privilege for named administrators contingent on strict scoping, logging, quarterly reviews, and ongoing vendor revalidation. The former focuses on retrospective evidence completion for control closure, whereas the latter defines proactive, governed access parameters requiring continuous oversight and personnel change revalidation.
- Control closure hinges on completing missing provenance and archiving requirements for evidence items.  
- Access is granted as a pilot with strict scoping, logging, and quarterly review mandates.  
- Governance requires ongoing vendor confirmation and revalidation if personnel change.  
- The evidence log is a test artifact, not a production record.  
- Standing privilege is conditional on operational controls and recertification.  
- Material difference: retrospective evidence completion vs. proactive, ongoing access governance.</a:t>
            </a:r>
            <a:endParaRPr sz="1200" b="0" i="0">
              <a:latin typeface="Arial"/>
            </a:endParaRPr>
          </a:p>
        </p:txBody>
      </p:sp>
      <p:sp>
        <p:nvSpPr>
          <p:cNvPr id="4" name="Rounded Rectangle 3"/>
          <p:cNvSpPr/>
          <p:nvPr/>
        </p:nvSpPr>
        <p:spPr>
          <a:xfrm>
            <a:off x="7517336" y="1865376"/>
            <a:ext cx="3866943" cy="3127248"/>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517336" y="1865376"/>
            <a:ext cx="3866943" cy="73152"/>
          </a:xfrm>
          <a:prstGeom prst="rect">
            <a:avLst/>
          </a:prstGeom>
          <a:solidFill>
            <a:srgbClr val="B08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36792" y="2084832"/>
            <a:ext cx="3428031" cy="256032"/>
          </a:xfrm>
          <a:prstGeom prst="rect">
            <a:avLst/>
          </a:prstGeom>
          <a:noFill/>
        </p:spPr>
        <p:txBody>
          <a:bodyPr wrap="square" anchor="t" lIns="0" rIns="0" tIns="0" bIns="0">
            <a:spAutoFit/>
          </a:bodyPr>
          <a:lstStyle/>
          <a:p/>
        </p:txBody>
      </p:sp>
      <p:sp>
        <p:nvSpPr>
          <p:cNvPr id="7" name="TextBox 6"/>
          <p:cNvSpPr txBox="1"/>
          <p:nvPr/>
        </p:nvSpPr>
        <p:spPr>
          <a:xfrm>
            <a:off x="7736792" y="2414016"/>
            <a:ext cx="3428031" cy="2359152"/>
          </a:xfrm>
          <a:prstGeom prst="rect">
            <a:avLst/>
          </a:prstGeom>
          <a:noFill/>
        </p:spPr>
        <p:txBody>
          <a:bodyPr wrap="square" anchor="t" lIns="0" rIns="0" tIns="0" bIns="0">
            <a:noAutofit/>
          </a:bodyPr>
          <a:lstStyle/>
          <a:p>
            <a:pPr algn="l">
              <a:lnSpc>
                <a:spcPct val="100000"/>
              </a:lnSpc>
              <a:spcAft>
                <a:spcPts val="300"/>
              </a:spcAft>
            </a:pPr>
            <a:r>
              <a:rPr sz="900" b="0" i="0">
                <a:solidFill>
                  <a:srgbClr val="203247"/>
                </a:solidFill>
                <a:latin typeface="Arial"/>
              </a:rPr>
              <a:t>• The Access Review Evidence Log serves as a test artifact documenting Q1 202…</a:t>
            </a:r>
            <a:endParaRPr sz="1000" b="0" i="0">
              <a:latin typeface="Arial"/>
            </a:endParaRPr>
          </a:p>
          <a:p>
            <a:pPr algn="l">
              <a:lnSpc>
                <a:spcPct val="100000"/>
              </a:lnSpc>
              <a:spcAft>
                <a:spcPts val="300"/>
              </a:spcAft>
            </a:pPr>
            <a:r>
              <a:rPr sz="900" b="0" i="0">
                <a:solidFill>
                  <a:srgbClr val="203247"/>
                </a:solidFill>
                <a:latin typeface="Arial"/>
              </a:rPr>
              <a:t>• Control closure hinges on completing missing provenance and archiving requi…</a:t>
            </a:r>
            <a:endParaRPr sz="1000" b="0" i="0">
              <a:latin typeface="Arial"/>
            </a:endParaRPr>
          </a:p>
          <a:p>
            <a:pPr algn="l">
              <a:lnSpc>
                <a:spcPct val="100000"/>
              </a:lnSpc>
              <a:spcAft>
                <a:spcPts val="300"/>
              </a:spcAft>
            </a:pPr>
            <a:r>
              <a:rPr sz="900" b="0" i="0">
                <a:solidFill>
                  <a:srgbClr val="203247"/>
                </a:solidFill>
                <a:latin typeface="Arial"/>
              </a:rPr>
              <a:t>• Access is granted as a pilot with strict scoping, logging, and quarterly re…</a:t>
            </a:r>
            <a:endParaRPr sz="1000" b="0" i="0">
              <a:latin typeface="Arial"/>
            </a:endParaRPr>
          </a:p>
        </p:txBody>
      </p:sp>
      <p:sp>
        <p:nvSpPr>
          <p:cNvPr id="8" name="TextBox 7"/>
          <p:cNvSpPr txBox="1"/>
          <p:nvPr/>
        </p:nvSpPr>
        <p:spPr>
          <a:xfrm>
            <a:off x="777240" y="6327648"/>
            <a:ext cx="5486400" cy="182880"/>
          </a:xfrm>
          <a:prstGeom prst="rect">
            <a:avLst/>
          </a:prstGeom>
          <a:noFill/>
        </p:spPr>
        <p:txBody>
          <a:bodyPr wrap="square" anchor="t" lIns="0" rIns="0" tIns="0" bIns="0">
            <a:spAutoFit/>
          </a:bodyPr>
          <a:lstStyle/>
          <a:p>
            <a:pPr algn="l"/>
            <a:r>
              <a:rPr sz="1000" b="0" i="0">
                <a:solidFill>
                  <a:srgbClr val="617287"/>
                </a:solidFill>
                <a:latin typeface="Arial"/>
              </a:rPr>
              <a:t>AI Workbench Local • Comparison Review  •  2026-04-18</a:t>
            </a:r>
          </a:p>
        </p:txBody>
      </p:sp>
      <p:sp>
        <p:nvSpPr>
          <p:cNvPr id="9" name="TextBox 8"/>
          <p:cNvSpPr txBox="1"/>
          <p:nvPr/>
        </p:nvSpPr>
        <p:spPr>
          <a:xfrm>
            <a:off x="9966960" y="6327648"/>
            <a:ext cx="1234440" cy="182880"/>
          </a:xfrm>
          <a:prstGeom prst="rect">
            <a:avLst/>
          </a:prstGeom>
          <a:noFill/>
        </p:spPr>
        <p:txBody>
          <a:bodyPr wrap="square" anchor="t" lIns="0" rIns="0" tIns="0" bIns="0">
            <a:spAutoFit/>
          </a:bodyPr>
          <a:lstStyle/>
          <a:p>
            <a:pPr algn="r"/>
            <a:r>
              <a:rPr sz="1000" b="0" i="0">
                <a:solidFill>
                  <a:srgbClr val="617287"/>
                </a:solidFill>
                <a:latin typeface="Arial"/>
              </a:rPr>
              <a:t>02 / 06</a:t>
            </a:r>
          </a:p>
        </p:txBody>
      </p:sp>
      <p:cxnSp>
        <p:nvCxnSpPr>
          <p:cNvPr id="10" name="Connector 9"/>
          <p:cNvCxnSpPr/>
          <p:nvPr/>
        </p:nvCxnSpPr>
        <p:spPr>
          <a:xfrm>
            <a:off x="777240" y="6272784"/>
            <a:ext cx="10607040" cy="0"/>
          </a:xfrm>
          <a:prstGeom prst="line">
            <a:avLst/>
          </a:prstGeom>
          <a:ln w="10160">
            <a:solidFill>
              <a:srgbClr val="D8DEE6"/>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7F5F2"/>
        </a:solidFill>
        <a:effectLst/>
      </p:bgPr>
    </p:bg>
    <p:spTree>
      <p:nvGrpSpPr>
        <p:cNvPr id="1" name=""/>
        <p:cNvGrpSpPr/>
        <p:nvPr/>
      </p:nvGrpSpPr>
      <p:grpSpPr/>
      <p:sp>
        <p:nvSpPr>
          <p:cNvPr id="2" name="TextBox 1"/>
          <p:cNvSpPr txBox="1"/>
          <p:nvPr/>
        </p:nvSpPr>
        <p:spPr>
          <a:xfrm>
            <a:off x="777240" y="685800"/>
            <a:ext cx="4389120" cy="228600"/>
          </a:xfrm>
          <a:prstGeom prst="rect">
            <a:avLst/>
          </a:prstGeom>
          <a:noFill/>
        </p:spPr>
        <p:txBody>
          <a:bodyPr wrap="square" anchor="t" lIns="0" rIns="0" tIns="0" bIns="0">
            <a:spAutoFit/>
          </a:bodyPr>
          <a:lstStyle/>
          <a:p>
            <a:pPr algn="l"/>
            <a:r>
              <a:rPr sz="1000" b="1" i="0">
                <a:solidFill>
                  <a:srgbClr val="B08B5B"/>
                </a:solidFill>
                <a:latin typeface="Arial"/>
              </a:rPr>
              <a:t>KEY METRICS</a:t>
            </a:r>
          </a:p>
        </p:txBody>
      </p:sp>
      <p:sp>
        <p:nvSpPr>
          <p:cNvPr id="3" name="TextBox 2"/>
          <p:cNvSpPr txBox="1"/>
          <p:nvPr/>
        </p:nvSpPr>
        <p:spPr>
          <a:xfrm>
            <a:off x="777240" y="932688"/>
            <a:ext cx="6812280" cy="950976"/>
          </a:xfrm>
          <a:prstGeom prst="rect">
            <a:avLst/>
          </a:prstGeom>
          <a:noFill/>
        </p:spPr>
        <p:txBody>
          <a:bodyPr wrap="square" anchor="t" lIns="0" rIns="0" tIns="0" bIns="0">
            <a:noAutofit/>
          </a:bodyPr>
          <a:lstStyle/>
          <a:p>
            <a:pPr algn="l">
              <a:spcAft>
                <a:spcPts val="0"/>
              </a:spcAft>
            </a:pPr>
            <a:r>
              <a:rPr sz="2800" b="1" i="0">
                <a:solidFill>
                  <a:srgbClr val="14263F"/>
                </a:solidFill>
                <a:latin typeface="Arial"/>
              </a:rPr>
              <a:t>Executive snapshot</a:t>
            </a:r>
            <a:endParaRPr sz="2800" b="1" i="0">
              <a:latin typeface="Arial"/>
            </a:endParaRPr>
          </a:p>
        </p:txBody>
      </p:sp>
      <p:sp>
        <p:nvSpPr>
          <p:cNvPr id="4" name="Rounded Rectangle 3"/>
          <p:cNvSpPr/>
          <p:nvPr/>
        </p:nvSpPr>
        <p:spPr>
          <a:xfrm>
            <a:off x="777240" y="2212848"/>
            <a:ext cx="2509160" cy="2670048"/>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77240" y="2212848"/>
            <a:ext cx="2509160" cy="73152"/>
          </a:xfrm>
          <a:prstGeom prst="rect">
            <a:avLst/>
          </a:prstGeom>
          <a:solidFill>
            <a:srgbClr val="1426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96695" y="2432304"/>
            <a:ext cx="2070248" cy="512064"/>
          </a:xfrm>
          <a:prstGeom prst="rect">
            <a:avLst/>
          </a:prstGeom>
          <a:noFill/>
        </p:spPr>
        <p:txBody>
          <a:bodyPr wrap="square" anchor="t" lIns="0" rIns="0" tIns="0" bIns="0">
            <a:noAutofit/>
          </a:bodyPr>
          <a:lstStyle/>
          <a:p>
            <a:pPr algn="l">
              <a:spcAft>
                <a:spcPts val="0"/>
              </a:spcAft>
            </a:pPr>
            <a:r>
              <a:rPr sz="2400" b="1" i="0">
                <a:solidFill>
                  <a:srgbClr val="14263F"/>
                </a:solidFill>
                <a:latin typeface="Arial"/>
              </a:rPr>
              <a:t>2</a:t>
            </a:r>
            <a:endParaRPr sz="2400" b="1" i="0">
              <a:latin typeface="Arial"/>
            </a:endParaRPr>
          </a:p>
        </p:txBody>
      </p:sp>
      <p:sp>
        <p:nvSpPr>
          <p:cNvPr id="7" name="TextBox 6"/>
          <p:cNvSpPr txBox="1"/>
          <p:nvPr/>
        </p:nvSpPr>
        <p:spPr>
          <a:xfrm>
            <a:off x="996695" y="3017520"/>
            <a:ext cx="2070248" cy="512064"/>
          </a:xfrm>
          <a:prstGeom prst="rect">
            <a:avLst/>
          </a:prstGeom>
          <a:noFill/>
        </p:spPr>
        <p:txBody>
          <a:bodyPr wrap="square" anchor="t" lIns="0" rIns="0" tIns="0" bIns="0">
            <a:noAutofit/>
          </a:bodyPr>
          <a:lstStyle/>
          <a:p>
            <a:pPr algn="l">
              <a:spcAft>
                <a:spcPts val="0"/>
              </a:spcAft>
            </a:pPr>
            <a:r>
              <a:rPr sz="1200" b="1" i="0">
                <a:solidFill>
                  <a:srgbClr val="203247"/>
                </a:solidFill>
                <a:latin typeface="Arial"/>
              </a:rPr>
              <a:t>Compared docs</a:t>
            </a:r>
            <a:endParaRPr sz="1200" b="1" i="0">
              <a:latin typeface="Arial"/>
            </a:endParaRPr>
          </a:p>
        </p:txBody>
      </p:sp>
      <p:sp>
        <p:nvSpPr>
          <p:cNvPr id="8" name="Rounded Rectangle 7"/>
          <p:cNvSpPr/>
          <p:nvPr/>
        </p:nvSpPr>
        <p:spPr>
          <a:xfrm>
            <a:off x="3524144" y="2212848"/>
            <a:ext cx="2437743" cy="2670048"/>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3524144" y="2212848"/>
            <a:ext cx="2437743" cy="73152"/>
          </a:xfrm>
          <a:prstGeom prst="rect">
            <a:avLst/>
          </a:prstGeom>
          <a:solidFill>
            <a:srgbClr val="B08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743600" y="2432304"/>
            <a:ext cx="1998831" cy="512064"/>
          </a:xfrm>
          <a:prstGeom prst="rect">
            <a:avLst/>
          </a:prstGeom>
          <a:noFill/>
        </p:spPr>
        <p:txBody>
          <a:bodyPr wrap="square" anchor="t" lIns="0" rIns="0" tIns="0" bIns="0">
            <a:noAutofit/>
          </a:bodyPr>
          <a:lstStyle/>
          <a:p>
            <a:pPr algn="l">
              <a:spcAft>
                <a:spcPts val="0"/>
              </a:spcAft>
            </a:pPr>
            <a:r>
              <a:rPr sz="2400" b="1" i="0">
                <a:solidFill>
                  <a:srgbClr val="14263F"/>
                </a:solidFill>
                <a:latin typeface="Arial"/>
              </a:rPr>
              <a:t>8</a:t>
            </a:r>
            <a:endParaRPr sz="2400" b="1" i="0">
              <a:latin typeface="Arial"/>
            </a:endParaRPr>
          </a:p>
        </p:txBody>
      </p:sp>
      <p:sp>
        <p:nvSpPr>
          <p:cNvPr id="11" name="TextBox 10"/>
          <p:cNvSpPr txBox="1"/>
          <p:nvPr/>
        </p:nvSpPr>
        <p:spPr>
          <a:xfrm>
            <a:off x="3743600" y="3017520"/>
            <a:ext cx="1998831" cy="512064"/>
          </a:xfrm>
          <a:prstGeom prst="rect">
            <a:avLst/>
          </a:prstGeom>
          <a:noFill/>
        </p:spPr>
        <p:txBody>
          <a:bodyPr wrap="square" anchor="t" lIns="0" rIns="0" tIns="0" bIns="0">
            <a:noAutofit/>
          </a:bodyPr>
          <a:lstStyle/>
          <a:p>
            <a:pPr algn="l">
              <a:spcAft>
                <a:spcPts val="0"/>
              </a:spcAft>
            </a:pPr>
            <a:r>
              <a:rPr sz="1200" b="1" i="0">
                <a:solidFill>
                  <a:srgbClr val="203247"/>
                </a:solidFill>
                <a:latin typeface="Arial"/>
              </a:rPr>
              <a:t>Findings</a:t>
            </a:r>
            <a:endParaRPr sz="1200" b="1" i="0">
              <a:latin typeface="Arial"/>
            </a:endParaRPr>
          </a:p>
        </p:txBody>
      </p:sp>
      <p:sp>
        <p:nvSpPr>
          <p:cNvPr id="12" name="Rounded Rectangle 11"/>
          <p:cNvSpPr/>
          <p:nvPr/>
        </p:nvSpPr>
        <p:spPr>
          <a:xfrm>
            <a:off x="6199632" y="2212848"/>
            <a:ext cx="2437743" cy="2670048"/>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99632" y="2212848"/>
            <a:ext cx="2437743" cy="73152"/>
          </a:xfrm>
          <a:prstGeom prst="rect">
            <a:avLst/>
          </a:prstGeom>
          <a:solidFill>
            <a:srgbClr val="1426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19088" y="2432304"/>
            <a:ext cx="1998831" cy="512064"/>
          </a:xfrm>
          <a:prstGeom prst="rect">
            <a:avLst/>
          </a:prstGeom>
          <a:noFill/>
        </p:spPr>
        <p:txBody>
          <a:bodyPr wrap="square" anchor="t" lIns="0" rIns="0" tIns="0" bIns="0">
            <a:noAutofit/>
          </a:bodyPr>
          <a:lstStyle/>
          <a:p>
            <a:pPr algn="l">
              <a:spcAft>
                <a:spcPts val="0"/>
              </a:spcAft>
            </a:pPr>
            <a:r>
              <a:rPr sz="2400" b="1" i="0">
                <a:solidFill>
                  <a:srgbClr val="14263F"/>
                </a:solidFill>
                <a:latin typeface="Arial"/>
              </a:rPr>
              <a:t>4</a:t>
            </a:r>
            <a:endParaRPr sz="2400" b="1" i="0">
              <a:latin typeface="Arial"/>
            </a:endParaRPr>
          </a:p>
        </p:txBody>
      </p:sp>
      <p:sp>
        <p:nvSpPr>
          <p:cNvPr id="15" name="TextBox 14"/>
          <p:cNvSpPr txBox="1"/>
          <p:nvPr/>
        </p:nvSpPr>
        <p:spPr>
          <a:xfrm>
            <a:off x="6419088" y="3017520"/>
            <a:ext cx="1998831" cy="512064"/>
          </a:xfrm>
          <a:prstGeom prst="rect">
            <a:avLst/>
          </a:prstGeom>
          <a:noFill/>
        </p:spPr>
        <p:txBody>
          <a:bodyPr wrap="square" anchor="t" lIns="0" rIns="0" tIns="0" bIns="0">
            <a:noAutofit/>
          </a:bodyPr>
          <a:lstStyle/>
          <a:p>
            <a:pPr algn="l">
              <a:spcAft>
                <a:spcPts val="0"/>
              </a:spcAft>
            </a:pPr>
            <a:r>
              <a:rPr sz="1200" b="1" i="0">
                <a:solidFill>
                  <a:srgbClr val="203247"/>
                </a:solidFill>
                <a:latin typeface="Arial"/>
              </a:rPr>
              <a:t>Sources</a:t>
            </a:r>
            <a:endParaRPr sz="1200" b="1" i="0">
              <a:latin typeface="Arial"/>
            </a:endParaRPr>
          </a:p>
        </p:txBody>
      </p:sp>
      <p:sp>
        <p:nvSpPr>
          <p:cNvPr id="16" name="Rounded Rectangle 15"/>
          <p:cNvSpPr/>
          <p:nvPr/>
        </p:nvSpPr>
        <p:spPr>
          <a:xfrm>
            <a:off x="8875119" y="2212848"/>
            <a:ext cx="2509160" cy="2670048"/>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875119" y="2212848"/>
            <a:ext cx="2509160" cy="73152"/>
          </a:xfrm>
          <a:prstGeom prst="rect">
            <a:avLst/>
          </a:prstGeom>
          <a:solidFill>
            <a:srgbClr val="B08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094575" y="2432304"/>
            <a:ext cx="2070248" cy="512064"/>
          </a:xfrm>
          <a:prstGeom prst="rect">
            <a:avLst/>
          </a:prstGeom>
          <a:noFill/>
        </p:spPr>
        <p:txBody>
          <a:bodyPr wrap="square" anchor="t" lIns="0" rIns="0" tIns="0" bIns="0">
            <a:noAutofit/>
          </a:bodyPr>
          <a:lstStyle/>
          <a:p>
            <a:pPr algn="l">
              <a:spcAft>
                <a:spcPts val="0"/>
              </a:spcAft>
            </a:pPr>
            <a:r>
              <a:rPr sz="2400" b="1" i="0">
                <a:solidFill>
                  <a:srgbClr val="14263F"/>
                </a:solidFill>
                <a:latin typeface="Arial"/>
              </a:rPr>
              <a:t>No</a:t>
            </a:r>
            <a:endParaRPr sz="2400" b="1" i="0">
              <a:latin typeface="Arial"/>
            </a:endParaRPr>
          </a:p>
        </p:txBody>
      </p:sp>
      <p:sp>
        <p:nvSpPr>
          <p:cNvPr id="19" name="TextBox 18"/>
          <p:cNvSpPr txBox="1"/>
          <p:nvPr/>
        </p:nvSpPr>
        <p:spPr>
          <a:xfrm>
            <a:off x="9094575" y="3017520"/>
            <a:ext cx="2070248" cy="512064"/>
          </a:xfrm>
          <a:prstGeom prst="rect">
            <a:avLst/>
          </a:prstGeom>
          <a:noFill/>
        </p:spPr>
        <p:txBody>
          <a:bodyPr wrap="square" anchor="t" lIns="0" rIns="0" tIns="0" bIns="0">
            <a:noAutofit/>
          </a:bodyPr>
          <a:lstStyle/>
          <a:p>
            <a:pPr algn="l">
              <a:spcAft>
                <a:spcPts val="0"/>
              </a:spcAft>
            </a:pPr>
            <a:r>
              <a:rPr sz="1200" b="1" i="0">
                <a:solidFill>
                  <a:srgbClr val="203247"/>
                </a:solidFill>
                <a:latin typeface="Arial"/>
              </a:rPr>
              <a:t>Needs review</a:t>
            </a:r>
            <a:endParaRPr sz="1200" b="1" i="0">
              <a:latin typeface="Arial"/>
            </a:endParaRPr>
          </a:p>
        </p:txBody>
      </p:sp>
      <p:sp>
        <p:nvSpPr>
          <p:cNvPr id="20" name="TextBox 19"/>
          <p:cNvSpPr txBox="1"/>
          <p:nvPr/>
        </p:nvSpPr>
        <p:spPr>
          <a:xfrm>
            <a:off x="777240" y="6327648"/>
            <a:ext cx="5486400" cy="182880"/>
          </a:xfrm>
          <a:prstGeom prst="rect">
            <a:avLst/>
          </a:prstGeom>
          <a:noFill/>
        </p:spPr>
        <p:txBody>
          <a:bodyPr wrap="square" anchor="t" lIns="0" rIns="0" tIns="0" bIns="0">
            <a:spAutoFit/>
          </a:bodyPr>
          <a:lstStyle/>
          <a:p>
            <a:pPr algn="l"/>
            <a:r>
              <a:rPr sz="1000" b="0" i="0">
                <a:solidFill>
                  <a:srgbClr val="617287"/>
                </a:solidFill>
                <a:latin typeface="Arial"/>
              </a:rPr>
              <a:t>AI Workbench Local • Comparison Review  •  2026-04-18</a:t>
            </a:r>
          </a:p>
        </p:txBody>
      </p:sp>
      <p:sp>
        <p:nvSpPr>
          <p:cNvPr id="21" name="TextBox 20"/>
          <p:cNvSpPr txBox="1"/>
          <p:nvPr/>
        </p:nvSpPr>
        <p:spPr>
          <a:xfrm>
            <a:off x="9966960" y="6327648"/>
            <a:ext cx="1234440" cy="182880"/>
          </a:xfrm>
          <a:prstGeom prst="rect">
            <a:avLst/>
          </a:prstGeom>
          <a:noFill/>
        </p:spPr>
        <p:txBody>
          <a:bodyPr wrap="square" anchor="t" lIns="0" rIns="0" tIns="0" bIns="0">
            <a:spAutoFit/>
          </a:bodyPr>
          <a:lstStyle/>
          <a:p>
            <a:pPr algn="r"/>
            <a:r>
              <a:rPr sz="1000" b="0" i="0">
                <a:solidFill>
                  <a:srgbClr val="617287"/>
                </a:solidFill>
                <a:latin typeface="Arial"/>
              </a:rPr>
              <a:t>03 / 06</a:t>
            </a:r>
          </a:p>
        </p:txBody>
      </p:sp>
      <p:cxnSp>
        <p:nvCxnSpPr>
          <p:cNvPr id="22" name="Connector 21"/>
          <p:cNvCxnSpPr/>
          <p:nvPr/>
        </p:nvCxnSpPr>
        <p:spPr>
          <a:xfrm>
            <a:off x="777240" y="6272784"/>
            <a:ext cx="10607040" cy="0"/>
          </a:xfrm>
          <a:prstGeom prst="line">
            <a:avLst/>
          </a:prstGeom>
          <a:ln w="10160">
            <a:solidFill>
              <a:srgbClr val="D8DEE6"/>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7F5F2"/>
        </a:solidFill>
        <a:effectLst/>
      </p:bgPr>
    </p:bg>
    <p:spTree>
      <p:nvGrpSpPr>
        <p:cNvPr id="1" name=""/>
        <p:cNvGrpSpPr/>
        <p:nvPr/>
      </p:nvGrpSpPr>
      <p:grpSpPr/>
      <p:sp>
        <p:nvSpPr>
          <p:cNvPr id="2" name="TextBox 1"/>
          <p:cNvSpPr txBox="1"/>
          <p:nvPr/>
        </p:nvSpPr>
        <p:spPr>
          <a:xfrm>
            <a:off x="777240" y="685800"/>
            <a:ext cx="4389120" cy="228600"/>
          </a:xfrm>
          <a:prstGeom prst="rect">
            <a:avLst/>
          </a:prstGeom>
          <a:noFill/>
        </p:spPr>
        <p:txBody>
          <a:bodyPr wrap="square" anchor="t" lIns="0" rIns="0" tIns="0" bIns="0">
            <a:spAutoFit/>
          </a:bodyPr>
          <a:lstStyle/>
          <a:p>
            <a:pPr algn="l"/>
            <a:r>
              <a:rPr sz="1000" b="1" i="0">
                <a:solidFill>
                  <a:srgbClr val="B08B5B"/>
                </a:solidFill>
                <a:latin typeface="Arial"/>
              </a:rPr>
              <a:t>EXECUTIVE TABLE</a:t>
            </a:r>
          </a:p>
        </p:txBody>
      </p:sp>
      <p:sp>
        <p:nvSpPr>
          <p:cNvPr id="3" name="TextBox 2"/>
          <p:cNvSpPr txBox="1"/>
          <p:nvPr/>
        </p:nvSpPr>
        <p:spPr>
          <a:xfrm>
            <a:off x="777240" y="932688"/>
            <a:ext cx="7498079" cy="950976"/>
          </a:xfrm>
          <a:prstGeom prst="rect">
            <a:avLst/>
          </a:prstGeom>
          <a:noFill/>
        </p:spPr>
        <p:txBody>
          <a:bodyPr wrap="square" anchor="t" lIns="0" rIns="0" tIns="0" bIns="0">
            <a:noAutofit/>
          </a:bodyPr>
          <a:lstStyle/>
          <a:p>
            <a:pPr algn="l">
              <a:spcAft>
                <a:spcPts val="0"/>
              </a:spcAft>
            </a:pPr>
            <a:r>
              <a:rPr sz="2800" b="1" i="0">
                <a:solidFill>
                  <a:srgbClr val="14263F"/>
                </a:solidFill>
                <a:latin typeface="Arial"/>
              </a:rPr>
              <a:t>Comparison findings</a:t>
            </a:r>
            <a:endParaRPr sz="2800" b="1" i="0">
              <a:latin typeface="Arial"/>
            </a:endParaRPr>
          </a:p>
        </p:txBody>
      </p:sp>
      <p:sp>
        <p:nvSpPr>
          <p:cNvPr id="4" name="Rounded Rectangle 3"/>
          <p:cNvSpPr/>
          <p:nvPr/>
        </p:nvSpPr>
        <p:spPr>
          <a:xfrm>
            <a:off x="777240" y="1920240"/>
            <a:ext cx="2352634" cy="457200"/>
          </a:xfrm>
          <a:prstGeom prst="roundRect">
            <a:avLst/>
          </a:prstGeom>
          <a:solidFill>
            <a:srgbClr val="EEF1F4"/>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7" y="1984248"/>
            <a:ext cx="2224618" cy="329184"/>
          </a:xfrm>
          <a:prstGeom prst="rect">
            <a:avLst/>
          </a:prstGeom>
          <a:noFill/>
        </p:spPr>
        <p:txBody>
          <a:bodyPr wrap="square" anchor="t" lIns="0" rIns="0" tIns="0" bIns="0">
            <a:noAutofit/>
          </a:bodyPr>
          <a:lstStyle/>
          <a:p>
            <a:pPr algn="ctr">
              <a:spcAft>
                <a:spcPts val="0"/>
              </a:spcAft>
            </a:pPr>
            <a:r>
              <a:rPr sz="1100" b="1" i="0">
                <a:solidFill>
                  <a:srgbClr val="14263F"/>
                </a:solidFill>
                <a:latin typeface="Arial"/>
              </a:rPr>
              <a:t>Type</a:t>
            </a:r>
            <a:endParaRPr sz="1100" b="1" i="0">
              <a:latin typeface="Arial"/>
            </a:endParaRPr>
          </a:p>
        </p:txBody>
      </p:sp>
      <p:sp>
        <p:nvSpPr>
          <p:cNvPr id="6" name="Rounded Rectangle 5"/>
          <p:cNvSpPr/>
          <p:nvPr/>
        </p:nvSpPr>
        <p:spPr>
          <a:xfrm>
            <a:off x="3175594" y="1920240"/>
            <a:ext cx="2705748" cy="457200"/>
          </a:xfrm>
          <a:prstGeom prst="roundRect">
            <a:avLst/>
          </a:prstGeom>
          <a:solidFill>
            <a:srgbClr val="EEF1F4"/>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239602" y="1984248"/>
            <a:ext cx="2577732" cy="329184"/>
          </a:xfrm>
          <a:prstGeom prst="rect">
            <a:avLst/>
          </a:prstGeom>
          <a:noFill/>
        </p:spPr>
        <p:txBody>
          <a:bodyPr wrap="square" anchor="t" lIns="0" rIns="0" tIns="0" bIns="0">
            <a:noAutofit/>
          </a:bodyPr>
          <a:lstStyle/>
          <a:p>
            <a:pPr algn="ctr">
              <a:spcAft>
                <a:spcPts val="0"/>
              </a:spcAft>
            </a:pPr>
            <a:r>
              <a:rPr sz="1100" b="1" i="0">
                <a:solidFill>
                  <a:srgbClr val="14263F"/>
                </a:solidFill>
                <a:latin typeface="Arial"/>
              </a:rPr>
              <a:t>Finding</a:t>
            </a:r>
            <a:endParaRPr sz="1100" b="1" i="0">
              <a:latin typeface="Arial"/>
            </a:endParaRPr>
          </a:p>
        </p:txBody>
      </p:sp>
      <p:sp>
        <p:nvSpPr>
          <p:cNvPr id="8" name="Rounded Rectangle 7"/>
          <p:cNvSpPr/>
          <p:nvPr/>
        </p:nvSpPr>
        <p:spPr>
          <a:xfrm>
            <a:off x="5927063" y="1920240"/>
            <a:ext cx="2705748" cy="457200"/>
          </a:xfrm>
          <a:prstGeom prst="roundRect">
            <a:avLst/>
          </a:prstGeom>
          <a:solidFill>
            <a:srgbClr val="EEF1F4"/>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91071" y="1984248"/>
            <a:ext cx="2577732" cy="329184"/>
          </a:xfrm>
          <a:prstGeom prst="rect">
            <a:avLst/>
          </a:prstGeom>
          <a:noFill/>
        </p:spPr>
        <p:txBody>
          <a:bodyPr wrap="square" anchor="t" lIns="0" rIns="0" tIns="0" bIns="0">
            <a:noAutofit/>
          </a:bodyPr>
          <a:lstStyle/>
          <a:p>
            <a:pPr algn="ctr">
              <a:spcAft>
                <a:spcPts val="0"/>
              </a:spcAft>
            </a:pPr>
            <a:r>
              <a:rPr sz="1100" b="1" i="0">
                <a:solidFill>
                  <a:srgbClr val="14263F"/>
                </a:solidFill>
                <a:latin typeface="Arial"/>
              </a:rPr>
              <a:t>Documents</a:t>
            </a:r>
            <a:endParaRPr sz="1100" b="1" i="0">
              <a:latin typeface="Arial"/>
            </a:endParaRPr>
          </a:p>
        </p:txBody>
      </p:sp>
      <p:sp>
        <p:nvSpPr>
          <p:cNvPr id="10" name="Rounded Rectangle 9"/>
          <p:cNvSpPr/>
          <p:nvPr/>
        </p:nvSpPr>
        <p:spPr>
          <a:xfrm>
            <a:off x="8678531" y="1920240"/>
            <a:ext cx="2705748" cy="457200"/>
          </a:xfrm>
          <a:prstGeom prst="roundRect">
            <a:avLst/>
          </a:prstGeom>
          <a:solidFill>
            <a:srgbClr val="EEF1F4"/>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742539" y="1984248"/>
            <a:ext cx="2577732" cy="329184"/>
          </a:xfrm>
          <a:prstGeom prst="rect">
            <a:avLst/>
          </a:prstGeom>
          <a:noFill/>
        </p:spPr>
        <p:txBody>
          <a:bodyPr wrap="square" anchor="t" lIns="0" rIns="0" tIns="0" bIns="0">
            <a:noAutofit/>
          </a:bodyPr>
          <a:lstStyle/>
          <a:p>
            <a:pPr algn="ctr">
              <a:spcAft>
                <a:spcPts val="0"/>
              </a:spcAft>
            </a:pPr>
            <a:r>
              <a:rPr sz="1100" b="1" i="0">
                <a:solidFill>
                  <a:srgbClr val="14263F"/>
                </a:solidFill>
                <a:latin typeface="Arial"/>
              </a:rPr>
              <a:t>Evidence</a:t>
            </a:r>
            <a:endParaRPr sz="1100" b="1" i="0">
              <a:latin typeface="Arial"/>
            </a:endParaRPr>
          </a:p>
        </p:txBody>
      </p:sp>
      <p:sp>
        <p:nvSpPr>
          <p:cNvPr id="12" name="Rounded Rectangle 11"/>
          <p:cNvSpPr/>
          <p:nvPr/>
        </p:nvSpPr>
        <p:spPr>
          <a:xfrm>
            <a:off x="777240" y="2450592"/>
            <a:ext cx="2352634"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41247" y="2514600"/>
            <a:ext cx="2224618" cy="276606"/>
          </a:xfrm>
          <a:prstGeom prst="rect">
            <a:avLst/>
          </a:prstGeom>
          <a:noFill/>
        </p:spPr>
        <p:txBody>
          <a:bodyPr wrap="square" anchor="t" lIns="0" rIns="0" tIns="0" bIns="0">
            <a:noAutofit/>
          </a:bodyPr>
          <a:lstStyle/>
          <a:p>
            <a:pPr algn="l">
              <a:spcAft>
                <a:spcPts val="0"/>
              </a:spcAft>
            </a:pPr>
            <a:r>
              <a:rPr sz="1000" b="0" i="0">
                <a:solidFill>
                  <a:srgbClr val="203247"/>
                </a:solidFill>
                <a:latin typeface="Arial"/>
              </a:rPr>
              <a:t>document_summary</a:t>
            </a:r>
            <a:endParaRPr sz="1000" b="0" i="0">
              <a:latin typeface="Arial"/>
            </a:endParaRPr>
          </a:p>
        </p:txBody>
      </p:sp>
      <p:sp>
        <p:nvSpPr>
          <p:cNvPr id="14" name="Rounded Rectangle 13"/>
          <p:cNvSpPr/>
          <p:nvPr/>
        </p:nvSpPr>
        <p:spPr>
          <a:xfrm>
            <a:off x="3175594" y="2450592"/>
            <a:ext cx="2705748"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239602" y="2514600"/>
            <a:ext cx="2577732" cy="276606"/>
          </a:xfrm>
          <a:prstGeom prst="rect">
            <a:avLst/>
          </a:prstGeom>
          <a:noFill/>
        </p:spPr>
        <p:txBody>
          <a:bodyPr wrap="square" anchor="t" lIns="0" rIns="0" tIns="0" bIns="0">
            <a:noAutofit/>
          </a:bodyPr>
          <a:lstStyle/>
          <a:p>
            <a:pPr algn="l">
              <a:spcAft>
                <a:spcPts val="0"/>
              </a:spcAft>
            </a:pPr>
            <a:r>
              <a:rPr sz="900" b="0" i="0">
                <a:solidFill>
                  <a:srgbClr val="203247"/>
                </a:solidFill>
                <a:latin typeface="Arial"/>
              </a:rPr>
              <a:t>Summary of Access Review Evidence Log.pdf (pdf)</a:t>
            </a:r>
            <a:endParaRPr sz="1000" b="0" i="0">
              <a:latin typeface="Arial"/>
            </a:endParaRPr>
          </a:p>
        </p:txBody>
      </p:sp>
      <p:sp>
        <p:nvSpPr>
          <p:cNvPr id="16" name="Rounded Rectangle 15"/>
          <p:cNvSpPr/>
          <p:nvPr/>
        </p:nvSpPr>
        <p:spPr>
          <a:xfrm>
            <a:off x="5927063" y="2450592"/>
            <a:ext cx="2705748"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991071" y="2514600"/>
            <a:ext cx="2577732" cy="276606"/>
          </a:xfrm>
          <a:prstGeom prst="rect">
            <a:avLst/>
          </a:prstGeom>
          <a:noFill/>
        </p:spPr>
        <p:txBody>
          <a:bodyPr wrap="square" anchor="t" lIns="0" rIns="0" tIns="0" bIns="0">
            <a:noAutofit/>
          </a:bodyPr>
          <a:lstStyle/>
          <a:p>
            <a:pPr algn="l">
              <a:spcAft>
                <a:spcPts val="0"/>
              </a:spcAft>
            </a:pPr>
            <a:r>
              <a:rPr sz="900" b="0" i="0">
                <a:solidFill>
                  <a:srgbClr val="203247"/>
                </a:solidFill>
                <a:latin typeface="Arial"/>
              </a:rPr>
              <a:t>Access Review Evidence Log.pdf (pdf)</a:t>
            </a:r>
            <a:endParaRPr sz="1000" b="0" i="0">
              <a:latin typeface="Arial"/>
            </a:endParaRPr>
          </a:p>
        </p:txBody>
      </p:sp>
      <p:sp>
        <p:nvSpPr>
          <p:cNvPr id="18" name="Rounded Rectangle 17"/>
          <p:cNvSpPr/>
          <p:nvPr/>
        </p:nvSpPr>
        <p:spPr>
          <a:xfrm>
            <a:off x="8678531" y="2450592"/>
            <a:ext cx="2705748"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742539" y="2514600"/>
            <a:ext cx="2577732" cy="276606"/>
          </a:xfrm>
          <a:prstGeom prst="rect">
            <a:avLst/>
          </a:prstGeom>
          <a:noFill/>
        </p:spPr>
        <p:txBody>
          <a:bodyPr wrap="square" anchor="t" lIns="0" rIns="0" tIns="0" bIns="0">
            <a:noAutofit/>
          </a:bodyPr>
          <a:lstStyle/>
          <a:p>
            <a:pPr algn="l">
              <a:spcAft>
                <a:spcPts val="0"/>
              </a:spcAft>
            </a:pPr>
            <a:r>
              <a:rPr sz="700" b="0" i="0">
                <a:solidFill>
                  <a:srgbClr val="203247"/>
                </a:solidFill>
                <a:latin typeface="Arial"/>
              </a:rPr>
              <a:t>Control closure is contingent on verifying missing or in-progress evidence items. | The document serves as a test artif…</a:t>
            </a:r>
            <a:endParaRPr sz="700" b="0" i="0">
              <a:latin typeface="Arial"/>
            </a:endParaRPr>
          </a:p>
        </p:txBody>
      </p:sp>
      <p:sp>
        <p:nvSpPr>
          <p:cNvPr id="20" name="Rounded Rectangle 19"/>
          <p:cNvSpPr/>
          <p:nvPr/>
        </p:nvSpPr>
        <p:spPr>
          <a:xfrm>
            <a:off x="777240" y="2910078"/>
            <a:ext cx="2352634"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41247" y="2974086"/>
            <a:ext cx="2224618" cy="276606"/>
          </a:xfrm>
          <a:prstGeom prst="rect">
            <a:avLst/>
          </a:prstGeom>
          <a:noFill/>
        </p:spPr>
        <p:txBody>
          <a:bodyPr wrap="square" anchor="t" lIns="0" rIns="0" tIns="0" bIns="0">
            <a:noAutofit/>
          </a:bodyPr>
          <a:lstStyle/>
          <a:p>
            <a:pPr algn="l">
              <a:spcAft>
                <a:spcPts val="0"/>
              </a:spcAft>
            </a:pPr>
            <a:r>
              <a:rPr sz="1000" b="0" i="0">
                <a:solidFill>
                  <a:srgbClr val="203247"/>
                </a:solidFill>
                <a:latin typeface="Arial"/>
              </a:rPr>
              <a:t>document_summary</a:t>
            </a:r>
            <a:endParaRPr sz="1000" b="0" i="0">
              <a:latin typeface="Arial"/>
            </a:endParaRPr>
          </a:p>
        </p:txBody>
      </p:sp>
      <p:sp>
        <p:nvSpPr>
          <p:cNvPr id="22" name="Rounded Rectangle 21"/>
          <p:cNvSpPr/>
          <p:nvPr/>
        </p:nvSpPr>
        <p:spPr>
          <a:xfrm>
            <a:off x="3175594" y="2910078"/>
            <a:ext cx="2705748"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239602" y="2974086"/>
            <a:ext cx="2577732" cy="276606"/>
          </a:xfrm>
          <a:prstGeom prst="rect">
            <a:avLst/>
          </a:prstGeom>
          <a:noFill/>
        </p:spPr>
        <p:txBody>
          <a:bodyPr wrap="square" anchor="t" lIns="0" rIns="0" tIns="0" bIns="0">
            <a:noAutofit/>
          </a:bodyPr>
          <a:lstStyle/>
          <a:p>
            <a:pPr algn="l">
              <a:spcAft>
                <a:spcPts val="0"/>
              </a:spcAft>
            </a:pPr>
            <a:r>
              <a:rPr sz="900" b="0" i="0">
                <a:solidFill>
                  <a:srgbClr val="203247"/>
                </a:solidFill>
                <a:latin typeface="Arial"/>
              </a:rPr>
              <a:t>Summary of Privileged Account Approval Email.pdf (pdf)</a:t>
            </a:r>
            <a:endParaRPr sz="1000" b="0" i="0">
              <a:latin typeface="Arial"/>
            </a:endParaRPr>
          </a:p>
        </p:txBody>
      </p:sp>
      <p:sp>
        <p:nvSpPr>
          <p:cNvPr id="24" name="Rounded Rectangle 23"/>
          <p:cNvSpPr/>
          <p:nvPr/>
        </p:nvSpPr>
        <p:spPr>
          <a:xfrm>
            <a:off x="5927063" y="2910078"/>
            <a:ext cx="2705748"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991071" y="2974086"/>
            <a:ext cx="2577732" cy="276606"/>
          </a:xfrm>
          <a:prstGeom prst="rect">
            <a:avLst/>
          </a:prstGeom>
          <a:noFill/>
        </p:spPr>
        <p:txBody>
          <a:bodyPr wrap="square" anchor="t" lIns="0" rIns="0" tIns="0" bIns="0">
            <a:noAutofit/>
          </a:bodyPr>
          <a:lstStyle/>
          <a:p>
            <a:pPr algn="l">
              <a:spcAft>
                <a:spcPts val="0"/>
              </a:spcAft>
            </a:pPr>
            <a:r>
              <a:rPr sz="900" b="0" i="0">
                <a:solidFill>
                  <a:srgbClr val="203247"/>
                </a:solidFill>
                <a:latin typeface="Arial"/>
              </a:rPr>
              <a:t>Privileged Account Approval Email.pdf (pdf)</a:t>
            </a:r>
            <a:endParaRPr sz="1000" b="0" i="0">
              <a:latin typeface="Arial"/>
            </a:endParaRPr>
          </a:p>
        </p:txBody>
      </p:sp>
      <p:sp>
        <p:nvSpPr>
          <p:cNvPr id="26" name="Rounded Rectangle 25"/>
          <p:cNvSpPr/>
          <p:nvPr/>
        </p:nvSpPr>
        <p:spPr>
          <a:xfrm>
            <a:off x="8678531" y="2910078"/>
            <a:ext cx="2705748"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742539" y="2974086"/>
            <a:ext cx="2577732" cy="276606"/>
          </a:xfrm>
          <a:prstGeom prst="rect">
            <a:avLst/>
          </a:prstGeom>
          <a:noFill/>
        </p:spPr>
        <p:txBody>
          <a:bodyPr wrap="square" anchor="t" lIns="0" rIns="0" tIns="0" bIns="0">
            <a:noAutofit/>
          </a:bodyPr>
          <a:lstStyle/>
          <a:p>
            <a:pPr algn="l">
              <a:spcAft>
                <a:spcPts val="0"/>
              </a:spcAft>
            </a:pPr>
            <a:r>
              <a:rPr sz="700" b="0" i="0">
                <a:solidFill>
                  <a:srgbClr val="203247"/>
                </a:solidFill>
                <a:latin typeface="Arial"/>
              </a:rPr>
              <a:t>Access is tightly scoped and contingent on operational controls | Governance requires ongoing vendor and recertificatio…</a:t>
            </a:r>
            <a:endParaRPr sz="700" b="0" i="0">
              <a:latin typeface="Arial"/>
            </a:endParaRPr>
          </a:p>
        </p:txBody>
      </p:sp>
      <p:sp>
        <p:nvSpPr>
          <p:cNvPr id="28" name="Rounded Rectangle 27"/>
          <p:cNvSpPr/>
          <p:nvPr/>
        </p:nvSpPr>
        <p:spPr>
          <a:xfrm>
            <a:off x="777240" y="3369564"/>
            <a:ext cx="2352634"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41247" y="3433572"/>
            <a:ext cx="2224618" cy="276606"/>
          </a:xfrm>
          <a:prstGeom prst="rect">
            <a:avLst/>
          </a:prstGeom>
          <a:noFill/>
        </p:spPr>
        <p:txBody>
          <a:bodyPr wrap="square" anchor="t" lIns="0" rIns="0" tIns="0" bIns="0">
            <a:noAutofit/>
          </a:bodyPr>
          <a:lstStyle/>
          <a:p>
            <a:pPr algn="l">
              <a:spcAft>
                <a:spcPts val="0"/>
              </a:spcAft>
            </a:pPr>
            <a:r>
              <a:rPr sz="1000" b="0" i="0">
                <a:solidFill>
                  <a:srgbClr val="203247"/>
                </a:solidFill>
                <a:latin typeface="Arial"/>
              </a:rPr>
              <a:t>approval_change</a:t>
            </a:r>
            <a:endParaRPr sz="1000" b="0" i="0">
              <a:latin typeface="Arial"/>
            </a:endParaRPr>
          </a:p>
        </p:txBody>
      </p:sp>
      <p:sp>
        <p:nvSpPr>
          <p:cNvPr id="30" name="Rounded Rectangle 29"/>
          <p:cNvSpPr/>
          <p:nvPr/>
        </p:nvSpPr>
        <p:spPr>
          <a:xfrm>
            <a:off x="3175594" y="3369564"/>
            <a:ext cx="2705748"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239602" y="3433572"/>
            <a:ext cx="2577732" cy="276606"/>
          </a:xfrm>
          <a:prstGeom prst="rect">
            <a:avLst/>
          </a:prstGeom>
          <a:noFill/>
        </p:spPr>
        <p:txBody>
          <a:bodyPr wrap="square" anchor="t" lIns="0" rIns="0" tIns="0" bIns="0">
            <a:noAutofit/>
          </a:bodyPr>
          <a:lstStyle/>
          <a:p>
            <a:pPr algn="l">
              <a:spcAft>
                <a:spcPts val="0"/>
              </a:spcAft>
            </a:pPr>
            <a:r>
              <a:rPr sz="900" b="0" i="0">
                <a:solidFill>
                  <a:srgbClr val="203247"/>
                </a:solidFill>
                <a:latin typeface="Arial"/>
              </a:rPr>
              <a:t>The Access Review Evidence Log serves as a…</a:t>
            </a:r>
            <a:endParaRPr sz="1000" b="0" i="0">
              <a:latin typeface="Arial"/>
            </a:endParaRPr>
          </a:p>
        </p:txBody>
      </p:sp>
      <p:sp>
        <p:nvSpPr>
          <p:cNvPr id="32" name="Rounded Rectangle 31"/>
          <p:cNvSpPr/>
          <p:nvPr/>
        </p:nvSpPr>
        <p:spPr>
          <a:xfrm>
            <a:off x="5927063" y="3369564"/>
            <a:ext cx="2705748"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5991071" y="3433572"/>
            <a:ext cx="2577732" cy="276606"/>
          </a:xfrm>
          <a:prstGeom prst="rect">
            <a:avLst/>
          </a:prstGeom>
          <a:noFill/>
        </p:spPr>
        <p:txBody>
          <a:bodyPr wrap="square" anchor="t" lIns="0" rIns="0" tIns="0" bIns="0">
            <a:noAutofit/>
          </a:bodyPr>
          <a:lstStyle/>
          <a:p>
            <a:pPr algn="l">
              <a:spcAft>
                <a:spcPts val="0"/>
              </a:spcAft>
            </a:pPr>
            <a:r>
              <a:rPr sz="900" b="0" i="0">
                <a:solidFill>
                  <a:srgbClr val="203247"/>
                </a:solidFill>
                <a:latin typeface="Arial"/>
              </a:rPr>
              <a:t>Access Review Evidence Log.pdf (pdf), Privileged Account Approval Email.pdf (pdf)</a:t>
            </a:r>
            <a:endParaRPr sz="1000" b="0" i="0">
              <a:latin typeface="Arial"/>
            </a:endParaRPr>
          </a:p>
        </p:txBody>
      </p:sp>
      <p:sp>
        <p:nvSpPr>
          <p:cNvPr id="34" name="Rounded Rectangle 33"/>
          <p:cNvSpPr/>
          <p:nvPr/>
        </p:nvSpPr>
        <p:spPr>
          <a:xfrm>
            <a:off x="8678531" y="3369564"/>
            <a:ext cx="2705748"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742539" y="3433572"/>
            <a:ext cx="2577732" cy="276606"/>
          </a:xfrm>
          <a:prstGeom prst="rect">
            <a:avLst/>
          </a:prstGeom>
          <a:noFill/>
        </p:spPr>
        <p:txBody>
          <a:bodyPr wrap="square" anchor="t" lIns="0" rIns="0" tIns="0" bIns="0">
            <a:noAutofit/>
          </a:bodyPr>
          <a:lstStyle/>
          <a:p>
            <a:pPr algn="l">
              <a:spcAft>
                <a:spcPts val="0"/>
              </a:spcAft>
            </a:pPr>
            <a:r>
              <a:rPr sz="700" b="0" i="0">
                <a:solidFill>
                  <a:srgbClr val="203247"/>
                </a:solidFill>
                <a:latin typeface="Arial"/>
              </a:rPr>
              <a:t>Access Review Evidence Log.pdf (pdf): The synthetic Access Review Evidence Log (EVD-101) documents Q1 2024 vendor-contr…</a:t>
            </a:r>
            <a:endParaRPr sz="700" b="0" i="0">
              <a:latin typeface="Arial"/>
            </a:endParaRPr>
          </a:p>
        </p:txBody>
      </p:sp>
      <p:sp>
        <p:nvSpPr>
          <p:cNvPr id="36" name="Rounded Rectangle 35"/>
          <p:cNvSpPr/>
          <p:nvPr/>
        </p:nvSpPr>
        <p:spPr>
          <a:xfrm>
            <a:off x="777240" y="3829050"/>
            <a:ext cx="2352634"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41247" y="3893058"/>
            <a:ext cx="2224618" cy="276606"/>
          </a:xfrm>
          <a:prstGeom prst="rect">
            <a:avLst/>
          </a:prstGeom>
          <a:noFill/>
        </p:spPr>
        <p:txBody>
          <a:bodyPr wrap="square" anchor="t" lIns="0" rIns="0" tIns="0" bIns="0">
            <a:noAutofit/>
          </a:bodyPr>
          <a:lstStyle/>
          <a:p>
            <a:pPr algn="l">
              <a:spcAft>
                <a:spcPts val="0"/>
              </a:spcAft>
            </a:pPr>
            <a:r>
              <a:rPr sz="1000" b="0" i="0">
                <a:solidFill>
                  <a:srgbClr val="203247"/>
                </a:solidFill>
                <a:latin typeface="Arial"/>
              </a:rPr>
              <a:t>auditability_delta</a:t>
            </a:r>
            <a:endParaRPr sz="1000" b="0" i="0">
              <a:latin typeface="Arial"/>
            </a:endParaRPr>
          </a:p>
        </p:txBody>
      </p:sp>
      <p:sp>
        <p:nvSpPr>
          <p:cNvPr id="38" name="Rounded Rectangle 37"/>
          <p:cNvSpPr/>
          <p:nvPr/>
        </p:nvSpPr>
        <p:spPr>
          <a:xfrm>
            <a:off x="3175594" y="3829050"/>
            <a:ext cx="2705748"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3239602" y="3893058"/>
            <a:ext cx="2577732" cy="276606"/>
          </a:xfrm>
          <a:prstGeom prst="rect">
            <a:avLst/>
          </a:prstGeom>
          <a:noFill/>
        </p:spPr>
        <p:txBody>
          <a:bodyPr wrap="square" anchor="t" lIns="0" rIns="0" tIns="0" bIns="0">
            <a:noAutofit/>
          </a:bodyPr>
          <a:lstStyle/>
          <a:p>
            <a:pPr algn="l">
              <a:spcAft>
                <a:spcPts val="0"/>
              </a:spcAft>
            </a:pPr>
            <a:r>
              <a:rPr sz="900" b="0" i="0">
                <a:solidFill>
                  <a:srgbClr val="203247"/>
                </a:solidFill>
                <a:latin typeface="Arial"/>
              </a:rPr>
              <a:t>Control closure hinges on completing missing provenance and…</a:t>
            </a:r>
            <a:endParaRPr sz="1000" b="0" i="0">
              <a:latin typeface="Arial"/>
            </a:endParaRPr>
          </a:p>
        </p:txBody>
      </p:sp>
      <p:sp>
        <p:nvSpPr>
          <p:cNvPr id="40" name="Rounded Rectangle 39"/>
          <p:cNvSpPr/>
          <p:nvPr/>
        </p:nvSpPr>
        <p:spPr>
          <a:xfrm>
            <a:off x="5927063" y="3829050"/>
            <a:ext cx="2705748"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5991071" y="3893058"/>
            <a:ext cx="2577732" cy="276606"/>
          </a:xfrm>
          <a:prstGeom prst="rect">
            <a:avLst/>
          </a:prstGeom>
          <a:noFill/>
        </p:spPr>
        <p:txBody>
          <a:bodyPr wrap="square" anchor="t" lIns="0" rIns="0" tIns="0" bIns="0">
            <a:noAutofit/>
          </a:bodyPr>
          <a:lstStyle/>
          <a:p>
            <a:pPr algn="l">
              <a:spcAft>
                <a:spcPts val="0"/>
              </a:spcAft>
            </a:pPr>
            <a:r>
              <a:rPr sz="900" b="0" i="0">
                <a:solidFill>
                  <a:srgbClr val="203247"/>
                </a:solidFill>
                <a:latin typeface="Arial"/>
              </a:rPr>
              <a:t>Access Review Evidence Log.pdf (pdf), Privileged Account Approval Email.pdf (pdf)</a:t>
            </a:r>
            <a:endParaRPr sz="1000" b="0" i="0">
              <a:latin typeface="Arial"/>
            </a:endParaRPr>
          </a:p>
        </p:txBody>
      </p:sp>
      <p:sp>
        <p:nvSpPr>
          <p:cNvPr id="42" name="Rounded Rectangle 41"/>
          <p:cNvSpPr/>
          <p:nvPr/>
        </p:nvSpPr>
        <p:spPr>
          <a:xfrm>
            <a:off x="8678531" y="3829050"/>
            <a:ext cx="2705748"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8742539" y="3893058"/>
            <a:ext cx="2577732" cy="276606"/>
          </a:xfrm>
          <a:prstGeom prst="rect">
            <a:avLst/>
          </a:prstGeom>
          <a:noFill/>
        </p:spPr>
        <p:txBody>
          <a:bodyPr wrap="square" anchor="t" lIns="0" rIns="0" tIns="0" bIns="0">
            <a:noAutofit/>
          </a:bodyPr>
          <a:lstStyle/>
          <a:p>
            <a:pPr algn="l">
              <a:spcAft>
                <a:spcPts val="0"/>
              </a:spcAft>
            </a:pPr>
            <a:r>
              <a:rPr sz="700" b="0" i="0">
                <a:solidFill>
                  <a:srgbClr val="203247"/>
                </a:solidFill>
                <a:latin typeface="Arial"/>
              </a:rPr>
              <a:t>Access Review Evidence Log.pdf (pdf): The synthetic Access Review Evidence Log (EVD-101) documents Q1 2024 vendor-contr…</a:t>
            </a:r>
            <a:endParaRPr sz="700" b="0" i="0">
              <a:latin typeface="Arial"/>
            </a:endParaRPr>
          </a:p>
        </p:txBody>
      </p:sp>
      <p:sp>
        <p:nvSpPr>
          <p:cNvPr id="44" name="Rounded Rectangle 43"/>
          <p:cNvSpPr/>
          <p:nvPr/>
        </p:nvSpPr>
        <p:spPr>
          <a:xfrm>
            <a:off x="777240" y="4288536"/>
            <a:ext cx="2352634"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841247" y="4352544"/>
            <a:ext cx="2224618" cy="276606"/>
          </a:xfrm>
          <a:prstGeom prst="rect">
            <a:avLst/>
          </a:prstGeom>
          <a:noFill/>
        </p:spPr>
        <p:txBody>
          <a:bodyPr wrap="square" anchor="t" lIns="0" rIns="0" tIns="0" bIns="0">
            <a:noAutofit/>
          </a:bodyPr>
          <a:lstStyle/>
          <a:p>
            <a:pPr algn="l">
              <a:spcAft>
                <a:spcPts val="0"/>
              </a:spcAft>
            </a:pPr>
            <a:r>
              <a:rPr sz="1000" b="0" i="0">
                <a:solidFill>
                  <a:srgbClr val="203247"/>
                </a:solidFill>
                <a:latin typeface="Arial"/>
              </a:rPr>
              <a:t>approval_change</a:t>
            </a:r>
            <a:endParaRPr sz="1000" b="0" i="0">
              <a:latin typeface="Arial"/>
            </a:endParaRPr>
          </a:p>
        </p:txBody>
      </p:sp>
      <p:sp>
        <p:nvSpPr>
          <p:cNvPr id="46" name="Rounded Rectangle 45"/>
          <p:cNvSpPr/>
          <p:nvPr/>
        </p:nvSpPr>
        <p:spPr>
          <a:xfrm>
            <a:off x="3175594" y="4288536"/>
            <a:ext cx="2705748"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3239602" y="4352544"/>
            <a:ext cx="2577732" cy="276606"/>
          </a:xfrm>
          <a:prstGeom prst="rect">
            <a:avLst/>
          </a:prstGeom>
          <a:noFill/>
        </p:spPr>
        <p:txBody>
          <a:bodyPr wrap="square" anchor="t" lIns="0" rIns="0" tIns="0" bIns="0">
            <a:noAutofit/>
          </a:bodyPr>
          <a:lstStyle/>
          <a:p>
            <a:pPr algn="l">
              <a:spcAft>
                <a:spcPts val="0"/>
              </a:spcAft>
            </a:pPr>
            <a:r>
              <a:rPr sz="900" b="0" i="0">
                <a:solidFill>
                  <a:srgbClr val="203247"/>
                </a:solidFill>
                <a:latin typeface="Arial"/>
              </a:rPr>
              <a:t>Access is granted as a pilot with strict…</a:t>
            </a:r>
            <a:endParaRPr sz="1000" b="0" i="0">
              <a:latin typeface="Arial"/>
            </a:endParaRPr>
          </a:p>
        </p:txBody>
      </p:sp>
      <p:sp>
        <p:nvSpPr>
          <p:cNvPr id="48" name="Rounded Rectangle 47"/>
          <p:cNvSpPr/>
          <p:nvPr/>
        </p:nvSpPr>
        <p:spPr>
          <a:xfrm>
            <a:off x="5927063" y="4288536"/>
            <a:ext cx="2705748"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5991071" y="4352544"/>
            <a:ext cx="2577732" cy="276606"/>
          </a:xfrm>
          <a:prstGeom prst="rect">
            <a:avLst/>
          </a:prstGeom>
          <a:noFill/>
        </p:spPr>
        <p:txBody>
          <a:bodyPr wrap="square" anchor="t" lIns="0" rIns="0" tIns="0" bIns="0">
            <a:noAutofit/>
          </a:bodyPr>
          <a:lstStyle/>
          <a:p>
            <a:pPr algn="l">
              <a:spcAft>
                <a:spcPts val="0"/>
              </a:spcAft>
            </a:pPr>
            <a:r>
              <a:rPr sz="900" b="0" i="0">
                <a:solidFill>
                  <a:srgbClr val="203247"/>
                </a:solidFill>
                <a:latin typeface="Arial"/>
              </a:rPr>
              <a:t>Access Review Evidence Log.pdf (pdf), Privileged Account Approval Email.pdf (pdf)</a:t>
            </a:r>
            <a:endParaRPr sz="1000" b="0" i="0">
              <a:latin typeface="Arial"/>
            </a:endParaRPr>
          </a:p>
        </p:txBody>
      </p:sp>
      <p:sp>
        <p:nvSpPr>
          <p:cNvPr id="50" name="Rounded Rectangle 49"/>
          <p:cNvSpPr/>
          <p:nvPr/>
        </p:nvSpPr>
        <p:spPr>
          <a:xfrm>
            <a:off x="8678531" y="4288536"/>
            <a:ext cx="2705748"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8742539" y="4352544"/>
            <a:ext cx="2577732" cy="276606"/>
          </a:xfrm>
          <a:prstGeom prst="rect">
            <a:avLst/>
          </a:prstGeom>
          <a:noFill/>
        </p:spPr>
        <p:txBody>
          <a:bodyPr wrap="square" anchor="t" lIns="0" rIns="0" tIns="0" bIns="0">
            <a:noAutofit/>
          </a:bodyPr>
          <a:lstStyle/>
          <a:p>
            <a:pPr algn="l">
              <a:spcAft>
                <a:spcPts val="0"/>
              </a:spcAft>
            </a:pPr>
            <a:r>
              <a:rPr sz="700" b="0" i="0">
                <a:solidFill>
                  <a:srgbClr val="203247"/>
                </a:solidFill>
                <a:latin typeface="Arial"/>
              </a:rPr>
              <a:t>Access Review Evidence Log.pdf (pdf): The synthetic Access Review Evidence Log (EVD-101) documents Q1 2024 vendor-contr…</a:t>
            </a:r>
            <a:endParaRPr sz="700" b="0" i="0">
              <a:latin typeface="Arial"/>
            </a:endParaRPr>
          </a:p>
        </p:txBody>
      </p:sp>
      <p:sp>
        <p:nvSpPr>
          <p:cNvPr id="52" name="Rounded Rectangle 51"/>
          <p:cNvSpPr/>
          <p:nvPr/>
        </p:nvSpPr>
        <p:spPr>
          <a:xfrm>
            <a:off x="777240" y="4748022"/>
            <a:ext cx="2352634"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841247" y="4812030"/>
            <a:ext cx="2224618" cy="276606"/>
          </a:xfrm>
          <a:prstGeom prst="rect">
            <a:avLst/>
          </a:prstGeom>
          <a:noFill/>
        </p:spPr>
        <p:txBody>
          <a:bodyPr wrap="square" anchor="t" lIns="0" rIns="0" tIns="0" bIns="0">
            <a:noAutofit/>
          </a:bodyPr>
          <a:lstStyle/>
          <a:p>
            <a:pPr algn="l">
              <a:spcAft>
                <a:spcPts val="0"/>
              </a:spcAft>
            </a:pPr>
            <a:r>
              <a:rPr sz="1000" b="0" i="0">
                <a:solidFill>
                  <a:srgbClr val="203247"/>
                </a:solidFill>
                <a:latin typeface="Arial"/>
              </a:rPr>
              <a:t>approval_change</a:t>
            </a:r>
            <a:endParaRPr sz="1000" b="0" i="0">
              <a:latin typeface="Arial"/>
            </a:endParaRPr>
          </a:p>
        </p:txBody>
      </p:sp>
      <p:sp>
        <p:nvSpPr>
          <p:cNvPr id="54" name="Rounded Rectangle 53"/>
          <p:cNvSpPr/>
          <p:nvPr/>
        </p:nvSpPr>
        <p:spPr>
          <a:xfrm>
            <a:off x="3175594" y="4748022"/>
            <a:ext cx="2705748"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3239602" y="4812030"/>
            <a:ext cx="2577732" cy="276606"/>
          </a:xfrm>
          <a:prstGeom prst="rect">
            <a:avLst/>
          </a:prstGeom>
          <a:noFill/>
        </p:spPr>
        <p:txBody>
          <a:bodyPr wrap="square" anchor="t" lIns="0" rIns="0" tIns="0" bIns="0">
            <a:noAutofit/>
          </a:bodyPr>
          <a:lstStyle/>
          <a:p>
            <a:pPr algn="l">
              <a:spcAft>
                <a:spcPts val="0"/>
              </a:spcAft>
            </a:pPr>
            <a:r>
              <a:rPr sz="900" b="0" i="0">
                <a:solidFill>
                  <a:srgbClr val="203247"/>
                </a:solidFill>
                <a:latin typeface="Arial"/>
              </a:rPr>
              <a:t>Governance requires ongoing vendor confirmation and revalidation if…</a:t>
            </a:r>
            <a:endParaRPr sz="1000" b="0" i="0">
              <a:latin typeface="Arial"/>
            </a:endParaRPr>
          </a:p>
        </p:txBody>
      </p:sp>
      <p:sp>
        <p:nvSpPr>
          <p:cNvPr id="56" name="Rounded Rectangle 55"/>
          <p:cNvSpPr/>
          <p:nvPr/>
        </p:nvSpPr>
        <p:spPr>
          <a:xfrm>
            <a:off x="5927063" y="4748022"/>
            <a:ext cx="2705748"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5991071" y="4812030"/>
            <a:ext cx="2577732" cy="276606"/>
          </a:xfrm>
          <a:prstGeom prst="rect">
            <a:avLst/>
          </a:prstGeom>
          <a:noFill/>
        </p:spPr>
        <p:txBody>
          <a:bodyPr wrap="square" anchor="t" lIns="0" rIns="0" tIns="0" bIns="0">
            <a:noAutofit/>
          </a:bodyPr>
          <a:lstStyle/>
          <a:p>
            <a:pPr algn="l">
              <a:spcAft>
                <a:spcPts val="0"/>
              </a:spcAft>
            </a:pPr>
            <a:r>
              <a:rPr sz="900" b="0" i="0">
                <a:solidFill>
                  <a:srgbClr val="203247"/>
                </a:solidFill>
                <a:latin typeface="Arial"/>
              </a:rPr>
              <a:t>Access Review Evidence Log.pdf (pdf), Privileged Account Approval Email.pdf (pdf)</a:t>
            </a:r>
            <a:endParaRPr sz="1000" b="0" i="0">
              <a:latin typeface="Arial"/>
            </a:endParaRPr>
          </a:p>
        </p:txBody>
      </p:sp>
      <p:sp>
        <p:nvSpPr>
          <p:cNvPr id="58" name="Rounded Rectangle 57"/>
          <p:cNvSpPr/>
          <p:nvPr/>
        </p:nvSpPr>
        <p:spPr>
          <a:xfrm>
            <a:off x="8678531" y="4748022"/>
            <a:ext cx="2705748"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8742539" y="4812030"/>
            <a:ext cx="2577732" cy="276606"/>
          </a:xfrm>
          <a:prstGeom prst="rect">
            <a:avLst/>
          </a:prstGeom>
          <a:noFill/>
        </p:spPr>
        <p:txBody>
          <a:bodyPr wrap="square" anchor="t" lIns="0" rIns="0" tIns="0" bIns="0">
            <a:noAutofit/>
          </a:bodyPr>
          <a:lstStyle/>
          <a:p>
            <a:pPr algn="l">
              <a:spcAft>
                <a:spcPts val="0"/>
              </a:spcAft>
            </a:pPr>
            <a:r>
              <a:rPr sz="700" b="0" i="0">
                <a:solidFill>
                  <a:srgbClr val="203247"/>
                </a:solidFill>
                <a:latin typeface="Arial"/>
              </a:rPr>
              <a:t>Access Review Evidence Log.pdf (pdf): The synthetic Access Review Evidence Log (EVD-101) documents Q1 2024 vendor-contr…</a:t>
            </a:r>
            <a:endParaRPr sz="700" b="0" i="0">
              <a:latin typeface="Arial"/>
            </a:endParaRPr>
          </a:p>
        </p:txBody>
      </p:sp>
      <p:sp>
        <p:nvSpPr>
          <p:cNvPr id="60" name="Rounded Rectangle 59"/>
          <p:cNvSpPr/>
          <p:nvPr/>
        </p:nvSpPr>
        <p:spPr>
          <a:xfrm>
            <a:off x="777240" y="5207508"/>
            <a:ext cx="2352634"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841247" y="5271516"/>
            <a:ext cx="2224618" cy="276606"/>
          </a:xfrm>
          <a:prstGeom prst="rect">
            <a:avLst/>
          </a:prstGeom>
          <a:noFill/>
        </p:spPr>
        <p:txBody>
          <a:bodyPr wrap="square" anchor="t" lIns="0" rIns="0" tIns="0" bIns="0">
            <a:noAutofit/>
          </a:bodyPr>
          <a:lstStyle/>
          <a:p>
            <a:pPr algn="l">
              <a:spcAft>
                <a:spcPts val="0"/>
              </a:spcAft>
            </a:pPr>
            <a:r>
              <a:rPr sz="1000" b="0" i="0">
                <a:solidFill>
                  <a:srgbClr val="203247"/>
                </a:solidFill>
                <a:latin typeface="Arial"/>
              </a:rPr>
              <a:t>auditability_delta</a:t>
            </a:r>
            <a:endParaRPr sz="1000" b="0" i="0">
              <a:latin typeface="Arial"/>
            </a:endParaRPr>
          </a:p>
        </p:txBody>
      </p:sp>
      <p:sp>
        <p:nvSpPr>
          <p:cNvPr id="62" name="Rounded Rectangle 61"/>
          <p:cNvSpPr/>
          <p:nvPr/>
        </p:nvSpPr>
        <p:spPr>
          <a:xfrm>
            <a:off x="3175594" y="5207508"/>
            <a:ext cx="2705748"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3239602" y="5271516"/>
            <a:ext cx="2577732" cy="276606"/>
          </a:xfrm>
          <a:prstGeom prst="rect">
            <a:avLst/>
          </a:prstGeom>
          <a:noFill/>
        </p:spPr>
        <p:txBody>
          <a:bodyPr wrap="square" anchor="t" lIns="0" rIns="0" tIns="0" bIns="0">
            <a:noAutofit/>
          </a:bodyPr>
          <a:lstStyle/>
          <a:p>
            <a:pPr algn="l">
              <a:spcAft>
                <a:spcPts val="0"/>
              </a:spcAft>
            </a:pPr>
            <a:r>
              <a:rPr sz="900" b="0" i="0">
                <a:solidFill>
                  <a:srgbClr val="203247"/>
                </a:solidFill>
                <a:latin typeface="Arial"/>
              </a:rPr>
              <a:t>The evidence log is a test artifact, not…</a:t>
            </a:r>
            <a:endParaRPr sz="1000" b="0" i="0">
              <a:latin typeface="Arial"/>
            </a:endParaRPr>
          </a:p>
        </p:txBody>
      </p:sp>
      <p:sp>
        <p:nvSpPr>
          <p:cNvPr id="64" name="Rounded Rectangle 63"/>
          <p:cNvSpPr/>
          <p:nvPr/>
        </p:nvSpPr>
        <p:spPr>
          <a:xfrm>
            <a:off x="5927063" y="5207508"/>
            <a:ext cx="2705748"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5991071" y="5271516"/>
            <a:ext cx="2577732" cy="276606"/>
          </a:xfrm>
          <a:prstGeom prst="rect">
            <a:avLst/>
          </a:prstGeom>
          <a:noFill/>
        </p:spPr>
        <p:txBody>
          <a:bodyPr wrap="square" anchor="t" lIns="0" rIns="0" tIns="0" bIns="0">
            <a:noAutofit/>
          </a:bodyPr>
          <a:lstStyle/>
          <a:p>
            <a:pPr algn="l">
              <a:spcAft>
                <a:spcPts val="0"/>
              </a:spcAft>
            </a:pPr>
            <a:r>
              <a:rPr sz="900" b="0" i="0">
                <a:solidFill>
                  <a:srgbClr val="203247"/>
                </a:solidFill>
                <a:latin typeface="Arial"/>
              </a:rPr>
              <a:t>Access Review Evidence Log.pdf (pdf), Privileged Account Approval Email.pdf (pdf)</a:t>
            </a:r>
            <a:endParaRPr sz="1000" b="0" i="0">
              <a:latin typeface="Arial"/>
            </a:endParaRPr>
          </a:p>
        </p:txBody>
      </p:sp>
      <p:sp>
        <p:nvSpPr>
          <p:cNvPr id="66" name="Rounded Rectangle 65"/>
          <p:cNvSpPr/>
          <p:nvPr/>
        </p:nvSpPr>
        <p:spPr>
          <a:xfrm>
            <a:off x="8678531" y="5207508"/>
            <a:ext cx="2705748"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8742539" y="5271516"/>
            <a:ext cx="2577732" cy="276606"/>
          </a:xfrm>
          <a:prstGeom prst="rect">
            <a:avLst/>
          </a:prstGeom>
          <a:noFill/>
        </p:spPr>
        <p:txBody>
          <a:bodyPr wrap="square" anchor="t" lIns="0" rIns="0" tIns="0" bIns="0">
            <a:noAutofit/>
          </a:bodyPr>
          <a:lstStyle/>
          <a:p>
            <a:pPr algn="l">
              <a:spcAft>
                <a:spcPts val="0"/>
              </a:spcAft>
            </a:pPr>
            <a:r>
              <a:rPr sz="700" b="0" i="0">
                <a:solidFill>
                  <a:srgbClr val="203247"/>
                </a:solidFill>
                <a:latin typeface="Arial"/>
              </a:rPr>
              <a:t>Access Review Evidence Log.pdf (pdf): The document serves as a test artifact rather than a production record. | Privile…</a:t>
            </a:r>
            <a:endParaRPr sz="700" b="0" i="0">
              <a:latin typeface="Arial"/>
            </a:endParaRPr>
          </a:p>
        </p:txBody>
      </p:sp>
      <p:sp>
        <p:nvSpPr>
          <p:cNvPr id="68" name="Rounded Rectangle 67"/>
          <p:cNvSpPr/>
          <p:nvPr/>
        </p:nvSpPr>
        <p:spPr>
          <a:xfrm>
            <a:off x="777240" y="5666994"/>
            <a:ext cx="2352634"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841247" y="5731002"/>
            <a:ext cx="2224618" cy="276606"/>
          </a:xfrm>
          <a:prstGeom prst="rect">
            <a:avLst/>
          </a:prstGeom>
          <a:noFill/>
        </p:spPr>
        <p:txBody>
          <a:bodyPr wrap="square" anchor="t" lIns="0" rIns="0" tIns="0" bIns="0">
            <a:noAutofit/>
          </a:bodyPr>
          <a:lstStyle/>
          <a:p>
            <a:pPr algn="l">
              <a:spcAft>
                <a:spcPts val="0"/>
              </a:spcAft>
            </a:pPr>
            <a:r>
              <a:rPr sz="900" b="0" i="0">
                <a:solidFill>
                  <a:srgbClr val="203247"/>
                </a:solidFill>
                <a:latin typeface="Arial"/>
              </a:rPr>
              <a:t>cross_document_observation</a:t>
            </a:r>
            <a:endParaRPr sz="1000" b="0" i="0">
              <a:latin typeface="Arial"/>
            </a:endParaRPr>
          </a:p>
        </p:txBody>
      </p:sp>
      <p:sp>
        <p:nvSpPr>
          <p:cNvPr id="70" name="Rounded Rectangle 69"/>
          <p:cNvSpPr/>
          <p:nvPr/>
        </p:nvSpPr>
        <p:spPr>
          <a:xfrm>
            <a:off x="3175594" y="5666994"/>
            <a:ext cx="2705748"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3239602" y="5731002"/>
            <a:ext cx="2577732" cy="276606"/>
          </a:xfrm>
          <a:prstGeom prst="rect">
            <a:avLst/>
          </a:prstGeom>
          <a:noFill/>
        </p:spPr>
        <p:txBody>
          <a:bodyPr wrap="square" anchor="t" lIns="0" rIns="0" tIns="0" bIns="0">
            <a:noAutofit/>
          </a:bodyPr>
          <a:lstStyle/>
          <a:p>
            <a:pPr algn="l">
              <a:spcAft>
                <a:spcPts val="0"/>
              </a:spcAft>
            </a:pPr>
            <a:r>
              <a:rPr sz="900" b="0" i="0">
                <a:solidFill>
                  <a:srgbClr val="203247"/>
                </a:solidFill>
                <a:latin typeface="Arial"/>
              </a:rPr>
              <a:t>Standing privilege is conditional on operational controls and…</a:t>
            </a:r>
            <a:endParaRPr sz="1000" b="0" i="0">
              <a:latin typeface="Arial"/>
            </a:endParaRPr>
          </a:p>
        </p:txBody>
      </p:sp>
      <p:sp>
        <p:nvSpPr>
          <p:cNvPr id="72" name="Rounded Rectangle 71"/>
          <p:cNvSpPr/>
          <p:nvPr/>
        </p:nvSpPr>
        <p:spPr>
          <a:xfrm>
            <a:off x="5927063" y="5666994"/>
            <a:ext cx="2705748"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5991071" y="5731002"/>
            <a:ext cx="2577732" cy="276606"/>
          </a:xfrm>
          <a:prstGeom prst="rect">
            <a:avLst/>
          </a:prstGeom>
          <a:noFill/>
        </p:spPr>
        <p:txBody>
          <a:bodyPr wrap="square" anchor="t" lIns="0" rIns="0" tIns="0" bIns="0">
            <a:noAutofit/>
          </a:bodyPr>
          <a:lstStyle/>
          <a:p>
            <a:pPr algn="l">
              <a:spcAft>
                <a:spcPts val="0"/>
              </a:spcAft>
            </a:pPr>
            <a:r>
              <a:rPr sz="900" b="0" i="0">
                <a:solidFill>
                  <a:srgbClr val="203247"/>
                </a:solidFill>
                <a:latin typeface="Arial"/>
              </a:rPr>
              <a:t>Access Review Evidence Log.pdf (pdf), Privileged Account Approval Email.pdf (pdf)</a:t>
            </a:r>
            <a:endParaRPr sz="1000" b="0" i="0">
              <a:latin typeface="Arial"/>
            </a:endParaRPr>
          </a:p>
        </p:txBody>
      </p:sp>
      <p:sp>
        <p:nvSpPr>
          <p:cNvPr id="74" name="Rounded Rectangle 73"/>
          <p:cNvSpPr/>
          <p:nvPr/>
        </p:nvSpPr>
        <p:spPr>
          <a:xfrm>
            <a:off x="8678531" y="5666994"/>
            <a:ext cx="2705748"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8742539" y="5731002"/>
            <a:ext cx="2577732" cy="276606"/>
          </a:xfrm>
          <a:prstGeom prst="rect">
            <a:avLst/>
          </a:prstGeom>
          <a:noFill/>
        </p:spPr>
        <p:txBody>
          <a:bodyPr wrap="square" anchor="t" lIns="0" rIns="0" tIns="0" bIns="0">
            <a:noAutofit/>
          </a:bodyPr>
          <a:lstStyle/>
          <a:p>
            <a:pPr algn="l">
              <a:spcAft>
                <a:spcPts val="0"/>
              </a:spcAft>
            </a:pPr>
            <a:r>
              <a:rPr sz="700" b="0" i="0">
                <a:solidFill>
                  <a:srgbClr val="203247"/>
                </a:solidFill>
                <a:latin typeface="Arial"/>
              </a:rPr>
              <a:t>Access Review Evidence Log.pdf (pdf): The synthetic Access Review Evidence Log (EVD-101) documents Q1 2024 vendor-contr…</a:t>
            </a:r>
            <a:endParaRPr sz="700" b="0" i="0">
              <a:latin typeface="Arial"/>
            </a:endParaRPr>
          </a:p>
        </p:txBody>
      </p:sp>
      <p:sp>
        <p:nvSpPr>
          <p:cNvPr id="76" name="TextBox 75"/>
          <p:cNvSpPr txBox="1"/>
          <p:nvPr/>
        </p:nvSpPr>
        <p:spPr>
          <a:xfrm>
            <a:off x="777240" y="6327648"/>
            <a:ext cx="5486400" cy="182880"/>
          </a:xfrm>
          <a:prstGeom prst="rect">
            <a:avLst/>
          </a:prstGeom>
          <a:noFill/>
        </p:spPr>
        <p:txBody>
          <a:bodyPr wrap="square" anchor="t" lIns="0" rIns="0" tIns="0" bIns="0">
            <a:spAutoFit/>
          </a:bodyPr>
          <a:lstStyle/>
          <a:p>
            <a:pPr algn="l"/>
            <a:r>
              <a:rPr sz="1000" b="0" i="0">
                <a:solidFill>
                  <a:srgbClr val="617287"/>
                </a:solidFill>
                <a:latin typeface="Arial"/>
              </a:rPr>
              <a:t>AI Workbench Local • Comparison Review  •  2026-04-18</a:t>
            </a:r>
          </a:p>
        </p:txBody>
      </p:sp>
      <p:sp>
        <p:nvSpPr>
          <p:cNvPr id="77" name="TextBox 76"/>
          <p:cNvSpPr txBox="1"/>
          <p:nvPr/>
        </p:nvSpPr>
        <p:spPr>
          <a:xfrm>
            <a:off x="9966960" y="6327648"/>
            <a:ext cx="1234440" cy="182880"/>
          </a:xfrm>
          <a:prstGeom prst="rect">
            <a:avLst/>
          </a:prstGeom>
          <a:noFill/>
        </p:spPr>
        <p:txBody>
          <a:bodyPr wrap="square" anchor="t" lIns="0" rIns="0" tIns="0" bIns="0">
            <a:spAutoFit/>
          </a:bodyPr>
          <a:lstStyle/>
          <a:p>
            <a:pPr algn="r"/>
            <a:r>
              <a:rPr sz="1000" b="0" i="0">
                <a:solidFill>
                  <a:srgbClr val="617287"/>
                </a:solidFill>
                <a:latin typeface="Arial"/>
              </a:rPr>
              <a:t>04 / 06</a:t>
            </a:r>
          </a:p>
        </p:txBody>
      </p:sp>
      <p:cxnSp>
        <p:nvCxnSpPr>
          <p:cNvPr id="78" name="Connector 77"/>
          <p:cNvCxnSpPr/>
          <p:nvPr/>
        </p:nvCxnSpPr>
        <p:spPr>
          <a:xfrm>
            <a:off x="777240" y="6272784"/>
            <a:ext cx="10607040" cy="0"/>
          </a:xfrm>
          <a:prstGeom prst="line">
            <a:avLst/>
          </a:prstGeom>
          <a:ln w="10160">
            <a:solidFill>
              <a:srgbClr val="D8DEE6"/>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7F5F2"/>
        </a:solidFill>
        <a:effectLst/>
      </p:bgPr>
    </p:bg>
    <p:spTree>
      <p:nvGrpSpPr>
        <p:cNvPr id="1" name=""/>
        <p:cNvGrpSpPr/>
        <p:nvPr/>
      </p:nvGrpSpPr>
      <p:grpSpPr/>
      <p:sp>
        <p:nvSpPr>
          <p:cNvPr id="2" name="TextBox 1"/>
          <p:cNvSpPr txBox="1"/>
          <p:nvPr/>
        </p:nvSpPr>
        <p:spPr>
          <a:xfrm>
            <a:off x="777240" y="685800"/>
            <a:ext cx="4389120" cy="228600"/>
          </a:xfrm>
          <a:prstGeom prst="rect">
            <a:avLst/>
          </a:prstGeom>
          <a:noFill/>
        </p:spPr>
        <p:txBody>
          <a:bodyPr wrap="square" anchor="t" lIns="0" rIns="0" tIns="0" bIns="0">
            <a:spAutoFit/>
          </a:bodyPr>
          <a:lstStyle/>
          <a:p>
            <a:pPr algn="l"/>
            <a:r>
              <a:rPr sz="1000" b="1" i="0">
                <a:solidFill>
                  <a:srgbClr val="B08B5B"/>
                </a:solidFill>
                <a:latin typeface="Arial"/>
              </a:rPr>
              <a:t>EXECUTIVE NARRATIVE</a:t>
            </a:r>
          </a:p>
        </p:txBody>
      </p:sp>
      <p:sp>
        <p:nvSpPr>
          <p:cNvPr id="3" name="TextBox 2"/>
          <p:cNvSpPr txBox="1"/>
          <p:nvPr/>
        </p:nvSpPr>
        <p:spPr>
          <a:xfrm>
            <a:off x="777240" y="932688"/>
            <a:ext cx="7178040" cy="950976"/>
          </a:xfrm>
          <a:prstGeom prst="rect">
            <a:avLst/>
          </a:prstGeom>
          <a:noFill/>
        </p:spPr>
        <p:txBody>
          <a:bodyPr wrap="square" anchor="t" lIns="0" rIns="0" tIns="0" bIns="0">
            <a:noAutofit/>
          </a:bodyPr>
          <a:lstStyle/>
          <a:p>
            <a:pPr algn="l">
              <a:spcAft>
                <a:spcPts val="0"/>
              </a:spcAft>
            </a:pPr>
            <a:r>
              <a:rPr sz="2800" b="1" i="0">
                <a:solidFill>
                  <a:srgbClr val="14263F"/>
                </a:solidFill>
                <a:latin typeface="Arial"/>
              </a:rPr>
              <a:t>Recommendation vs watchouts</a:t>
            </a:r>
            <a:endParaRPr sz="2800" b="1" i="0">
              <a:latin typeface="Arial"/>
            </a:endParaRPr>
          </a:p>
        </p:txBody>
      </p:sp>
      <p:sp>
        <p:nvSpPr>
          <p:cNvPr id="4" name="Rounded Rectangle 3"/>
          <p:cNvSpPr/>
          <p:nvPr/>
        </p:nvSpPr>
        <p:spPr>
          <a:xfrm>
            <a:off x="777240" y="2029968"/>
            <a:ext cx="5551932" cy="3255264"/>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77240" y="2029968"/>
            <a:ext cx="73152" cy="3255264"/>
          </a:xfrm>
          <a:prstGeom prst="rect">
            <a:avLst/>
          </a:prstGeom>
          <a:solidFill>
            <a:srgbClr val="1426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14983" y="2267712"/>
            <a:ext cx="5076444" cy="384048"/>
          </a:xfrm>
          <a:prstGeom prst="rect">
            <a:avLst/>
          </a:prstGeom>
          <a:noFill/>
        </p:spPr>
        <p:txBody>
          <a:bodyPr wrap="square" anchor="t" lIns="0" rIns="0" tIns="0" bIns="0">
            <a:noAutofit/>
          </a:bodyPr>
          <a:lstStyle/>
          <a:p>
            <a:pPr algn="l">
              <a:spcAft>
                <a:spcPts val="0"/>
              </a:spcAft>
            </a:pPr>
            <a:r>
              <a:rPr sz="1600" b="1" i="0">
                <a:solidFill>
                  <a:srgbClr val="14263F"/>
                </a:solidFill>
                <a:latin typeface="Arial"/>
              </a:rPr>
              <a:t>Recommendation</a:t>
            </a:r>
            <a:endParaRPr sz="1600" b="1" i="0">
              <a:latin typeface="Arial"/>
            </a:endParaRPr>
          </a:p>
        </p:txBody>
      </p:sp>
      <p:sp>
        <p:nvSpPr>
          <p:cNvPr id="7" name="TextBox 6"/>
          <p:cNvSpPr txBox="1"/>
          <p:nvPr/>
        </p:nvSpPr>
        <p:spPr>
          <a:xfrm>
            <a:off x="1014983" y="2706624"/>
            <a:ext cx="5076444" cy="1272819"/>
          </a:xfrm>
          <a:prstGeom prst="rect">
            <a:avLst/>
          </a:prstGeom>
          <a:noFill/>
        </p:spPr>
        <p:txBody>
          <a:bodyPr wrap="square" anchor="t" lIns="0" rIns="0" tIns="0" bIns="0">
            <a:noAutofit/>
          </a:bodyPr>
          <a:lstStyle/>
          <a:p>
            <a:pPr algn="l">
              <a:spcAft>
                <a:spcPts val="0"/>
              </a:spcAft>
            </a:pPr>
            <a:r>
              <a:rPr sz="1400" b="0" i="0">
                <a:solidFill>
                  <a:srgbClr val="203247"/>
                </a:solidFill>
                <a:latin typeface="Arial"/>
              </a:rPr>
              <a:t>Open the cited source excerpts to confirm the interpretation before acting.</a:t>
            </a:r>
            <a:endParaRPr sz="1500" b="0" i="0">
              <a:latin typeface="Arial"/>
            </a:endParaRPr>
          </a:p>
        </p:txBody>
      </p:sp>
      <p:sp>
        <p:nvSpPr>
          <p:cNvPr id="8" name="TextBox 7"/>
          <p:cNvSpPr txBox="1"/>
          <p:nvPr/>
        </p:nvSpPr>
        <p:spPr>
          <a:xfrm>
            <a:off x="1014983" y="4034307"/>
            <a:ext cx="5076444" cy="1013180"/>
          </a:xfrm>
          <a:prstGeom prst="rect">
            <a:avLst/>
          </a:prstGeom>
          <a:noFill/>
        </p:spPr>
        <p:txBody>
          <a:bodyPr wrap="square" anchor="t" lIns="0" rIns="0" tIns="0" bIns="0">
            <a:noAutofit/>
          </a:bodyPr>
          <a:lstStyle/>
          <a:p>
            <a:pPr algn="l">
              <a:spcAft>
                <a:spcPts val="300"/>
              </a:spcAft>
            </a:pPr>
            <a:r>
              <a:rPr sz="1000" b="0" i="0">
                <a:solidFill>
                  <a:srgbClr val="203247"/>
                </a:solidFill>
                <a:latin typeface="Arial"/>
              </a:rPr>
              <a:t>• Open the cited source excerpts to confirm the interpretation before act…</a:t>
            </a:r>
            <a:endParaRPr sz="1100" b="0" i="0">
              <a:latin typeface="Arial"/>
            </a:endParaRPr>
          </a:p>
          <a:p>
            <a:pPr algn="l">
              <a:spcAft>
                <a:spcPts val="300"/>
              </a:spcAft>
            </a:pPr>
            <a:r>
              <a:rPr sz="1000" b="0" i="0">
                <a:solidFill>
                  <a:srgbClr val="203247"/>
                </a:solidFill>
                <a:latin typeface="Arial"/>
              </a:rPr>
              <a:t>• Validate critical differences directly in the compared documents before…</a:t>
            </a:r>
            <a:endParaRPr sz="1100" b="0" i="0">
              <a:latin typeface="Arial"/>
            </a:endParaRPr>
          </a:p>
        </p:txBody>
      </p:sp>
      <p:sp>
        <p:nvSpPr>
          <p:cNvPr id="9" name="Rounded Rectangle 8"/>
          <p:cNvSpPr/>
          <p:nvPr/>
        </p:nvSpPr>
        <p:spPr>
          <a:xfrm>
            <a:off x="6621780" y="2029968"/>
            <a:ext cx="4762500" cy="3255264"/>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621780" y="2029968"/>
            <a:ext cx="73152" cy="3255264"/>
          </a:xfrm>
          <a:prstGeom prst="rect">
            <a:avLst/>
          </a:prstGeom>
          <a:solidFill>
            <a:srgbClr val="B08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59524" y="2267712"/>
            <a:ext cx="4287012" cy="384048"/>
          </a:xfrm>
          <a:prstGeom prst="rect">
            <a:avLst/>
          </a:prstGeom>
          <a:noFill/>
        </p:spPr>
        <p:txBody>
          <a:bodyPr wrap="square" anchor="t" lIns="0" rIns="0" tIns="0" bIns="0">
            <a:noAutofit/>
          </a:bodyPr>
          <a:lstStyle/>
          <a:p>
            <a:pPr algn="l">
              <a:spcAft>
                <a:spcPts val="0"/>
              </a:spcAft>
            </a:pPr>
            <a:r>
              <a:rPr sz="1600" b="1" i="0">
                <a:solidFill>
                  <a:srgbClr val="14263F"/>
                </a:solidFill>
                <a:latin typeface="Arial"/>
              </a:rPr>
              <a:t>Watchouts</a:t>
            </a:r>
            <a:endParaRPr sz="1600" b="1" i="0">
              <a:latin typeface="Arial"/>
            </a:endParaRPr>
          </a:p>
        </p:txBody>
      </p:sp>
      <p:sp>
        <p:nvSpPr>
          <p:cNvPr id="12" name="TextBox 11"/>
          <p:cNvSpPr txBox="1"/>
          <p:nvPr/>
        </p:nvSpPr>
        <p:spPr>
          <a:xfrm>
            <a:off x="6859524" y="2706624"/>
            <a:ext cx="4287012" cy="1481328"/>
          </a:xfrm>
          <a:prstGeom prst="rect">
            <a:avLst/>
          </a:prstGeom>
          <a:noFill/>
        </p:spPr>
        <p:txBody>
          <a:bodyPr wrap="square" anchor="t" lIns="0" rIns="0" tIns="0" bIns="0">
            <a:noAutofit/>
          </a:bodyPr>
          <a:lstStyle/>
          <a:p>
            <a:pPr algn="l">
              <a:spcAft>
                <a:spcPts val="0"/>
              </a:spcAft>
            </a:pPr>
            <a:r>
              <a:rPr sz="1500" b="0" i="0">
                <a:solidFill>
                  <a:srgbClr val="203247"/>
                </a:solidFill>
                <a:latin typeface="Arial"/>
              </a:rPr>
              <a:t>No critical watchouts recorded for this slice.</a:t>
            </a:r>
            <a:endParaRPr sz="1500" b="0" i="0">
              <a:latin typeface="Arial"/>
            </a:endParaRPr>
          </a:p>
        </p:txBody>
      </p:sp>
      <p:sp>
        <p:nvSpPr>
          <p:cNvPr id="13" name="TextBox 12"/>
          <p:cNvSpPr txBox="1"/>
          <p:nvPr/>
        </p:nvSpPr>
        <p:spPr>
          <a:xfrm>
            <a:off x="777240" y="6327648"/>
            <a:ext cx="5486400" cy="182880"/>
          </a:xfrm>
          <a:prstGeom prst="rect">
            <a:avLst/>
          </a:prstGeom>
          <a:noFill/>
        </p:spPr>
        <p:txBody>
          <a:bodyPr wrap="square" anchor="t" lIns="0" rIns="0" tIns="0" bIns="0">
            <a:spAutoFit/>
          </a:bodyPr>
          <a:lstStyle/>
          <a:p>
            <a:pPr algn="l"/>
            <a:r>
              <a:rPr sz="1000" b="0" i="0">
                <a:solidFill>
                  <a:srgbClr val="617287"/>
                </a:solidFill>
                <a:latin typeface="Arial"/>
              </a:rPr>
              <a:t>AI Workbench Local • Comparison Review  •  2026-04-18</a:t>
            </a:r>
          </a:p>
        </p:txBody>
      </p:sp>
      <p:sp>
        <p:nvSpPr>
          <p:cNvPr id="14" name="TextBox 13"/>
          <p:cNvSpPr txBox="1"/>
          <p:nvPr/>
        </p:nvSpPr>
        <p:spPr>
          <a:xfrm>
            <a:off x="9966960" y="6327648"/>
            <a:ext cx="1234440" cy="182880"/>
          </a:xfrm>
          <a:prstGeom prst="rect">
            <a:avLst/>
          </a:prstGeom>
          <a:noFill/>
        </p:spPr>
        <p:txBody>
          <a:bodyPr wrap="square" anchor="t" lIns="0" rIns="0" tIns="0" bIns="0">
            <a:spAutoFit/>
          </a:bodyPr>
          <a:lstStyle/>
          <a:p>
            <a:pPr algn="r"/>
            <a:r>
              <a:rPr sz="1000" b="0" i="0">
                <a:solidFill>
                  <a:srgbClr val="617287"/>
                </a:solidFill>
                <a:latin typeface="Arial"/>
              </a:rPr>
              <a:t>05 / 06</a:t>
            </a:r>
          </a:p>
        </p:txBody>
      </p:sp>
      <p:cxnSp>
        <p:nvCxnSpPr>
          <p:cNvPr id="15" name="Connector 14"/>
          <p:cNvCxnSpPr/>
          <p:nvPr/>
        </p:nvCxnSpPr>
        <p:spPr>
          <a:xfrm>
            <a:off x="777240" y="6272784"/>
            <a:ext cx="10607040" cy="0"/>
          </a:xfrm>
          <a:prstGeom prst="line">
            <a:avLst/>
          </a:prstGeom>
          <a:ln w="10160">
            <a:solidFill>
              <a:srgbClr val="D8DEE6"/>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7F5F2"/>
        </a:solidFill>
        <a:effectLst/>
      </p:bgPr>
    </p:bg>
    <p:spTree>
      <p:nvGrpSpPr>
        <p:cNvPr id="1" name=""/>
        <p:cNvGrpSpPr/>
        <p:nvPr/>
      </p:nvGrpSpPr>
      <p:grpSpPr/>
      <p:sp>
        <p:nvSpPr>
          <p:cNvPr id="2" name="TextBox 1"/>
          <p:cNvSpPr txBox="1"/>
          <p:nvPr/>
        </p:nvSpPr>
        <p:spPr>
          <a:xfrm>
            <a:off x="777240" y="932688"/>
            <a:ext cx="5852160" cy="777240"/>
          </a:xfrm>
          <a:prstGeom prst="rect">
            <a:avLst/>
          </a:prstGeom>
          <a:noFill/>
        </p:spPr>
        <p:txBody>
          <a:bodyPr wrap="square" anchor="t" lIns="0" rIns="0" tIns="0" bIns="0">
            <a:noAutofit/>
          </a:bodyPr>
          <a:lstStyle/>
          <a:p>
            <a:pPr algn="l">
              <a:spcAft>
                <a:spcPts val="0"/>
              </a:spcAft>
            </a:pPr>
            <a:r>
              <a:rPr sz="2800" b="1" i="0">
                <a:solidFill>
                  <a:srgbClr val="14263F"/>
                </a:solidFill>
                <a:latin typeface="Arial"/>
              </a:rPr>
              <a:t>Next steps</a:t>
            </a:r>
            <a:endParaRPr sz="2800" b="1" i="0">
              <a:latin typeface="Arial"/>
            </a:endParaRPr>
          </a:p>
        </p:txBody>
      </p:sp>
      <p:sp>
        <p:nvSpPr>
          <p:cNvPr id="3" name="TextBox 2"/>
          <p:cNvSpPr txBox="1"/>
          <p:nvPr/>
        </p:nvSpPr>
        <p:spPr>
          <a:xfrm>
            <a:off x="777240" y="2331720"/>
            <a:ext cx="6263640" cy="2880360"/>
          </a:xfrm>
          <a:prstGeom prst="rect">
            <a:avLst/>
          </a:prstGeom>
          <a:noFill/>
        </p:spPr>
        <p:txBody>
          <a:bodyPr wrap="square" anchor="t" lIns="0" rIns="0" tIns="0" bIns="0">
            <a:noAutofit/>
          </a:bodyPr>
          <a:lstStyle/>
          <a:p>
            <a:pPr algn="l">
              <a:spcAft>
                <a:spcPts val="400"/>
              </a:spcAft>
            </a:pPr>
            <a:r>
              <a:rPr sz="1300" b="0" i="0">
                <a:solidFill>
                  <a:srgbClr val="203247"/>
                </a:solidFill>
                <a:latin typeface="Arial"/>
              </a:rPr>
              <a:t>• Open the cited source excerpts to confirm the interpretation before acting.</a:t>
            </a:r>
            <a:endParaRPr sz="1400" b="0" i="0">
              <a:latin typeface="Arial"/>
            </a:endParaRPr>
          </a:p>
          <a:p>
            <a:pPr algn="l">
              <a:spcAft>
                <a:spcPts val="400"/>
              </a:spcAft>
            </a:pPr>
            <a:r>
              <a:rPr sz="1300" b="0" i="0">
                <a:solidFill>
                  <a:srgbClr val="203247"/>
                </a:solidFill>
                <a:latin typeface="Arial"/>
              </a:rPr>
              <a:t>• Validate critical differences directly in the compared documents before consoli…</a:t>
            </a:r>
            <a:endParaRPr sz="1400" b="0" i="0">
              <a:latin typeface="Arial"/>
            </a:endParaRPr>
          </a:p>
        </p:txBody>
      </p:sp>
      <p:sp>
        <p:nvSpPr>
          <p:cNvPr id="4" name="Rounded Rectangle 3"/>
          <p:cNvSpPr/>
          <p:nvPr/>
        </p:nvSpPr>
        <p:spPr>
          <a:xfrm>
            <a:off x="7360919" y="960120"/>
            <a:ext cx="4023360" cy="4526280"/>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60919" y="960120"/>
            <a:ext cx="4023360" cy="73152"/>
          </a:xfrm>
          <a:prstGeom prst="rect">
            <a:avLst/>
          </a:prstGeom>
          <a:solidFill>
            <a:srgbClr val="B08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616951" y="1216152"/>
            <a:ext cx="3511296" cy="2130967"/>
          </a:xfrm>
          <a:prstGeom prst="rect">
            <a:avLst/>
          </a:prstGeom>
          <a:noFill/>
        </p:spPr>
        <p:txBody>
          <a:bodyPr wrap="square" anchor="t" lIns="0" rIns="0" tIns="0" bIns="0">
            <a:noAutofit/>
          </a:bodyPr>
          <a:lstStyle/>
          <a:p>
            <a:pPr algn="l">
              <a:spcAft>
                <a:spcPts val="0"/>
              </a:spcAft>
            </a:pPr>
            <a:r>
              <a:rPr sz="1300" b="0" i="0">
                <a:solidFill>
                  <a:srgbClr val="203247"/>
                </a:solidFill>
                <a:latin typeface="Arial"/>
              </a:rPr>
              <a:t>Open the cited source excerpts to confirm the interpretation before acting.</a:t>
            </a:r>
            <a:endParaRPr sz="1400" b="0" i="0">
              <a:latin typeface="Arial"/>
            </a:endParaRPr>
          </a:p>
        </p:txBody>
      </p:sp>
      <p:sp>
        <p:nvSpPr>
          <p:cNvPr id="7" name="TextBox 6"/>
          <p:cNvSpPr txBox="1"/>
          <p:nvPr/>
        </p:nvSpPr>
        <p:spPr>
          <a:xfrm>
            <a:off x="7616951" y="3438559"/>
            <a:ext cx="3511296" cy="1791808"/>
          </a:xfrm>
          <a:prstGeom prst="rect">
            <a:avLst/>
          </a:prstGeom>
          <a:noFill/>
        </p:spPr>
        <p:txBody>
          <a:bodyPr wrap="square" anchor="t" lIns="0" rIns="0" tIns="0" bIns="0">
            <a:noAutofit/>
          </a:bodyPr>
          <a:lstStyle/>
          <a:p>
            <a:pPr algn="l">
              <a:spcAft>
                <a:spcPts val="400"/>
              </a:spcAft>
            </a:pPr>
            <a:r>
              <a:rPr sz="1300" b="0" i="0">
                <a:solidFill>
                  <a:srgbClr val="14263F"/>
                </a:solidFill>
                <a:latin typeface="Arial"/>
              </a:rPr>
              <a:t>• Validate critical differences directly in the compared documents before consoli…</a:t>
            </a:r>
            <a:endParaRPr sz="1400" b="0" i="0">
              <a:latin typeface="Arial"/>
            </a:endParaRPr>
          </a:p>
        </p:txBody>
      </p:sp>
      <p:sp>
        <p:nvSpPr>
          <p:cNvPr id="8" name="TextBox 7"/>
          <p:cNvSpPr txBox="1"/>
          <p:nvPr/>
        </p:nvSpPr>
        <p:spPr>
          <a:xfrm>
            <a:off x="777240" y="6327648"/>
            <a:ext cx="5486400" cy="182880"/>
          </a:xfrm>
          <a:prstGeom prst="rect">
            <a:avLst/>
          </a:prstGeom>
          <a:noFill/>
        </p:spPr>
        <p:txBody>
          <a:bodyPr wrap="square" anchor="t" lIns="0" rIns="0" tIns="0" bIns="0">
            <a:spAutoFit/>
          </a:bodyPr>
          <a:lstStyle/>
          <a:p>
            <a:pPr algn="l"/>
            <a:r>
              <a:rPr sz="1000" b="0" i="0">
                <a:solidFill>
                  <a:srgbClr val="617287"/>
                </a:solidFill>
                <a:latin typeface="Arial"/>
              </a:rPr>
              <a:t>AI Workbench Local • Comparison Review  •  2026-04-18</a:t>
            </a:r>
          </a:p>
        </p:txBody>
      </p:sp>
      <p:sp>
        <p:nvSpPr>
          <p:cNvPr id="9" name="TextBox 8"/>
          <p:cNvSpPr txBox="1"/>
          <p:nvPr/>
        </p:nvSpPr>
        <p:spPr>
          <a:xfrm>
            <a:off x="9966960" y="6327648"/>
            <a:ext cx="1234440" cy="182880"/>
          </a:xfrm>
          <a:prstGeom prst="rect">
            <a:avLst/>
          </a:prstGeom>
          <a:noFill/>
        </p:spPr>
        <p:txBody>
          <a:bodyPr wrap="square" anchor="t" lIns="0" rIns="0" tIns="0" bIns="0">
            <a:spAutoFit/>
          </a:bodyPr>
          <a:lstStyle/>
          <a:p>
            <a:pPr algn="r"/>
            <a:r>
              <a:rPr sz="1000" b="0" i="0">
                <a:solidFill>
                  <a:srgbClr val="617287"/>
                </a:solidFill>
                <a:latin typeface="Arial"/>
              </a:rPr>
              <a:t>06 / 06</a:t>
            </a:r>
          </a:p>
        </p:txBody>
      </p:sp>
      <p:cxnSp>
        <p:nvCxnSpPr>
          <p:cNvPr id="10" name="Connector 9"/>
          <p:cNvCxnSpPr/>
          <p:nvPr/>
        </p:nvCxnSpPr>
        <p:spPr>
          <a:xfrm>
            <a:off x="777240" y="6272784"/>
            <a:ext cx="10607040" cy="0"/>
          </a:xfrm>
          <a:prstGeom prst="line">
            <a:avLst/>
          </a:prstGeom>
          <a:ln w="10160">
            <a:solidFill>
              <a:srgbClr val="D8DEE6"/>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