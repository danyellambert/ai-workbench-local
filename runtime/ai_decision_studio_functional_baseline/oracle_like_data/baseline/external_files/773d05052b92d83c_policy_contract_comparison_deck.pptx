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Export kind: policy_contract_comparison_deck. Deck family: comparison. Sources: structured_result, document_agent_comparison.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summary consolidated from the product's grounded signals.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Differences and impacts extracted from the document-comparison 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rPr sz="1100" b="0" i="0">
                <a:solidFill>
                  <a:srgbClr val="203247"/>
                </a:solidFill>
                <a:latin typeface="Arial"/>
              </a:rPr>
              <a:t>Executive decision framing for this slice.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Rectangle 1"/>
          <p:cNvSpPr/>
          <p:nvPr/>
        </p:nvSpPr>
        <p:spPr>
          <a:xfrm>
            <a:off x="777240" y="658368"/>
            <a:ext cx="91440" cy="1051560"/>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78992" y="896112"/>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COMPARISON REVIEW OF GROUNDED DOCUMENT DIFFERENCES</a:t>
            </a:r>
          </a:p>
        </p:txBody>
      </p:sp>
      <p:sp>
        <p:nvSpPr>
          <p:cNvPr id="4" name="TextBox 3"/>
          <p:cNvSpPr txBox="1"/>
          <p:nvPr/>
        </p:nvSpPr>
        <p:spPr>
          <a:xfrm>
            <a:off x="1078992" y="1143000"/>
            <a:ext cx="6126480" cy="1243584"/>
          </a:xfrm>
          <a:prstGeom prst="rect">
            <a:avLst/>
          </a:prstGeom>
          <a:noFill/>
        </p:spPr>
        <p:txBody>
          <a:bodyPr wrap="square" anchor="t" lIns="0" rIns="0" tIns="0" bIns="0">
            <a:noAutofit/>
          </a:bodyPr>
          <a:lstStyle/>
          <a:p>
            <a:pPr algn="l">
              <a:spcAft>
                <a:spcPts val="0"/>
              </a:spcAft>
            </a:pPr>
            <a:r>
              <a:rPr sz="3200" b="1" i="0">
                <a:solidFill>
                  <a:srgbClr val="14263F"/>
                </a:solidFill>
                <a:latin typeface="Arial"/>
              </a:rPr>
              <a:t>AI Workbench Local — Policy / Contract Comparison</a:t>
            </a:r>
            <a:endParaRPr sz="3200" b="1" i="0">
              <a:latin typeface="Arial"/>
            </a:endParaRPr>
          </a:p>
        </p:txBody>
      </p:sp>
      <p:sp>
        <p:nvSpPr>
          <p:cNvPr id="5" name="TextBox 4"/>
          <p:cNvSpPr txBox="1"/>
          <p:nvPr/>
        </p:nvSpPr>
        <p:spPr>
          <a:xfrm>
            <a:off x="1078992" y="2551176"/>
            <a:ext cx="5394960" cy="475488"/>
          </a:xfrm>
          <a:prstGeom prst="rect">
            <a:avLst/>
          </a:prstGeom>
          <a:noFill/>
        </p:spPr>
        <p:txBody>
          <a:bodyPr wrap="square" anchor="t" lIns="0" rIns="0" tIns="0" bIns="0">
            <a:noAutofit/>
          </a:bodyPr>
          <a:lstStyle/>
          <a:p>
            <a:pPr algn="l">
              <a:spcAft>
                <a:spcPts val="0"/>
              </a:spcAft>
            </a:pPr>
            <a:r>
              <a:rPr sz="1300" b="0" i="0">
                <a:solidFill>
                  <a:srgbClr val="617287"/>
                </a:solidFill>
                <a:latin typeface="Arial"/>
              </a:rPr>
              <a:t>Executive comparison review of grounded document differences</a:t>
            </a:r>
            <a:endParaRPr sz="1300" b="0" i="0">
              <a:latin typeface="Arial"/>
            </a:endParaRPr>
          </a:p>
        </p:txBody>
      </p:sp>
      <p:sp>
        <p:nvSpPr>
          <p:cNvPr id="6" name="Rounded Rectangle 5"/>
          <p:cNvSpPr/>
          <p:nvPr/>
        </p:nvSpPr>
        <p:spPr>
          <a:xfrm>
            <a:off x="8092440" y="960120"/>
            <a:ext cx="3291840" cy="425196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325880"/>
            <a:ext cx="2560320" cy="1926832"/>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Author</a:t>
            </a:r>
          </a:p>
          <a:p>
            <a:pPr algn="l">
              <a:spcAft>
                <a:spcPts val="0"/>
              </a:spcAft>
            </a:pPr>
            <a:r>
              <a:rPr sz="1400" b="0" i="0">
                <a:solidFill>
                  <a:srgbClr val="203247"/>
                </a:solidFill>
                <a:latin typeface="Arial"/>
              </a:rPr>
              <a:t>AI Workbench Local</a:t>
            </a:r>
          </a:p>
        </p:txBody>
      </p:sp>
      <p:sp>
        <p:nvSpPr>
          <p:cNvPr id="8" name="TextBox 7"/>
          <p:cNvSpPr txBox="1"/>
          <p:nvPr/>
        </p:nvSpPr>
        <p:spPr>
          <a:xfrm>
            <a:off x="8458200" y="3325864"/>
            <a:ext cx="2560320" cy="1520455"/>
          </a:xfrm>
          <a:prstGeom prst="rect">
            <a:avLst/>
          </a:prstGeom>
          <a:noFill/>
        </p:spPr>
        <p:txBody>
          <a:bodyPr wrap="square" anchor="t" lIns="0" rIns="0" tIns="0" bIns="0">
            <a:spAutoFit/>
          </a:bodyPr>
          <a:lstStyle/>
          <a:p>
            <a:pPr algn="l">
              <a:spcAft>
                <a:spcPts val="200"/>
              </a:spcAft>
            </a:pPr>
            <a:r>
              <a:rPr sz="1000" b="1" i="0">
                <a:solidFill>
                  <a:srgbClr val="617287"/>
                </a:solidFill>
                <a:latin typeface="Arial"/>
              </a:rPr>
              <a:t>Date</a:t>
            </a:r>
          </a:p>
          <a:p>
            <a:pPr algn="l">
              <a:spcAft>
                <a:spcPts val="0"/>
              </a:spcAft>
            </a:pPr>
            <a:r>
              <a:rPr sz="1400" b="0" i="0">
                <a:solidFill>
                  <a:srgbClr val="203247"/>
                </a:solidFill>
                <a:latin typeface="Arial"/>
              </a:rPr>
              <a:t>2026-04-16</a:t>
            </a:r>
          </a:p>
        </p:txBody>
      </p:sp>
      <p:sp>
        <p:nvSpPr>
          <p:cNvPr id="9" name="TextBox 8"/>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2026-04-16</a:t>
            </a:r>
          </a:p>
        </p:txBody>
      </p:sp>
      <p:sp>
        <p:nvSpPr>
          <p:cNvPr id="10" name="TextBox 9"/>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01 / 06</a:t>
            </a:r>
          </a:p>
        </p:txBody>
      </p:sp>
      <p:cxnSp>
        <p:nvCxnSpPr>
          <p:cNvPr id="11" name="Connector 10"/>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summary</a:t>
            </a:r>
            <a:endParaRPr sz="2800" b="1" i="0">
              <a:latin typeface="Arial"/>
            </a:endParaRPr>
          </a:p>
        </p:txBody>
      </p:sp>
      <p:sp>
        <p:nvSpPr>
          <p:cNvPr id="3" name="TextBox 2"/>
          <p:cNvSpPr txBox="1"/>
          <p:nvPr/>
        </p:nvSpPr>
        <p:spPr>
          <a:xfrm>
            <a:off x="777240" y="2048256"/>
            <a:ext cx="6447488" cy="1938528"/>
          </a:xfrm>
          <a:prstGeom prst="rect">
            <a:avLst/>
          </a:prstGeom>
          <a:noFill/>
        </p:spPr>
        <p:txBody>
          <a:bodyPr wrap="square" anchor="t" lIns="0" rIns="0" tIns="0" bIns="0">
            <a:noAutofit/>
          </a:bodyPr>
          <a:lstStyle/>
          <a:p>
            <a:pPr algn="l">
              <a:spcAft>
                <a:spcPts val="0"/>
              </a:spcAft>
            </a:pPr>
            <a:r>
              <a:rPr sz="800" b="0" i="0">
                <a:solidFill>
                  <a:srgbClr val="203247"/>
                </a:solidFill>
                <a:latin typeface="Arial"/>
              </a:rPr>
              <a:t>Meridian Holdings' Information Security Policy v3.2 represents a significant evolution from v3.1, addressing critical gaps in incident response timeliness and vendor oversight while introducing stronger preventive controls and extended log retention. The update shifts the organization from a reactive to a proactive security posture, directly improving regulatory compliance readiness—particularly under GDPR and CCPA—by mandating 24-hour incident notification for customer-data breaches and extending log retention to 12 months. However, these enhancements come with immediate operational demands, requiring IT and security teams to revalidate privileged access and close vendor evidence gaps within a 30-day transition window, creating a short-term workload burden.
- v3.2 mandates MFA for all workforce accounts, whereas v3.1 only established foundational MFA controls without universal enforcement.  
- v3.2 introduces quarterly privileged access revalidation and a 30-day transition requirement for managers to revalidate access, absent in v3.1.  
- v3.2 requires pre-onboarding and periodic reassessments for critical vendors, strengthening vendor risk management beyond v3.1’s annual evidence requirements.  
- v3.2 tightens incident escalation to 24 hours for customer-data breaches, resolving v3.1’s critical gap in undefined notification timelines.  
- v3.2 extends log retention to 12 months in tamper-evident storage, up from v3.1’s 180-day baseline, enhancing forensic and audit readiness.  
- The 30-day transition period in v3.2 creates urgent operational workload for IT and security teams, a temporary but significant implementation burden not present in v3.1.  
Recommendation: Prioritize execution of the 30-day transition tasks to revalidate privileged access and remediate vendor documentation, as this enables immediate realization of v3.2’s improved compliance and risk reduction benefits; monitor team capacity during this window to avoid burnout or oversight.</a:t>
            </a:r>
            <a:endParaRPr sz="800" b="0" i="0">
              <a:latin typeface="Arial"/>
            </a:endParaRPr>
          </a:p>
        </p:txBody>
      </p:sp>
      <p:sp>
        <p:nvSpPr>
          <p:cNvPr id="4" name="Rounded Rectangle 3"/>
          <p:cNvSpPr/>
          <p:nvPr/>
        </p:nvSpPr>
        <p:spPr>
          <a:xfrm>
            <a:off x="7517336" y="1865376"/>
            <a:ext cx="3866943" cy="31272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517336" y="1865376"/>
            <a:ext cx="38669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736792" y="2084832"/>
            <a:ext cx="3428031" cy="256032"/>
          </a:xfrm>
          <a:prstGeom prst="rect">
            <a:avLst/>
          </a:prstGeom>
          <a:noFill/>
        </p:spPr>
        <p:txBody>
          <a:bodyPr wrap="square" anchor="t" lIns="0" rIns="0" tIns="0" bIns="0">
            <a:spAutoFit/>
          </a:bodyPr>
          <a:lstStyle/>
          <a:p/>
        </p:txBody>
      </p:sp>
      <p:sp>
        <p:nvSpPr>
          <p:cNvPr id="7" name="TextBox 6"/>
          <p:cNvSpPr txBox="1"/>
          <p:nvPr/>
        </p:nvSpPr>
        <p:spPr>
          <a:xfrm>
            <a:off x="7736792" y="2414016"/>
            <a:ext cx="3428031" cy="2359152"/>
          </a:xfrm>
          <a:prstGeom prst="rect">
            <a:avLst/>
          </a:prstGeom>
          <a:noFill/>
        </p:spPr>
        <p:txBody>
          <a:bodyPr wrap="square" anchor="t" lIns="0" rIns="0" tIns="0" bIns="0">
            <a:noAutofit/>
          </a:bodyPr>
          <a:lstStyle/>
          <a:p>
            <a:pPr algn="l">
              <a:lnSpc>
                <a:spcPct val="100000"/>
              </a:lnSpc>
              <a:spcAft>
                <a:spcPts val="300"/>
              </a:spcAft>
            </a:pPr>
            <a:r>
              <a:rPr sz="900" b="0" i="0">
                <a:solidFill>
                  <a:srgbClr val="203247"/>
                </a:solidFill>
                <a:latin typeface="Arial"/>
              </a:rPr>
              <a:t>• Meridian Holdings' Information Security Policy v3.2 represents a significan…</a:t>
            </a:r>
            <a:endParaRPr sz="1000" b="0" i="0">
              <a:latin typeface="Arial"/>
            </a:endParaRPr>
          </a:p>
          <a:p>
            <a:pPr algn="l">
              <a:lnSpc>
                <a:spcPct val="100000"/>
              </a:lnSpc>
              <a:spcAft>
                <a:spcPts val="300"/>
              </a:spcAft>
            </a:pPr>
            <a:r>
              <a:rPr sz="900" b="0" i="0">
                <a:solidFill>
                  <a:srgbClr val="203247"/>
                </a:solidFill>
                <a:latin typeface="Arial"/>
              </a:rPr>
              <a:t>• v3.2 mandates MFA for all workforce accounts, whereas v3.1 only established…</a:t>
            </a:r>
            <a:endParaRPr sz="1000" b="0" i="0">
              <a:latin typeface="Arial"/>
            </a:endParaRPr>
          </a:p>
          <a:p>
            <a:pPr algn="l">
              <a:lnSpc>
                <a:spcPct val="100000"/>
              </a:lnSpc>
              <a:spcAft>
                <a:spcPts val="300"/>
              </a:spcAft>
            </a:pPr>
            <a:r>
              <a:rPr sz="900" b="0" i="0">
                <a:solidFill>
                  <a:srgbClr val="203247"/>
                </a:solidFill>
                <a:latin typeface="Arial"/>
              </a:rPr>
              <a:t>• v3.2 introduces quarterly privileged access revalidation and a 30-day trans…</a:t>
            </a:r>
            <a:endParaRPr sz="10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2026-04-16</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02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KEY METRICS</a:t>
            </a:r>
          </a:p>
        </p:txBody>
      </p:sp>
      <p:sp>
        <p:nvSpPr>
          <p:cNvPr id="3" name="TextBox 2"/>
          <p:cNvSpPr txBox="1"/>
          <p:nvPr/>
        </p:nvSpPr>
        <p:spPr>
          <a:xfrm>
            <a:off x="777240" y="932688"/>
            <a:ext cx="681228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Executive snapshot</a:t>
            </a:r>
            <a:endParaRPr sz="2800" b="1" i="0">
              <a:latin typeface="Arial"/>
            </a:endParaRPr>
          </a:p>
        </p:txBody>
      </p:sp>
      <p:sp>
        <p:nvSpPr>
          <p:cNvPr id="4" name="Rounded Rectangle 3"/>
          <p:cNvSpPr/>
          <p:nvPr/>
        </p:nvSpPr>
        <p:spPr>
          <a:xfrm>
            <a:off x="777240"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212848"/>
            <a:ext cx="2509160"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9669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2</a:t>
            </a:r>
            <a:endParaRPr sz="2400" b="1" i="0">
              <a:latin typeface="Arial"/>
            </a:endParaRPr>
          </a:p>
        </p:txBody>
      </p:sp>
      <p:sp>
        <p:nvSpPr>
          <p:cNvPr id="7" name="TextBox 6"/>
          <p:cNvSpPr txBox="1"/>
          <p:nvPr/>
        </p:nvSpPr>
        <p:spPr>
          <a:xfrm>
            <a:off x="99669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Compared docs</a:t>
            </a:r>
            <a:endParaRPr sz="1200" b="1" i="0">
              <a:latin typeface="Arial"/>
            </a:endParaRPr>
          </a:p>
        </p:txBody>
      </p:sp>
      <p:sp>
        <p:nvSpPr>
          <p:cNvPr id="8" name="Rounded Rectangle 7"/>
          <p:cNvSpPr/>
          <p:nvPr/>
        </p:nvSpPr>
        <p:spPr>
          <a:xfrm>
            <a:off x="3524144"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524144" y="2212848"/>
            <a:ext cx="2437743"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743600"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8</a:t>
            </a:r>
            <a:endParaRPr sz="2400" b="1" i="0">
              <a:latin typeface="Arial"/>
            </a:endParaRPr>
          </a:p>
        </p:txBody>
      </p:sp>
      <p:sp>
        <p:nvSpPr>
          <p:cNvPr id="11" name="TextBox 10"/>
          <p:cNvSpPr txBox="1"/>
          <p:nvPr/>
        </p:nvSpPr>
        <p:spPr>
          <a:xfrm>
            <a:off x="3743600"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Findings</a:t>
            </a:r>
            <a:endParaRPr sz="1200" b="1" i="0">
              <a:latin typeface="Arial"/>
            </a:endParaRPr>
          </a:p>
        </p:txBody>
      </p:sp>
      <p:sp>
        <p:nvSpPr>
          <p:cNvPr id="12" name="Rounded Rectangle 11"/>
          <p:cNvSpPr/>
          <p:nvPr/>
        </p:nvSpPr>
        <p:spPr>
          <a:xfrm>
            <a:off x="6199632" y="2212848"/>
            <a:ext cx="2437743"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199632" y="2212848"/>
            <a:ext cx="2437743" cy="73152"/>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19088" y="2432304"/>
            <a:ext cx="1998831"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4</a:t>
            </a:r>
            <a:endParaRPr sz="2400" b="1" i="0">
              <a:latin typeface="Arial"/>
            </a:endParaRPr>
          </a:p>
        </p:txBody>
      </p:sp>
      <p:sp>
        <p:nvSpPr>
          <p:cNvPr id="15" name="TextBox 14"/>
          <p:cNvSpPr txBox="1"/>
          <p:nvPr/>
        </p:nvSpPr>
        <p:spPr>
          <a:xfrm>
            <a:off x="6419088" y="3017520"/>
            <a:ext cx="1998831"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Sources</a:t>
            </a:r>
            <a:endParaRPr sz="1200" b="1" i="0">
              <a:latin typeface="Arial"/>
            </a:endParaRPr>
          </a:p>
        </p:txBody>
      </p:sp>
      <p:sp>
        <p:nvSpPr>
          <p:cNvPr id="16" name="Rounded Rectangle 15"/>
          <p:cNvSpPr/>
          <p:nvPr/>
        </p:nvSpPr>
        <p:spPr>
          <a:xfrm>
            <a:off x="8875119" y="2212848"/>
            <a:ext cx="2509160" cy="2670048"/>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875119" y="2212848"/>
            <a:ext cx="25091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094575" y="2432304"/>
            <a:ext cx="2070248" cy="512064"/>
          </a:xfrm>
          <a:prstGeom prst="rect">
            <a:avLst/>
          </a:prstGeom>
          <a:noFill/>
        </p:spPr>
        <p:txBody>
          <a:bodyPr wrap="square" anchor="t" lIns="0" rIns="0" tIns="0" bIns="0">
            <a:noAutofit/>
          </a:bodyPr>
          <a:lstStyle/>
          <a:p>
            <a:pPr algn="l">
              <a:spcAft>
                <a:spcPts val="0"/>
              </a:spcAft>
            </a:pPr>
            <a:r>
              <a:rPr sz="2400" b="1" i="0">
                <a:solidFill>
                  <a:srgbClr val="14263F"/>
                </a:solidFill>
                <a:latin typeface="Arial"/>
              </a:rPr>
              <a:t>No</a:t>
            </a:r>
            <a:endParaRPr sz="2400" b="1" i="0">
              <a:latin typeface="Arial"/>
            </a:endParaRPr>
          </a:p>
        </p:txBody>
      </p:sp>
      <p:sp>
        <p:nvSpPr>
          <p:cNvPr id="19" name="TextBox 18"/>
          <p:cNvSpPr txBox="1"/>
          <p:nvPr/>
        </p:nvSpPr>
        <p:spPr>
          <a:xfrm>
            <a:off x="9094575" y="3017520"/>
            <a:ext cx="2070248" cy="512064"/>
          </a:xfrm>
          <a:prstGeom prst="rect">
            <a:avLst/>
          </a:prstGeom>
          <a:noFill/>
        </p:spPr>
        <p:txBody>
          <a:bodyPr wrap="square" anchor="t" lIns="0" rIns="0" tIns="0" bIns="0">
            <a:noAutofit/>
          </a:bodyPr>
          <a:lstStyle/>
          <a:p>
            <a:pPr algn="l">
              <a:spcAft>
                <a:spcPts val="0"/>
              </a:spcAft>
            </a:pPr>
            <a:r>
              <a:rPr sz="1200" b="1" i="0">
                <a:solidFill>
                  <a:srgbClr val="203247"/>
                </a:solidFill>
                <a:latin typeface="Arial"/>
              </a:rPr>
              <a:t>Needs review</a:t>
            </a:r>
            <a:endParaRPr sz="1200" b="1" i="0">
              <a:latin typeface="Arial"/>
            </a:endParaRPr>
          </a:p>
        </p:txBody>
      </p:sp>
      <p:sp>
        <p:nvSpPr>
          <p:cNvPr id="20" name="TextBox 19"/>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2026-04-16</a:t>
            </a:r>
          </a:p>
        </p:txBody>
      </p:sp>
      <p:sp>
        <p:nvSpPr>
          <p:cNvPr id="21" name="TextBox 20"/>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03 / 06</a:t>
            </a:r>
          </a:p>
        </p:txBody>
      </p:sp>
      <p:cxnSp>
        <p:nvCxnSpPr>
          <p:cNvPr id="22" name="Connector 21"/>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TABLE</a:t>
            </a:r>
          </a:p>
        </p:txBody>
      </p:sp>
      <p:sp>
        <p:nvSpPr>
          <p:cNvPr id="3" name="TextBox 2"/>
          <p:cNvSpPr txBox="1"/>
          <p:nvPr/>
        </p:nvSpPr>
        <p:spPr>
          <a:xfrm>
            <a:off x="777240" y="932688"/>
            <a:ext cx="7498079"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Comparison findings</a:t>
            </a:r>
            <a:endParaRPr sz="2800" b="1" i="0">
              <a:latin typeface="Arial"/>
            </a:endParaRPr>
          </a:p>
        </p:txBody>
      </p:sp>
      <p:sp>
        <p:nvSpPr>
          <p:cNvPr id="4" name="Rounded Rectangle 3"/>
          <p:cNvSpPr/>
          <p:nvPr/>
        </p:nvSpPr>
        <p:spPr>
          <a:xfrm>
            <a:off x="777240" y="1920240"/>
            <a:ext cx="2352634"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41247" y="1984248"/>
            <a:ext cx="2224618"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Type</a:t>
            </a:r>
            <a:endParaRPr sz="1100" b="1" i="0">
              <a:latin typeface="Arial"/>
            </a:endParaRPr>
          </a:p>
        </p:txBody>
      </p:sp>
      <p:sp>
        <p:nvSpPr>
          <p:cNvPr id="6" name="Rounded Rectangle 5"/>
          <p:cNvSpPr/>
          <p:nvPr/>
        </p:nvSpPr>
        <p:spPr>
          <a:xfrm>
            <a:off x="3175594"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239602"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Finding</a:t>
            </a:r>
            <a:endParaRPr sz="1100" b="1" i="0">
              <a:latin typeface="Arial"/>
            </a:endParaRPr>
          </a:p>
        </p:txBody>
      </p:sp>
      <p:sp>
        <p:nvSpPr>
          <p:cNvPr id="8" name="Rounded Rectangle 7"/>
          <p:cNvSpPr/>
          <p:nvPr/>
        </p:nvSpPr>
        <p:spPr>
          <a:xfrm>
            <a:off x="5927063"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91071"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Documents</a:t>
            </a:r>
            <a:endParaRPr sz="1100" b="1" i="0">
              <a:latin typeface="Arial"/>
            </a:endParaRPr>
          </a:p>
        </p:txBody>
      </p:sp>
      <p:sp>
        <p:nvSpPr>
          <p:cNvPr id="10" name="Rounded Rectangle 9"/>
          <p:cNvSpPr/>
          <p:nvPr/>
        </p:nvSpPr>
        <p:spPr>
          <a:xfrm>
            <a:off x="8678531" y="1920240"/>
            <a:ext cx="2705748" cy="457200"/>
          </a:xfrm>
          <a:prstGeom prst="roundRect">
            <a:avLst/>
          </a:prstGeom>
          <a:solidFill>
            <a:srgbClr val="EEF1F4"/>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742539" y="1984248"/>
            <a:ext cx="2577732" cy="329184"/>
          </a:xfrm>
          <a:prstGeom prst="rect">
            <a:avLst/>
          </a:prstGeom>
          <a:noFill/>
        </p:spPr>
        <p:txBody>
          <a:bodyPr wrap="square" anchor="t" lIns="0" rIns="0" tIns="0" bIns="0">
            <a:noAutofit/>
          </a:bodyPr>
          <a:lstStyle/>
          <a:p>
            <a:pPr algn="ctr">
              <a:spcAft>
                <a:spcPts val="0"/>
              </a:spcAft>
            </a:pPr>
            <a:r>
              <a:rPr sz="1100" b="1" i="0">
                <a:solidFill>
                  <a:srgbClr val="14263F"/>
                </a:solidFill>
                <a:latin typeface="Arial"/>
              </a:rPr>
              <a:t>Evidence</a:t>
            </a:r>
            <a:endParaRPr sz="1100" b="1" i="0">
              <a:latin typeface="Arial"/>
            </a:endParaRPr>
          </a:p>
        </p:txBody>
      </p:sp>
      <p:sp>
        <p:nvSpPr>
          <p:cNvPr id="12" name="Rounded Rectangle 11"/>
          <p:cNvSpPr/>
          <p:nvPr/>
        </p:nvSpPr>
        <p:spPr>
          <a:xfrm>
            <a:off x="777240" y="245059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7" y="251460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14" name="Rounded Rectangle 13"/>
          <p:cNvSpPr/>
          <p:nvPr/>
        </p:nvSpPr>
        <p:spPr>
          <a:xfrm>
            <a:off x="3175594"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239602"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Information Security Policy v3.1.pdf (pdf)</a:t>
            </a:r>
            <a:endParaRPr sz="1000" b="0" i="0">
              <a:latin typeface="Arial"/>
            </a:endParaRPr>
          </a:p>
        </p:txBody>
      </p:sp>
      <p:sp>
        <p:nvSpPr>
          <p:cNvPr id="16" name="Rounded Rectangle 15"/>
          <p:cNvSpPr/>
          <p:nvPr/>
        </p:nvSpPr>
        <p:spPr>
          <a:xfrm>
            <a:off x="5927063"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991071" y="251460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Information Security Policy v3.1.pdf (pdf)</a:t>
            </a:r>
            <a:endParaRPr sz="1000" b="0" i="0">
              <a:latin typeface="Arial"/>
            </a:endParaRPr>
          </a:p>
        </p:txBody>
      </p:sp>
      <p:sp>
        <p:nvSpPr>
          <p:cNvPr id="18" name="Rounded Rectangle 17"/>
          <p:cNvSpPr/>
          <p:nvPr/>
        </p:nvSpPr>
        <p:spPr>
          <a:xfrm>
            <a:off x="8678531" y="245059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42539" y="251460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The policy enforces strong preventive controls (MFA, approval workflows) but lacks prescriptive timing for incident res…</a:t>
            </a:r>
            <a:endParaRPr sz="700" b="0" i="0">
              <a:latin typeface="Arial"/>
            </a:endParaRPr>
          </a:p>
        </p:txBody>
      </p:sp>
      <p:sp>
        <p:nvSpPr>
          <p:cNvPr id="20" name="Rounded Rectangle 19"/>
          <p:cNvSpPr/>
          <p:nvPr/>
        </p:nvSpPr>
        <p:spPr>
          <a:xfrm>
            <a:off x="777240" y="291007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7" y="2974086"/>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document_summary</a:t>
            </a:r>
            <a:endParaRPr sz="1000" b="0" i="0">
              <a:latin typeface="Arial"/>
            </a:endParaRPr>
          </a:p>
        </p:txBody>
      </p:sp>
      <p:sp>
        <p:nvSpPr>
          <p:cNvPr id="22" name="Rounded Rectangle 21"/>
          <p:cNvSpPr/>
          <p:nvPr/>
        </p:nvSpPr>
        <p:spPr>
          <a:xfrm>
            <a:off x="3175594"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3239602"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Summary of Information Security Policy v3.2.pdf (pdf)</a:t>
            </a:r>
            <a:endParaRPr sz="1000" b="0" i="0">
              <a:latin typeface="Arial"/>
            </a:endParaRPr>
          </a:p>
        </p:txBody>
      </p:sp>
      <p:sp>
        <p:nvSpPr>
          <p:cNvPr id="24" name="Rounded Rectangle 23"/>
          <p:cNvSpPr/>
          <p:nvPr/>
        </p:nvSpPr>
        <p:spPr>
          <a:xfrm>
            <a:off x="5927063"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991071" y="297408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Information Security Policy v3.2.pdf (pdf)</a:t>
            </a:r>
            <a:endParaRPr sz="1000" b="0" i="0">
              <a:latin typeface="Arial"/>
            </a:endParaRPr>
          </a:p>
        </p:txBody>
      </p:sp>
      <p:sp>
        <p:nvSpPr>
          <p:cNvPr id="26" name="Rounded Rectangle 25"/>
          <p:cNvSpPr/>
          <p:nvPr/>
        </p:nvSpPr>
        <p:spPr>
          <a:xfrm>
            <a:off x="8678531" y="291007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42539" y="297408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The policy shifts from reactive to proactive security controls, emphasizing prevention through stricter access validati…</a:t>
            </a:r>
            <a:endParaRPr sz="700" b="0" i="0">
              <a:latin typeface="Arial"/>
            </a:endParaRPr>
          </a:p>
        </p:txBody>
      </p:sp>
      <p:sp>
        <p:nvSpPr>
          <p:cNvPr id="28" name="Rounded Rectangle 27"/>
          <p:cNvSpPr/>
          <p:nvPr/>
        </p:nvSpPr>
        <p:spPr>
          <a:xfrm>
            <a:off x="777240" y="336956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41247" y="3433572"/>
            <a:ext cx="2224618"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incident_response_delta</a:t>
            </a:r>
            <a:endParaRPr sz="1000" b="0" i="0">
              <a:latin typeface="Arial"/>
            </a:endParaRPr>
          </a:p>
        </p:txBody>
      </p:sp>
      <p:sp>
        <p:nvSpPr>
          <p:cNvPr id="30" name="Rounded Rectangle 29"/>
          <p:cNvSpPr/>
          <p:nvPr/>
        </p:nvSpPr>
        <p:spPr>
          <a:xfrm>
            <a:off x="3175594"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239602"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Meridian Holdings' Information Security Policy v3.2 represents a…</a:t>
            </a:r>
            <a:endParaRPr sz="1000" b="0" i="0">
              <a:latin typeface="Arial"/>
            </a:endParaRPr>
          </a:p>
        </p:txBody>
      </p:sp>
      <p:sp>
        <p:nvSpPr>
          <p:cNvPr id="32" name="Rounded Rectangle 31"/>
          <p:cNvSpPr/>
          <p:nvPr/>
        </p:nvSpPr>
        <p:spPr>
          <a:xfrm>
            <a:off x="5927063"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91071" y="343357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Information Security Policy v3.1.pdf (pdf), Information Security Policy v3.2.pdf (pdf)</a:t>
            </a:r>
            <a:endParaRPr sz="1000" b="0" i="0">
              <a:latin typeface="Arial"/>
            </a:endParaRPr>
          </a:p>
        </p:txBody>
      </p:sp>
      <p:sp>
        <p:nvSpPr>
          <p:cNvPr id="34" name="Rounded Rectangle 33"/>
          <p:cNvSpPr/>
          <p:nvPr/>
        </p:nvSpPr>
        <p:spPr>
          <a:xfrm>
            <a:off x="8678531" y="336956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742539" y="343357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Information Security Policy v3.1.pdf (pdf): Meridian Holdings' Information Security Policy v3.1 establishes foundationa…</a:t>
            </a:r>
            <a:endParaRPr sz="700" b="0" i="0">
              <a:latin typeface="Arial"/>
            </a:endParaRPr>
          </a:p>
        </p:txBody>
      </p:sp>
      <p:sp>
        <p:nvSpPr>
          <p:cNvPr id="36" name="Rounded Rectangle 35"/>
          <p:cNvSpPr/>
          <p:nvPr/>
        </p:nvSpPr>
        <p:spPr>
          <a:xfrm>
            <a:off x="777240" y="3829050"/>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41247" y="3893058"/>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identity_control_delta</a:t>
            </a:r>
            <a:endParaRPr sz="1000" b="0" i="0">
              <a:latin typeface="Arial"/>
            </a:endParaRPr>
          </a:p>
        </p:txBody>
      </p:sp>
      <p:sp>
        <p:nvSpPr>
          <p:cNvPr id="38" name="Rounded Rectangle 37"/>
          <p:cNvSpPr/>
          <p:nvPr/>
        </p:nvSpPr>
        <p:spPr>
          <a:xfrm>
            <a:off x="3175594"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239602"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v3.2 mandates MFA for all workforce accounts, whereas…</a:t>
            </a:r>
            <a:endParaRPr sz="1000" b="0" i="0">
              <a:latin typeface="Arial"/>
            </a:endParaRPr>
          </a:p>
        </p:txBody>
      </p:sp>
      <p:sp>
        <p:nvSpPr>
          <p:cNvPr id="40" name="Rounded Rectangle 39"/>
          <p:cNvSpPr/>
          <p:nvPr/>
        </p:nvSpPr>
        <p:spPr>
          <a:xfrm>
            <a:off x="5927063"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991071" y="3893058"/>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Information Security Policy v3.1.pdf (pdf), Information Security Policy v3.2.pdf (pdf)</a:t>
            </a:r>
            <a:endParaRPr sz="1000" b="0" i="0">
              <a:latin typeface="Arial"/>
            </a:endParaRPr>
          </a:p>
        </p:txBody>
      </p:sp>
      <p:sp>
        <p:nvSpPr>
          <p:cNvPr id="42" name="Rounded Rectangle 41"/>
          <p:cNvSpPr/>
          <p:nvPr/>
        </p:nvSpPr>
        <p:spPr>
          <a:xfrm>
            <a:off x="8678531" y="3829050"/>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8742539" y="3893058"/>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Information Security Policy v3.1.pdf (pdf): Meridian Holdings' Information Security Policy v3.1 establishes foundationa…</a:t>
            </a:r>
            <a:endParaRPr sz="700" b="0" i="0">
              <a:latin typeface="Arial"/>
            </a:endParaRPr>
          </a:p>
        </p:txBody>
      </p:sp>
      <p:sp>
        <p:nvSpPr>
          <p:cNvPr id="44" name="Rounded Rectangle 43"/>
          <p:cNvSpPr/>
          <p:nvPr/>
        </p:nvSpPr>
        <p:spPr>
          <a:xfrm>
            <a:off x="777240" y="4288536"/>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841247" y="4352544"/>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approval_change</a:t>
            </a:r>
            <a:endParaRPr sz="1000" b="0" i="0">
              <a:latin typeface="Arial"/>
            </a:endParaRPr>
          </a:p>
        </p:txBody>
      </p:sp>
      <p:sp>
        <p:nvSpPr>
          <p:cNvPr id="46" name="Rounded Rectangle 45"/>
          <p:cNvSpPr/>
          <p:nvPr/>
        </p:nvSpPr>
        <p:spPr>
          <a:xfrm>
            <a:off x="3175594"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239602"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v3.2 introduces quarterly privileged access revalidation and a…</a:t>
            </a:r>
            <a:endParaRPr sz="1000" b="0" i="0">
              <a:latin typeface="Arial"/>
            </a:endParaRPr>
          </a:p>
        </p:txBody>
      </p:sp>
      <p:sp>
        <p:nvSpPr>
          <p:cNvPr id="48" name="Rounded Rectangle 47"/>
          <p:cNvSpPr/>
          <p:nvPr/>
        </p:nvSpPr>
        <p:spPr>
          <a:xfrm>
            <a:off x="5927063"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991071" y="4352544"/>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Information Security Policy v3.1.pdf (pdf), Information Security Policy v3.2.pdf (pdf)</a:t>
            </a:r>
            <a:endParaRPr sz="1000" b="0" i="0">
              <a:latin typeface="Arial"/>
            </a:endParaRPr>
          </a:p>
        </p:txBody>
      </p:sp>
      <p:sp>
        <p:nvSpPr>
          <p:cNvPr id="50" name="Rounded Rectangle 49"/>
          <p:cNvSpPr/>
          <p:nvPr/>
        </p:nvSpPr>
        <p:spPr>
          <a:xfrm>
            <a:off x="8678531" y="4288536"/>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8742539" y="4352544"/>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Information Security Policy v3.1.pdf (pdf): Meridian Holdings' Information Security Policy v3.1 establishes foundationa…</a:t>
            </a:r>
            <a:endParaRPr sz="700" b="0" i="0">
              <a:latin typeface="Arial"/>
            </a:endParaRPr>
          </a:p>
        </p:txBody>
      </p:sp>
      <p:sp>
        <p:nvSpPr>
          <p:cNvPr id="52" name="Rounded Rectangle 51"/>
          <p:cNvSpPr/>
          <p:nvPr/>
        </p:nvSpPr>
        <p:spPr>
          <a:xfrm>
            <a:off x="777240" y="4748022"/>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41247" y="4812030"/>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vendor_oversight_delta</a:t>
            </a:r>
            <a:endParaRPr sz="1000" b="0" i="0">
              <a:latin typeface="Arial"/>
            </a:endParaRPr>
          </a:p>
        </p:txBody>
      </p:sp>
      <p:sp>
        <p:nvSpPr>
          <p:cNvPr id="54" name="Rounded Rectangle 53"/>
          <p:cNvSpPr/>
          <p:nvPr/>
        </p:nvSpPr>
        <p:spPr>
          <a:xfrm>
            <a:off x="3175594"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239602"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v3.2 requires pre-onboarding and periodic reassessments for critical…</a:t>
            </a:r>
            <a:endParaRPr sz="1000" b="0" i="0">
              <a:latin typeface="Arial"/>
            </a:endParaRPr>
          </a:p>
        </p:txBody>
      </p:sp>
      <p:sp>
        <p:nvSpPr>
          <p:cNvPr id="56" name="Rounded Rectangle 55"/>
          <p:cNvSpPr/>
          <p:nvPr/>
        </p:nvSpPr>
        <p:spPr>
          <a:xfrm>
            <a:off x="5927063"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5991071" y="4812030"/>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Information Security Policy v3.1.pdf (pdf), Information Security Policy v3.2.pdf (pdf)</a:t>
            </a:r>
            <a:endParaRPr sz="1000" b="0" i="0">
              <a:latin typeface="Arial"/>
            </a:endParaRPr>
          </a:p>
        </p:txBody>
      </p:sp>
      <p:sp>
        <p:nvSpPr>
          <p:cNvPr id="58" name="Rounded Rectangle 57"/>
          <p:cNvSpPr/>
          <p:nvPr/>
        </p:nvSpPr>
        <p:spPr>
          <a:xfrm>
            <a:off x="8678531" y="4748022"/>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8742539" y="4812030"/>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Information Security Policy v3.1.pdf (pdf): Annual vendor evidence requirements and 180-day log retention align with in…</a:t>
            </a:r>
            <a:endParaRPr sz="700" b="0" i="0">
              <a:latin typeface="Arial"/>
            </a:endParaRPr>
          </a:p>
        </p:txBody>
      </p:sp>
      <p:sp>
        <p:nvSpPr>
          <p:cNvPr id="60" name="Rounded Rectangle 59"/>
          <p:cNvSpPr/>
          <p:nvPr/>
        </p:nvSpPr>
        <p:spPr>
          <a:xfrm>
            <a:off x="777240" y="5207508"/>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841247" y="5271516"/>
            <a:ext cx="2224618"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incident_response_delta</a:t>
            </a:r>
            <a:endParaRPr sz="1000" b="0" i="0">
              <a:latin typeface="Arial"/>
            </a:endParaRPr>
          </a:p>
        </p:txBody>
      </p:sp>
      <p:sp>
        <p:nvSpPr>
          <p:cNvPr id="62" name="Rounded Rectangle 61"/>
          <p:cNvSpPr/>
          <p:nvPr/>
        </p:nvSpPr>
        <p:spPr>
          <a:xfrm>
            <a:off x="3175594"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239602"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v3.2 tightens incident escalation to 24 hours for…</a:t>
            </a:r>
            <a:endParaRPr sz="1000" b="0" i="0">
              <a:latin typeface="Arial"/>
            </a:endParaRPr>
          </a:p>
        </p:txBody>
      </p:sp>
      <p:sp>
        <p:nvSpPr>
          <p:cNvPr id="64" name="Rounded Rectangle 63"/>
          <p:cNvSpPr/>
          <p:nvPr/>
        </p:nvSpPr>
        <p:spPr>
          <a:xfrm>
            <a:off x="5927063"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991071" y="5271516"/>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Information Security Policy v3.1.pdf (pdf), Information Security Policy v3.2.pdf (pdf)</a:t>
            </a:r>
            <a:endParaRPr sz="1000" b="0" i="0">
              <a:latin typeface="Arial"/>
            </a:endParaRPr>
          </a:p>
        </p:txBody>
      </p:sp>
      <p:sp>
        <p:nvSpPr>
          <p:cNvPr id="66" name="Rounded Rectangle 65"/>
          <p:cNvSpPr/>
          <p:nvPr/>
        </p:nvSpPr>
        <p:spPr>
          <a:xfrm>
            <a:off x="8678531" y="5207508"/>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742539" y="5271516"/>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Information Security Policy v3.1.pdf (pdf): Meridian Holdings' Information Security Policy v3.1 establishes foundationa…</a:t>
            </a:r>
            <a:endParaRPr sz="700" b="0" i="0">
              <a:latin typeface="Arial"/>
            </a:endParaRPr>
          </a:p>
        </p:txBody>
      </p:sp>
      <p:sp>
        <p:nvSpPr>
          <p:cNvPr id="68" name="Rounded Rectangle 67"/>
          <p:cNvSpPr/>
          <p:nvPr/>
        </p:nvSpPr>
        <p:spPr>
          <a:xfrm>
            <a:off x="777240" y="5666994"/>
            <a:ext cx="2352634"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41247" y="5731002"/>
            <a:ext cx="2224618" cy="276606"/>
          </a:xfrm>
          <a:prstGeom prst="rect">
            <a:avLst/>
          </a:prstGeom>
          <a:noFill/>
        </p:spPr>
        <p:txBody>
          <a:bodyPr wrap="square" anchor="t" lIns="0" rIns="0" tIns="0" bIns="0">
            <a:noAutofit/>
          </a:bodyPr>
          <a:lstStyle/>
          <a:p>
            <a:pPr algn="l">
              <a:spcAft>
                <a:spcPts val="0"/>
              </a:spcAft>
            </a:pPr>
            <a:r>
              <a:rPr sz="1000" b="0" i="0">
                <a:solidFill>
                  <a:srgbClr val="203247"/>
                </a:solidFill>
                <a:latin typeface="Arial"/>
              </a:rPr>
              <a:t>retention_delta</a:t>
            </a:r>
            <a:endParaRPr sz="1000" b="0" i="0">
              <a:latin typeface="Arial"/>
            </a:endParaRPr>
          </a:p>
        </p:txBody>
      </p:sp>
      <p:sp>
        <p:nvSpPr>
          <p:cNvPr id="70" name="Rounded Rectangle 69"/>
          <p:cNvSpPr/>
          <p:nvPr/>
        </p:nvSpPr>
        <p:spPr>
          <a:xfrm>
            <a:off x="3175594"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239602"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v3.2 extends log retention to 12 months in…</a:t>
            </a:r>
            <a:endParaRPr sz="1000" b="0" i="0">
              <a:latin typeface="Arial"/>
            </a:endParaRPr>
          </a:p>
        </p:txBody>
      </p:sp>
      <p:sp>
        <p:nvSpPr>
          <p:cNvPr id="72" name="Rounded Rectangle 71"/>
          <p:cNvSpPr/>
          <p:nvPr/>
        </p:nvSpPr>
        <p:spPr>
          <a:xfrm>
            <a:off x="5927063"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991071" y="5731002"/>
            <a:ext cx="2577732" cy="276606"/>
          </a:xfrm>
          <a:prstGeom prst="rect">
            <a:avLst/>
          </a:prstGeom>
          <a:noFill/>
        </p:spPr>
        <p:txBody>
          <a:bodyPr wrap="square" anchor="t" lIns="0" rIns="0" tIns="0" bIns="0">
            <a:noAutofit/>
          </a:bodyPr>
          <a:lstStyle/>
          <a:p>
            <a:pPr algn="l">
              <a:spcAft>
                <a:spcPts val="0"/>
              </a:spcAft>
            </a:pPr>
            <a:r>
              <a:rPr sz="900" b="0" i="0">
                <a:solidFill>
                  <a:srgbClr val="203247"/>
                </a:solidFill>
                <a:latin typeface="Arial"/>
              </a:rPr>
              <a:t>Information Security Policy v3.1.pdf (pdf), Information Security Policy v3.2.pdf (pdf)</a:t>
            </a:r>
            <a:endParaRPr sz="1000" b="0" i="0">
              <a:latin typeface="Arial"/>
            </a:endParaRPr>
          </a:p>
        </p:txBody>
      </p:sp>
      <p:sp>
        <p:nvSpPr>
          <p:cNvPr id="74" name="Rounded Rectangle 73"/>
          <p:cNvSpPr/>
          <p:nvPr/>
        </p:nvSpPr>
        <p:spPr>
          <a:xfrm>
            <a:off x="8678531" y="5666994"/>
            <a:ext cx="2705748" cy="404622"/>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8742539" y="5731002"/>
            <a:ext cx="2577732" cy="276606"/>
          </a:xfrm>
          <a:prstGeom prst="rect">
            <a:avLst/>
          </a:prstGeom>
          <a:noFill/>
        </p:spPr>
        <p:txBody>
          <a:bodyPr wrap="square" anchor="t" lIns="0" rIns="0" tIns="0" bIns="0">
            <a:noAutofit/>
          </a:bodyPr>
          <a:lstStyle/>
          <a:p>
            <a:pPr algn="l">
              <a:spcAft>
                <a:spcPts val="0"/>
              </a:spcAft>
            </a:pPr>
            <a:r>
              <a:rPr sz="700" b="0" i="0">
                <a:solidFill>
                  <a:srgbClr val="203247"/>
                </a:solidFill>
                <a:latin typeface="Arial"/>
              </a:rPr>
              <a:t>Information Security Policy v3.1.pdf (pdf): Annual vendor evidence requirements and 180-day log retention align with in…</a:t>
            </a:r>
            <a:endParaRPr sz="700" b="0" i="0">
              <a:latin typeface="Arial"/>
            </a:endParaRPr>
          </a:p>
        </p:txBody>
      </p:sp>
      <p:sp>
        <p:nvSpPr>
          <p:cNvPr id="76" name="TextBox 75"/>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2026-04-16</a:t>
            </a:r>
          </a:p>
        </p:txBody>
      </p:sp>
      <p:sp>
        <p:nvSpPr>
          <p:cNvPr id="77" name="TextBox 76"/>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04 / 06</a:t>
            </a:r>
          </a:p>
        </p:txBody>
      </p:sp>
      <p:cxnSp>
        <p:nvCxnSpPr>
          <p:cNvPr id="78" name="Connector 77"/>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685800"/>
            <a:ext cx="4389120" cy="228600"/>
          </a:xfrm>
          <a:prstGeom prst="rect">
            <a:avLst/>
          </a:prstGeom>
          <a:noFill/>
        </p:spPr>
        <p:txBody>
          <a:bodyPr wrap="square" anchor="t" lIns="0" rIns="0" tIns="0" bIns="0">
            <a:spAutoFit/>
          </a:bodyPr>
          <a:lstStyle/>
          <a:p>
            <a:pPr algn="l"/>
            <a:r>
              <a:rPr sz="1000" b="1" i="0">
                <a:solidFill>
                  <a:srgbClr val="B08B5B"/>
                </a:solidFill>
                <a:latin typeface="Arial"/>
              </a:rPr>
              <a:t>EXECUTIVE NARRATIVE</a:t>
            </a:r>
          </a:p>
        </p:txBody>
      </p:sp>
      <p:sp>
        <p:nvSpPr>
          <p:cNvPr id="3" name="TextBox 2"/>
          <p:cNvSpPr txBox="1"/>
          <p:nvPr/>
        </p:nvSpPr>
        <p:spPr>
          <a:xfrm>
            <a:off x="777240" y="932688"/>
            <a:ext cx="7178040" cy="950976"/>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Recommendation vs watchouts</a:t>
            </a:r>
            <a:endParaRPr sz="2800" b="1" i="0">
              <a:latin typeface="Arial"/>
            </a:endParaRPr>
          </a:p>
        </p:txBody>
      </p:sp>
      <p:sp>
        <p:nvSpPr>
          <p:cNvPr id="4" name="Rounded Rectangle 3"/>
          <p:cNvSpPr/>
          <p:nvPr/>
        </p:nvSpPr>
        <p:spPr>
          <a:xfrm>
            <a:off x="777240" y="2029968"/>
            <a:ext cx="5401144"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77240" y="2029968"/>
            <a:ext cx="73152" cy="3255264"/>
          </a:xfrm>
          <a:prstGeom prst="rect">
            <a:avLst/>
          </a:prstGeom>
          <a:solidFill>
            <a:srgbClr val="1426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14983" y="2267712"/>
            <a:ext cx="4925656"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Recommendation</a:t>
            </a:r>
            <a:endParaRPr sz="1600" b="1" i="0">
              <a:latin typeface="Arial"/>
            </a:endParaRPr>
          </a:p>
        </p:txBody>
      </p:sp>
      <p:sp>
        <p:nvSpPr>
          <p:cNvPr id="7" name="TextBox 6"/>
          <p:cNvSpPr txBox="1"/>
          <p:nvPr/>
        </p:nvSpPr>
        <p:spPr>
          <a:xfrm>
            <a:off x="1014983" y="2706624"/>
            <a:ext cx="4925656" cy="1272819"/>
          </a:xfrm>
          <a:prstGeom prst="rect">
            <a:avLst/>
          </a:prstGeom>
          <a:noFill/>
        </p:spPr>
        <p:txBody>
          <a:bodyPr wrap="square" anchor="t" lIns="0" rIns="0" tIns="0" bIns="0">
            <a:noAutofit/>
          </a:bodyPr>
          <a:lstStyle/>
          <a:p>
            <a:pPr algn="l">
              <a:spcAft>
                <a:spcPts val="0"/>
              </a:spcAft>
            </a:pPr>
            <a:r>
              <a:rPr sz="1400" b="0" i="0">
                <a:solidFill>
                  <a:srgbClr val="203247"/>
                </a:solidFill>
                <a:latin typeface="Arial"/>
              </a:rPr>
              <a:t>Open the cited source excerpts to confirm the interpretation before acting.</a:t>
            </a:r>
            <a:endParaRPr sz="1500" b="0" i="0">
              <a:latin typeface="Arial"/>
            </a:endParaRPr>
          </a:p>
        </p:txBody>
      </p:sp>
      <p:sp>
        <p:nvSpPr>
          <p:cNvPr id="8" name="TextBox 7"/>
          <p:cNvSpPr txBox="1"/>
          <p:nvPr/>
        </p:nvSpPr>
        <p:spPr>
          <a:xfrm>
            <a:off x="1014983" y="4034307"/>
            <a:ext cx="4925656" cy="1013180"/>
          </a:xfrm>
          <a:prstGeom prst="rect">
            <a:avLst/>
          </a:prstGeom>
          <a:noFill/>
        </p:spPr>
        <p:txBody>
          <a:bodyPr wrap="square" anchor="t" lIns="0" rIns="0" tIns="0" bIns="0">
            <a:noAutofit/>
          </a:bodyPr>
          <a:lstStyle/>
          <a:p>
            <a:pPr algn="l">
              <a:spcAft>
                <a:spcPts val="300"/>
              </a:spcAft>
            </a:pPr>
            <a:r>
              <a:rPr sz="1000" b="0" i="0">
                <a:solidFill>
                  <a:srgbClr val="203247"/>
                </a:solidFill>
                <a:latin typeface="Arial"/>
              </a:rPr>
              <a:t>• Open the cited source excerpts to confirm the interpretation before act…</a:t>
            </a:r>
            <a:endParaRPr sz="1100" b="0" i="0">
              <a:latin typeface="Arial"/>
            </a:endParaRPr>
          </a:p>
          <a:p>
            <a:pPr algn="l">
              <a:spcAft>
                <a:spcPts val="300"/>
              </a:spcAft>
            </a:pPr>
            <a:r>
              <a:rPr sz="1000" b="0" i="0">
                <a:solidFill>
                  <a:srgbClr val="203247"/>
                </a:solidFill>
                <a:latin typeface="Arial"/>
              </a:rPr>
              <a:t>• Validate critical differences directly in the compared documents before…</a:t>
            </a:r>
            <a:endParaRPr sz="1100" b="0" i="0">
              <a:latin typeface="Arial"/>
            </a:endParaRPr>
          </a:p>
        </p:txBody>
      </p:sp>
      <p:sp>
        <p:nvSpPr>
          <p:cNvPr id="9" name="Rounded Rectangle 8"/>
          <p:cNvSpPr/>
          <p:nvPr/>
        </p:nvSpPr>
        <p:spPr>
          <a:xfrm>
            <a:off x="6470992" y="2029968"/>
            <a:ext cx="4913287" cy="3255264"/>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470992" y="2029968"/>
            <a:ext cx="73152" cy="3255264"/>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708736" y="2267712"/>
            <a:ext cx="4437799" cy="384048"/>
          </a:xfrm>
          <a:prstGeom prst="rect">
            <a:avLst/>
          </a:prstGeom>
          <a:noFill/>
        </p:spPr>
        <p:txBody>
          <a:bodyPr wrap="square" anchor="t" lIns="0" rIns="0" tIns="0" bIns="0">
            <a:noAutofit/>
          </a:bodyPr>
          <a:lstStyle/>
          <a:p>
            <a:pPr algn="l">
              <a:spcAft>
                <a:spcPts val="0"/>
              </a:spcAft>
            </a:pPr>
            <a:r>
              <a:rPr sz="1600" b="1" i="0">
                <a:solidFill>
                  <a:srgbClr val="14263F"/>
                </a:solidFill>
                <a:latin typeface="Arial"/>
              </a:rPr>
              <a:t>Watchouts</a:t>
            </a:r>
            <a:endParaRPr sz="1600" b="1" i="0">
              <a:latin typeface="Arial"/>
            </a:endParaRPr>
          </a:p>
        </p:txBody>
      </p:sp>
      <p:sp>
        <p:nvSpPr>
          <p:cNvPr id="12" name="TextBox 11"/>
          <p:cNvSpPr txBox="1"/>
          <p:nvPr/>
        </p:nvSpPr>
        <p:spPr>
          <a:xfrm>
            <a:off x="6708736" y="2706624"/>
            <a:ext cx="4437799" cy="1481328"/>
          </a:xfrm>
          <a:prstGeom prst="rect">
            <a:avLst/>
          </a:prstGeom>
          <a:noFill/>
        </p:spPr>
        <p:txBody>
          <a:bodyPr wrap="square" anchor="t" lIns="0" rIns="0" tIns="0" bIns="0">
            <a:noAutofit/>
          </a:bodyPr>
          <a:lstStyle/>
          <a:p>
            <a:pPr algn="l">
              <a:spcAft>
                <a:spcPts val="0"/>
              </a:spcAft>
            </a:pPr>
            <a:r>
              <a:rPr sz="1400" b="0" i="0">
                <a:solidFill>
                  <a:srgbClr val="203247"/>
                </a:solidFill>
                <a:latin typeface="Arial"/>
              </a:rPr>
              <a:t>Retrieval backend note: retrieval served by local fallback from the canonical json..</a:t>
            </a:r>
            <a:endParaRPr sz="1500" b="0" i="0">
              <a:latin typeface="Arial"/>
            </a:endParaRPr>
          </a:p>
        </p:txBody>
      </p:sp>
      <p:sp>
        <p:nvSpPr>
          <p:cNvPr id="13" name="TextBox 12"/>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2026-04-16</a:t>
            </a:r>
          </a:p>
        </p:txBody>
      </p:sp>
      <p:sp>
        <p:nvSpPr>
          <p:cNvPr id="14" name="TextBox 13"/>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05 / 06</a:t>
            </a:r>
          </a:p>
        </p:txBody>
      </p:sp>
      <p:cxnSp>
        <p:nvCxnSpPr>
          <p:cNvPr id="15" name="Connector 14"/>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2"/>
        </a:solidFill>
        <a:effectLst/>
      </p:bgPr>
    </p:bg>
    <p:spTree>
      <p:nvGrpSpPr>
        <p:cNvPr id="1" name=""/>
        <p:cNvGrpSpPr/>
        <p:nvPr/>
      </p:nvGrpSpPr>
      <p:grpSpPr/>
      <p:sp>
        <p:nvSpPr>
          <p:cNvPr id="2" name="TextBox 1"/>
          <p:cNvSpPr txBox="1"/>
          <p:nvPr/>
        </p:nvSpPr>
        <p:spPr>
          <a:xfrm>
            <a:off x="777240" y="932688"/>
            <a:ext cx="5852160" cy="777240"/>
          </a:xfrm>
          <a:prstGeom prst="rect">
            <a:avLst/>
          </a:prstGeom>
          <a:noFill/>
        </p:spPr>
        <p:txBody>
          <a:bodyPr wrap="square" anchor="t" lIns="0" rIns="0" tIns="0" bIns="0">
            <a:noAutofit/>
          </a:bodyPr>
          <a:lstStyle/>
          <a:p>
            <a:pPr algn="l">
              <a:spcAft>
                <a:spcPts val="0"/>
              </a:spcAft>
            </a:pPr>
            <a:r>
              <a:rPr sz="2800" b="1" i="0">
                <a:solidFill>
                  <a:srgbClr val="14263F"/>
                </a:solidFill>
                <a:latin typeface="Arial"/>
              </a:rPr>
              <a:t>Next steps</a:t>
            </a:r>
            <a:endParaRPr sz="2800" b="1" i="0">
              <a:latin typeface="Arial"/>
            </a:endParaRPr>
          </a:p>
        </p:txBody>
      </p:sp>
      <p:sp>
        <p:nvSpPr>
          <p:cNvPr id="3" name="TextBox 2"/>
          <p:cNvSpPr txBox="1"/>
          <p:nvPr/>
        </p:nvSpPr>
        <p:spPr>
          <a:xfrm>
            <a:off x="777240" y="2331720"/>
            <a:ext cx="6263640" cy="2880360"/>
          </a:xfrm>
          <a:prstGeom prst="rect">
            <a:avLst/>
          </a:prstGeom>
          <a:noFill/>
        </p:spPr>
        <p:txBody>
          <a:bodyPr wrap="square" anchor="t" lIns="0" rIns="0" tIns="0" bIns="0">
            <a:noAutofit/>
          </a:bodyPr>
          <a:lstStyle/>
          <a:p>
            <a:pPr algn="l">
              <a:spcAft>
                <a:spcPts val="400"/>
              </a:spcAft>
            </a:pPr>
            <a:r>
              <a:rPr sz="1300" b="0" i="0">
                <a:solidFill>
                  <a:srgbClr val="203247"/>
                </a:solidFill>
                <a:latin typeface="Arial"/>
              </a:rPr>
              <a:t>• Open the cited source excerpts to confirm the interpretation before acting.</a:t>
            </a:r>
            <a:endParaRPr sz="1400" b="0" i="0">
              <a:latin typeface="Arial"/>
            </a:endParaRPr>
          </a:p>
          <a:p>
            <a:pPr algn="l">
              <a:spcAft>
                <a:spcPts val="400"/>
              </a:spcAft>
            </a:pPr>
            <a:r>
              <a:rPr sz="1300" b="0" i="0">
                <a:solidFill>
                  <a:srgbClr val="203247"/>
                </a:solidFill>
                <a:latin typeface="Arial"/>
              </a:rPr>
              <a:t>• Validate critical differences directly in the compared documents before consoli…</a:t>
            </a:r>
            <a:endParaRPr sz="1400" b="0" i="0">
              <a:latin typeface="Arial"/>
            </a:endParaRPr>
          </a:p>
        </p:txBody>
      </p:sp>
      <p:sp>
        <p:nvSpPr>
          <p:cNvPr id="4" name="Rounded Rectangle 3"/>
          <p:cNvSpPr/>
          <p:nvPr/>
        </p:nvSpPr>
        <p:spPr>
          <a:xfrm>
            <a:off x="7360919" y="960120"/>
            <a:ext cx="4023360" cy="4526280"/>
          </a:xfrm>
          <a:prstGeom prst="roundRect">
            <a:avLst/>
          </a:prstGeom>
          <a:solidFill>
            <a:srgbClr val="FFFDFC"/>
          </a:solidFill>
          <a:ln w="12700">
            <a:solidFill>
              <a:srgbClr val="D8DE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360919" y="960120"/>
            <a:ext cx="4023360" cy="73152"/>
          </a:xfrm>
          <a:prstGeom prst="rect">
            <a:avLst/>
          </a:prstGeom>
          <a:solidFill>
            <a:srgbClr val="B08B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616951" y="1216152"/>
            <a:ext cx="3511296" cy="2130967"/>
          </a:xfrm>
          <a:prstGeom prst="rect">
            <a:avLst/>
          </a:prstGeom>
          <a:noFill/>
        </p:spPr>
        <p:txBody>
          <a:bodyPr wrap="square" anchor="t" lIns="0" rIns="0" tIns="0" bIns="0">
            <a:noAutofit/>
          </a:bodyPr>
          <a:lstStyle/>
          <a:p>
            <a:pPr algn="l">
              <a:spcAft>
                <a:spcPts val="0"/>
              </a:spcAft>
            </a:pPr>
            <a:r>
              <a:rPr sz="1300" b="0" i="0">
                <a:solidFill>
                  <a:srgbClr val="203247"/>
                </a:solidFill>
                <a:latin typeface="Arial"/>
              </a:rPr>
              <a:t>Open the cited source excerpts to confirm the interpretation before acting.</a:t>
            </a:r>
            <a:endParaRPr sz="1400" b="0" i="0">
              <a:latin typeface="Arial"/>
            </a:endParaRPr>
          </a:p>
        </p:txBody>
      </p:sp>
      <p:sp>
        <p:nvSpPr>
          <p:cNvPr id="7" name="TextBox 6"/>
          <p:cNvSpPr txBox="1"/>
          <p:nvPr/>
        </p:nvSpPr>
        <p:spPr>
          <a:xfrm>
            <a:off x="7616951" y="3438559"/>
            <a:ext cx="3511296" cy="1791808"/>
          </a:xfrm>
          <a:prstGeom prst="rect">
            <a:avLst/>
          </a:prstGeom>
          <a:noFill/>
        </p:spPr>
        <p:txBody>
          <a:bodyPr wrap="square" anchor="t" lIns="0" rIns="0" tIns="0" bIns="0">
            <a:noAutofit/>
          </a:bodyPr>
          <a:lstStyle/>
          <a:p>
            <a:pPr algn="l">
              <a:spcAft>
                <a:spcPts val="400"/>
              </a:spcAft>
            </a:pPr>
            <a:r>
              <a:rPr sz="1300" b="0" i="0">
                <a:solidFill>
                  <a:srgbClr val="14263F"/>
                </a:solidFill>
                <a:latin typeface="Arial"/>
              </a:rPr>
              <a:t>• Validate critical differences directly in the compared documents before consoli…</a:t>
            </a:r>
            <a:endParaRPr sz="1400" b="0" i="0">
              <a:latin typeface="Arial"/>
            </a:endParaRPr>
          </a:p>
        </p:txBody>
      </p:sp>
      <p:sp>
        <p:nvSpPr>
          <p:cNvPr id="8" name="TextBox 7"/>
          <p:cNvSpPr txBox="1"/>
          <p:nvPr/>
        </p:nvSpPr>
        <p:spPr>
          <a:xfrm>
            <a:off x="777240" y="6327648"/>
            <a:ext cx="5486400" cy="182880"/>
          </a:xfrm>
          <a:prstGeom prst="rect">
            <a:avLst/>
          </a:prstGeom>
          <a:noFill/>
        </p:spPr>
        <p:txBody>
          <a:bodyPr wrap="square" anchor="t" lIns="0" rIns="0" tIns="0" bIns="0">
            <a:spAutoFit/>
          </a:bodyPr>
          <a:lstStyle/>
          <a:p>
            <a:pPr algn="l"/>
            <a:r>
              <a:rPr sz="1000" b="0" i="0">
                <a:solidFill>
                  <a:srgbClr val="617287"/>
                </a:solidFill>
                <a:latin typeface="Arial"/>
              </a:rPr>
              <a:t>AI Workbench Local • Comparison Review  •  2026-04-16</a:t>
            </a:r>
          </a:p>
        </p:txBody>
      </p:sp>
      <p:sp>
        <p:nvSpPr>
          <p:cNvPr id="9" name="TextBox 8"/>
          <p:cNvSpPr txBox="1"/>
          <p:nvPr/>
        </p:nvSpPr>
        <p:spPr>
          <a:xfrm>
            <a:off x="9966960" y="6327648"/>
            <a:ext cx="1234440" cy="182880"/>
          </a:xfrm>
          <a:prstGeom prst="rect">
            <a:avLst/>
          </a:prstGeom>
          <a:noFill/>
        </p:spPr>
        <p:txBody>
          <a:bodyPr wrap="square" anchor="t" lIns="0" rIns="0" tIns="0" bIns="0">
            <a:spAutoFit/>
          </a:bodyPr>
          <a:lstStyle/>
          <a:p>
            <a:pPr algn="r"/>
            <a:r>
              <a:rPr sz="1000" b="0" i="0">
                <a:solidFill>
                  <a:srgbClr val="617287"/>
                </a:solidFill>
                <a:latin typeface="Arial"/>
              </a:rPr>
              <a:t>06 / 06</a:t>
            </a:r>
          </a:p>
        </p:txBody>
      </p:sp>
      <p:cxnSp>
        <p:nvCxnSpPr>
          <p:cNvPr id="10" name="Connector 9"/>
          <p:cNvCxnSpPr/>
          <p:nvPr/>
        </p:nvCxnSpPr>
        <p:spPr>
          <a:xfrm>
            <a:off x="777240" y="6272784"/>
            <a:ext cx="10607040" cy="0"/>
          </a:xfrm>
          <a:prstGeom prst="line">
            <a:avLst/>
          </a:prstGeom>
          <a:ln w="10160">
            <a:solidFill>
              <a:srgbClr val="D8DEE6"/>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