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Grounded in the current Action Plan run and cited document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Concise executive framing for the grounded action plan and execution posture.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Priority actions grouped from the current grounded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Use the paired action-detail slide for full task wording and source references.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Use the paired action-detail slide for full task wording and source references.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[A01] Source: Privileged Account Approval Email.pdf | Evidence: Negotiate liability cap with vendor legal
[GOVERNANCE] Source: Governance Committee Minutes and Action Items.pdf | Evidence: Draft SCC Appendix for data residency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[GOVERNANCE] Source: Governance Committee Minutes and Action Items.pdf | Evidence: Define incident response SLOs
[GOVERNANCE] Source: Governance Committee Minutes and Action Items.pdf | Evidence: Set up auto-renewal calendar alerts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[EVIDENCE] Source: Governance Committee Minutes and Action Items.pdf | Evidence: Reconstruct access-review evidence and obtain system-owner sign-off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Execution sequence derived from the current action plan items.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Execution blockers and concrete mitigation actions from the current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OPERATIONAL ACTION PLAN GROUNDED IN CURRENT ACTION BACKLOG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1264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63F"/>
                </a:solidFill>
                <a:latin typeface="Arial"/>
              </a:rPr>
              <a:t>AI Workbench Local — Action Plan</a:t>
            </a:r>
            <a:endParaRPr sz="32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2240280"/>
            <a:ext cx="539496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Operational action plan grounded in current action backlog</a:t>
            </a:r>
            <a:endParaRPr sz="1300" b="0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11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summary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412229" cy="18105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5 open action(s) remain in the current plan and now require explicit owner follow-through, evidence closure and sequencing into the next operating review.</a:t>
            </a:r>
            <a:endParaRPr sz="15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509509" y="1865376"/>
            <a:ext cx="3874770" cy="299923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09509" y="1865376"/>
            <a:ext cx="387477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47253" y="2103120"/>
            <a:ext cx="339928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47253" y="2432303"/>
            <a:ext cx="3399282" cy="21945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5 total actions are tracked in the current plan</a:t>
            </a:r>
            <a:endParaRPr sz="11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There are overdue actions that require immediate reprioritization.</a:t>
            </a:r>
            <a:endParaRPr sz="11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5 action(s) include owner, due date or status context</a:t>
            </a:r>
            <a:endParaRPr sz="11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02 / 11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snapshot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212848"/>
            <a:ext cx="250916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5</a:t>
            </a:r>
            <a:endParaRPr sz="24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Total actions</a:t>
            </a:r>
            <a:endParaRPr sz="12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24144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4144" y="2212848"/>
            <a:ext cx="24377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3600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5</a:t>
            </a:r>
            <a:endParaRPr sz="24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43600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Open</a:t>
            </a:r>
            <a:endParaRPr sz="12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99632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2212848"/>
            <a:ext cx="2437743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5</a:t>
            </a:r>
            <a:endParaRPr sz="2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19088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Overdue</a:t>
            </a:r>
            <a:endParaRPr sz="1200" b="1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875119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75119" y="2212848"/>
            <a:ext cx="25091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457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0</a:t>
            </a:r>
            <a:endParaRPr sz="2400" b="1" i="0"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09457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Approval required</a:t>
            </a:r>
            <a:endParaRPr sz="1200" b="1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03 / 11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65836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Priority workstreams</a:t>
            </a:r>
            <a:endParaRPr sz="2800" b="1" i="0">
              <a:latin typeface="Arial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77240" y="2331720"/>
            <a:ext cx="3267165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331720"/>
            <a:ext cx="3267165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5" y="2551176"/>
            <a:ext cx="2828253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Priority 1</a:t>
            </a:r>
            <a:endParaRPr sz="1500" b="1" i="0"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96695" y="2971800"/>
            <a:ext cx="2828253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Negotiate liability cap with vendor legal</a:t>
            </a:r>
            <a:endParaRPr sz="14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4608576"/>
            <a:ext cx="2828253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17287"/>
                </a:solidFill>
                <a:latin typeface="Arial"/>
              </a:rPr>
              <a:t>Maria Santos • 2024-03-22 • In Progress</a:t>
            </a:r>
            <a:endParaRPr sz="1000" b="0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364445" y="2331720"/>
            <a:ext cx="3267165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64445" y="2331720"/>
            <a:ext cx="3267165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83901" y="2551176"/>
            <a:ext cx="2828253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Priority 2</a:t>
            </a:r>
            <a:endParaRPr sz="15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83901" y="2971800"/>
            <a:ext cx="2828253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Draft SCC Appendix for data residency</a:t>
            </a:r>
            <a:endParaRPr sz="1400" b="0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83901" y="4608576"/>
            <a:ext cx="2828253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17287"/>
                </a:solidFill>
                <a:latin typeface="Arial"/>
              </a:rPr>
              <a:t>James Park • 2024-03-25 • Open</a:t>
            </a:r>
            <a:endParaRPr sz="1000" b="0" i="0">
              <a:latin typeface="Arial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951651" y="2331720"/>
            <a:ext cx="3432628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51651" y="2331720"/>
            <a:ext cx="3432628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71107" y="2551176"/>
            <a:ext cx="2993716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Evidence posture</a:t>
            </a:r>
            <a:endParaRPr sz="1500" b="1" i="0">
              <a:latin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171107" y="2971800"/>
            <a:ext cx="2993716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There are overdue actions that require immediate reprioritization.</a:t>
            </a:r>
            <a:endParaRPr sz="1400" b="0" i="0">
              <a:latin typeface="Ari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171107" y="4608576"/>
            <a:ext cx="2993716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17287"/>
                </a:solidFill>
                <a:latin typeface="Arial"/>
              </a:rPr>
              <a:t>Grounded review signal</a:t>
            </a:r>
            <a:endParaRPr sz="1000" b="0" i="0">
              <a:latin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04 / 11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Action backlog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2778928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265091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Ref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01888" y="1920240"/>
            <a:ext cx="2647459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65896" y="1984248"/>
            <a:ext cx="2519443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Owner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295068" y="1920240"/>
            <a:ext cx="2458888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9076" y="1984248"/>
            <a:ext cx="233087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Due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799677" y="1920240"/>
            <a:ext cx="2584602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3685" y="1984248"/>
            <a:ext cx="2456586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Status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277892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265091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A01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601888" y="2450592"/>
            <a:ext cx="2647459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65896" y="2514600"/>
            <a:ext cx="2519443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Maria Santos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295068" y="2450592"/>
            <a:ext cx="245888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9076" y="2514600"/>
            <a:ext cx="233087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2024-03-22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799677" y="2450592"/>
            <a:ext cx="2584602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3685" y="2514600"/>
            <a:ext cx="2456586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In Progress</a:t>
            </a:r>
            <a:endParaRPr sz="10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3114080"/>
            <a:ext cx="277892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178088"/>
            <a:ext cx="265091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GOVERNANCE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601888" y="3114080"/>
            <a:ext cx="2647459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65896" y="3178088"/>
            <a:ext cx="2519443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James Park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295068" y="3114080"/>
            <a:ext cx="245888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9076" y="3178088"/>
            <a:ext cx="233087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2024-03-25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799677" y="3114080"/>
            <a:ext cx="2584602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63685" y="3178088"/>
            <a:ext cx="2456586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Open</a:t>
            </a:r>
            <a:endParaRPr sz="1000" b="0" i="0">
              <a:latin typeface="Arial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77240" y="3777569"/>
            <a:ext cx="277892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7" y="3841577"/>
            <a:ext cx="265091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GOVERNANCE</a:t>
            </a:r>
            <a:endParaRPr sz="1000" b="0" i="0">
              <a:latin typeface="Arial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3601888" y="3777569"/>
            <a:ext cx="2647459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65896" y="3841577"/>
            <a:ext cx="2519443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Alex Rivera</a:t>
            </a:r>
            <a:endParaRPr sz="1000" b="0" i="0">
              <a:latin typeface="Arial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295068" y="3777569"/>
            <a:ext cx="245888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9076" y="3841577"/>
            <a:ext cx="233087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2024-03-28</a:t>
            </a:r>
            <a:endParaRPr sz="1000" b="0" i="0">
              <a:latin typeface="Arial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8799677" y="3777569"/>
            <a:ext cx="2584602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63685" y="3841577"/>
            <a:ext cx="2456586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Open</a:t>
            </a:r>
            <a:endParaRPr sz="1000" b="0" i="0">
              <a:latin typeface="Arial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777240" y="4441057"/>
            <a:ext cx="277892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7" y="4505065"/>
            <a:ext cx="265091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GOVERNANCE</a:t>
            </a:r>
            <a:endParaRPr sz="1000" b="0" i="0">
              <a:latin typeface="Arial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3601888" y="4441057"/>
            <a:ext cx="2647459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65896" y="4505065"/>
            <a:ext cx="2519443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Operations</a:t>
            </a:r>
            <a:endParaRPr sz="1000" b="0" i="0">
              <a:latin typeface="Arial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6295068" y="4441057"/>
            <a:ext cx="245888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59076" y="4505065"/>
            <a:ext cx="233087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2024-03-18</a:t>
            </a:r>
            <a:endParaRPr sz="1000" b="0" i="0">
              <a:latin typeface="Arial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8799677" y="4441057"/>
            <a:ext cx="2584602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863685" y="4505065"/>
            <a:ext cx="2456586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In Progress</a:t>
            </a:r>
            <a:endParaRPr sz="1000" b="0" i="0">
              <a:latin typeface="Arial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2026-04-20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05 / 11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Action backlog (2)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2820731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2692715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Ref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43691" y="1920240"/>
            <a:ext cx="2574228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07699" y="1984248"/>
            <a:ext cx="244621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Owner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263640" y="1920240"/>
            <a:ext cx="2500691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27648" y="1984248"/>
            <a:ext cx="2372675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Due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810051" y="1920240"/>
            <a:ext cx="2574228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74059" y="1984248"/>
            <a:ext cx="244621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Status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2820731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2692715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EVIDENCE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643691" y="2450592"/>
            <a:ext cx="257422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07699" y="2514600"/>
            <a:ext cx="244621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Priya Nair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263640" y="2450592"/>
            <a:ext cx="2500691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27648" y="2514600"/>
            <a:ext cx="2372675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2024-03-18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810051" y="2450592"/>
            <a:ext cx="257422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74059" y="2514600"/>
            <a:ext cx="244621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In Progress</a:t>
            </a:r>
            <a:endParaRPr sz="1000" b="0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06 / 11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Action details appendix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11392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Full task wording, accountable owner, due date and source traceability.</a:t>
            </a:r>
            <a:endParaRPr sz="1400" b="0" i="0"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3598952"/>
            <a:ext cx="6263640" cy="17960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A01 — Negotiate liability cap with vendor legal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Owner: Maria Santos • Due: 2024-03-22 • Status: In Progress • Source: Privileged Account Approval Email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GOVERNANCE — Draft SCC Appendix for data residency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Owner: James Park • Due: 2024-03-25 • Status: Open • Source: Governance Committee Minutes and Action Items</a:t>
            </a:r>
            <a:endParaRPr sz="1300" b="0" i="0">
              <a:latin typeface="Arial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16951" y="1216152"/>
            <a:ext cx="3511296" cy="1700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03247"/>
                </a:solidFill>
                <a:latin typeface="Arial"/>
              </a:rPr>
              <a:t>Full task wording, accountable owner, due date and source traceability.</a:t>
            </a:r>
            <a:endParaRPr sz="13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616951" y="3007960"/>
            <a:ext cx="3511296" cy="22224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Owner: Maria Santos • Due: 2024-03-22 • Status: In Progress • Source: Privileged Account Approval Email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GOVERNANCE — Draft SCC Appendix for data residency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Owner: James Park • Due: 2024-03-25 • Status: Open • Source: Governance Committee Minutes and Action Items</a:t>
            </a:r>
            <a:endParaRPr sz="1300" b="0" i="0"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07 / 11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Action details appendix (2)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11392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Full task wording, accountable owner, due date and source traceability.</a:t>
            </a:r>
            <a:endParaRPr sz="1400" b="0" i="0"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3598952"/>
            <a:ext cx="6263640" cy="17960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GOVERNANCE — Define incident response SLOs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Owner: Alex Rivera • Due: 2024-03-28 • Status: Open • Source: Governance Committee Minutes and Action Items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GOVERNANCE — Set up auto-renewal calendar alerts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Owner: Operations • Due: 2024-03-18 • Status: In Progress • Source: Governance Committee Minutes and Action Items</a:t>
            </a:r>
            <a:endParaRPr sz="1300" b="0" i="0">
              <a:latin typeface="Arial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16951" y="1216152"/>
            <a:ext cx="3511296" cy="1700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03247"/>
                </a:solidFill>
                <a:latin typeface="Arial"/>
              </a:rPr>
              <a:t>Full task wording, accountable owner, due date and source traceability.</a:t>
            </a:r>
            <a:endParaRPr sz="13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616951" y="3007960"/>
            <a:ext cx="3511296" cy="22224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14263F"/>
                </a:solidFill>
                <a:latin typeface="Arial"/>
              </a:rPr>
              <a:t>• Owner: Alex Rivera • Due: 2024-03-28 • Status: Open • Source: Governance Committee Minutes and Action Items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14263F"/>
                </a:solidFill>
                <a:latin typeface="Arial"/>
              </a:rPr>
              <a:t>• GOVERNANCE — Set up auto-renewal calendar alerts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14263F"/>
                </a:solidFill>
                <a:latin typeface="Arial"/>
              </a:rPr>
              <a:t>• Owner: Operations • Due: 2024-03-18 • Status: In Progress • Source: Governance Committee Minutes and Action Items</a:t>
            </a:r>
            <a:endParaRPr sz="1300" b="0" i="0"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08 / 11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Action details appendix (3)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11392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Full task wording, accountable owner, due date and source traceability.</a:t>
            </a:r>
            <a:endParaRPr sz="1400" b="0" i="0"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3598952"/>
            <a:ext cx="6263640" cy="17960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EVIDENCE — Reconstruct access-review evidence and obtain system-ow…</a:t>
            </a:r>
            <a:endParaRPr sz="13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Owner: Priya Nair • Due: 2024-03-18 • Status: In Progress • Source: Governance Committee Minutes and Action Items</a:t>
            </a:r>
            <a:endParaRPr sz="1300" b="0" i="0">
              <a:latin typeface="Arial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16951" y="1216152"/>
            <a:ext cx="3511296" cy="213096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03247"/>
                </a:solidFill>
                <a:latin typeface="Arial"/>
              </a:rPr>
              <a:t>Full task wording, accountable owner, due date and source traceability.</a:t>
            </a:r>
            <a:endParaRPr sz="13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616951" y="3438559"/>
            <a:ext cx="3511296" cy="1791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Owner: Priya Nair • Due: 2024-03-18 • Status: In Progress • Source: Governance Committee Minutes and Action Items</a:t>
            </a:r>
            <a:endParaRPr sz="1300" b="0" i="0"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09 / 11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31520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Execution timeline</a:t>
            </a:r>
            <a:endParaRPr sz="2800" b="1" i="0">
              <a:latin typeface="Arial"/>
            </a:endParaRPr>
          </a:p>
        </p:txBody>
      </p:sp>
      <p:cxnSp>
        <p:nvCxnSpPr>
          <p:cNvPr id="3" name="Connector 2"/>
          <p:cNvCxnSpPr/>
          <p:nvPr/>
        </p:nvCxnSpPr>
        <p:spPr>
          <a:xfrm>
            <a:off x="2488832" y="2084831"/>
            <a:ext cx="7234569" cy="0"/>
          </a:xfrm>
          <a:prstGeom prst="line">
            <a:avLst/>
          </a:prstGeom>
          <a:ln w="1778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2379104" y="1975103"/>
            <a:ext cx="219456" cy="219456"/>
          </a:xfrm>
          <a:prstGeom prst="ellipse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3423185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P1</a:t>
            </a:r>
            <a:endParaRPr sz="10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77240" y="2331720"/>
            <a:ext cx="3423185" cy="26517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3423185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2532888"/>
            <a:ext cx="3020849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263F"/>
                </a:solidFill>
                <a:latin typeface="Arial"/>
              </a:rPr>
              <a:t>Step 1</a:t>
            </a:r>
            <a:endParaRPr sz="1400" b="1" i="0"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78408" y="2916936"/>
            <a:ext cx="3020849" cy="18653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A01 · Negotiate liability cap with vendor legal</a:t>
            </a:r>
            <a:endParaRPr sz="1100" b="0" i="0">
              <a:latin typeface="Arial"/>
            </a:endParaRPr>
          </a:p>
        </p:txBody>
      </p:sp>
      <p:sp>
        <p:nvSpPr>
          <p:cNvPr id="10" name="Oval 9"/>
          <p:cNvSpPr/>
          <p:nvPr/>
        </p:nvSpPr>
        <p:spPr>
          <a:xfrm>
            <a:off x="6021746" y="1975103"/>
            <a:ext cx="219456" cy="219456"/>
          </a:xfrm>
          <a:prstGeom prst="ellipse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19881" y="1783080"/>
            <a:ext cx="3423185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P2</a:t>
            </a:r>
            <a:endParaRPr sz="10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419881" y="2331720"/>
            <a:ext cx="3423185" cy="26517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9881" y="2331720"/>
            <a:ext cx="3423185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21049" y="2532888"/>
            <a:ext cx="3020849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263F"/>
                </a:solidFill>
                <a:latin typeface="Arial"/>
              </a:rPr>
              <a:t>Step 2</a:t>
            </a:r>
            <a:endParaRPr sz="1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621049" y="2916936"/>
            <a:ext cx="3020849" cy="18653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GOVERNANCE · Draft SCC Appendix for data residency</a:t>
            </a:r>
            <a:endParaRPr sz="1100" b="0" i="0">
              <a:latin typeface="Arial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9613673" y="1975103"/>
            <a:ext cx="219456" cy="219456"/>
          </a:xfrm>
          <a:prstGeom prst="ellipse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62523" y="1783080"/>
            <a:ext cx="3321756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P3</a:t>
            </a:r>
            <a:endParaRPr sz="1000" b="1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062523" y="2331720"/>
            <a:ext cx="3321756" cy="26517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62523" y="2331720"/>
            <a:ext cx="3321756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63691" y="2532888"/>
            <a:ext cx="291942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263F"/>
                </a:solidFill>
                <a:latin typeface="Arial"/>
              </a:rPr>
              <a:t>Step 3</a:t>
            </a:r>
            <a:endParaRPr sz="1400" b="1" i="0">
              <a:latin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263691" y="2916936"/>
            <a:ext cx="2919420" cy="18653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GOVERNANCE · Define incident response SLOs</a:t>
            </a:r>
            <a:endParaRPr sz="1100" b="0" i="0">
              <a:latin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10 / 11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Blockers vs mitigations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029968"/>
            <a:ext cx="4985178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29968"/>
            <a:ext cx="73152" cy="3255264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3" y="2267712"/>
            <a:ext cx="450969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Blockers</a:t>
            </a:r>
            <a:endParaRPr sz="16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14983" y="2706624"/>
            <a:ext cx="4509690" cy="12443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There are overdue actions that require immediate reprioritization.</a:t>
            </a:r>
            <a:endParaRPr sz="15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14983" y="4005872"/>
            <a:ext cx="4509690" cy="10416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GOVERNANCE — Draft SCC Appendix for data residency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GOVERNANCE — Define incident response SLOs</a:t>
            </a:r>
            <a:endParaRPr sz="1100" b="0" i="0"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055026" y="2029968"/>
            <a:ext cx="5329253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55026" y="2029968"/>
            <a:ext cx="73152" cy="3255264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92770" y="2267712"/>
            <a:ext cx="4853765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Mitigations</a:t>
            </a:r>
            <a:endParaRPr sz="1600" b="1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292770" y="2706624"/>
            <a:ext cx="4853765" cy="131417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Execute the named actions in order, close cited evidence gaps and confirm approval dependencies before closure.</a:t>
            </a:r>
            <a:endParaRPr sz="1500" b="0" i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292770" y="4075661"/>
            <a:ext cx="4853765" cy="97182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A01 — Negotiate liability cap with vendor legal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GOVERNANCE — Draft SCC Appendix for data residency</a:t>
            </a:r>
            <a:endParaRPr sz="1100" b="0" i="0"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11 / 11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