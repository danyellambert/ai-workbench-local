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0" i="0">
                <a:solidFill>
                  <a:srgbClr val="203247"/>
                </a:solidFill>
                <a:latin typeface="Arial"/>
              </a:rPr>
              <a:t>Export kind: policy_contract_comparison_deck. Deck family: comparison. Sources: structured_result, document_agent_comparison.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0" i="0">
                <a:solidFill>
                  <a:srgbClr val="203247"/>
                </a:solidFill>
                <a:latin typeface="Arial"/>
              </a:rPr>
              <a:t>Executive summary consolidated from the product's grounded signals.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0" i="0">
                <a:solidFill>
                  <a:srgbClr val="203247"/>
                </a:solidFill>
                <a:latin typeface="Arial"/>
              </a:rPr>
              <a:t>Differences and impacts extracted from the document-comparison flow.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0" i="0">
                <a:solidFill>
                  <a:srgbClr val="203247"/>
                </a:solidFill>
                <a:latin typeface="Arial"/>
              </a:rPr>
              <a:t>Executive decision framing for this slice.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Rectangle 1"/>
          <p:cNvSpPr/>
          <p:nvPr/>
        </p:nvSpPr>
        <p:spPr>
          <a:xfrm>
            <a:off x="777240" y="658368"/>
            <a:ext cx="91440" cy="1051560"/>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78992" y="896112"/>
            <a:ext cx="4389120" cy="228600"/>
          </a:xfrm>
          <a:prstGeom prst="rect">
            <a:avLst/>
          </a:prstGeom>
          <a:noFill/>
        </p:spPr>
        <p:txBody>
          <a:bodyPr wrap="square" anchor="t" lIns="0" rIns="0" tIns="0" bIns="0">
            <a:spAutoFit/>
          </a:bodyPr>
          <a:lstStyle/>
          <a:p>
            <a:pPr algn="l"/>
            <a:r>
              <a:rPr sz="1000" b="1" i="0">
                <a:solidFill>
                  <a:srgbClr val="B08B5B"/>
                </a:solidFill>
                <a:latin typeface="Arial"/>
              </a:rPr>
              <a:t>EXECUTIVE COMPARISON REVIEW OF GROUNDED DOCUMENT DIFFERENCES</a:t>
            </a:r>
          </a:p>
        </p:txBody>
      </p:sp>
      <p:sp>
        <p:nvSpPr>
          <p:cNvPr id="4" name="TextBox 3"/>
          <p:cNvSpPr txBox="1"/>
          <p:nvPr/>
        </p:nvSpPr>
        <p:spPr>
          <a:xfrm>
            <a:off x="1078992" y="1143000"/>
            <a:ext cx="6126480" cy="1243584"/>
          </a:xfrm>
          <a:prstGeom prst="rect">
            <a:avLst/>
          </a:prstGeom>
          <a:noFill/>
        </p:spPr>
        <p:txBody>
          <a:bodyPr wrap="square" anchor="t" lIns="0" rIns="0" tIns="0" bIns="0">
            <a:noAutofit/>
          </a:bodyPr>
          <a:lstStyle/>
          <a:p>
            <a:pPr algn="l">
              <a:spcAft>
                <a:spcPts val="0"/>
              </a:spcAft>
            </a:pPr>
            <a:r>
              <a:rPr sz="3200" b="1" i="0">
                <a:solidFill>
                  <a:srgbClr val="14263F"/>
                </a:solidFill>
                <a:latin typeface="Arial"/>
              </a:rPr>
              <a:t>AI Workbench Local — Policy / Contract Comparison</a:t>
            </a:r>
            <a:endParaRPr sz="3200" b="1" i="0">
              <a:latin typeface="Arial"/>
            </a:endParaRPr>
          </a:p>
        </p:txBody>
      </p:sp>
      <p:sp>
        <p:nvSpPr>
          <p:cNvPr id="5" name="TextBox 4"/>
          <p:cNvSpPr txBox="1"/>
          <p:nvPr/>
        </p:nvSpPr>
        <p:spPr>
          <a:xfrm>
            <a:off x="1078992" y="2551176"/>
            <a:ext cx="5394960" cy="475488"/>
          </a:xfrm>
          <a:prstGeom prst="rect">
            <a:avLst/>
          </a:prstGeom>
          <a:noFill/>
        </p:spPr>
        <p:txBody>
          <a:bodyPr wrap="square" anchor="t" lIns="0" rIns="0" tIns="0" bIns="0">
            <a:noAutofit/>
          </a:bodyPr>
          <a:lstStyle/>
          <a:p>
            <a:pPr algn="l">
              <a:spcAft>
                <a:spcPts val="0"/>
              </a:spcAft>
            </a:pPr>
            <a:r>
              <a:rPr sz="1300" b="0" i="0">
                <a:solidFill>
                  <a:srgbClr val="617287"/>
                </a:solidFill>
                <a:latin typeface="Arial"/>
              </a:rPr>
              <a:t>Executive comparison review of grounded document differences</a:t>
            </a:r>
            <a:endParaRPr sz="1300" b="0" i="0">
              <a:latin typeface="Arial"/>
            </a:endParaRPr>
          </a:p>
        </p:txBody>
      </p:sp>
      <p:sp>
        <p:nvSpPr>
          <p:cNvPr id="6" name="Rounded Rectangle 5"/>
          <p:cNvSpPr/>
          <p:nvPr/>
        </p:nvSpPr>
        <p:spPr>
          <a:xfrm>
            <a:off x="8092440" y="960120"/>
            <a:ext cx="3291840" cy="4251960"/>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58200" y="1325880"/>
            <a:ext cx="2560320" cy="1926832"/>
          </a:xfrm>
          <a:prstGeom prst="rect">
            <a:avLst/>
          </a:prstGeom>
          <a:noFill/>
        </p:spPr>
        <p:txBody>
          <a:bodyPr wrap="square" anchor="t" lIns="0" rIns="0" tIns="0" bIns="0">
            <a:spAutoFit/>
          </a:bodyPr>
          <a:lstStyle/>
          <a:p>
            <a:pPr algn="l">
              <a:spcAft>
                <a:spcPts val="200"/>
              </a:spcAft>
            </a:pPr>
            <a:r>
              <a:rPr sz="1000" b="1" i="0">
                <a:solidFill>
                  <a:srgbClr val="617287"/>
                </a:solidFill>
                <a:latin typeface="Arial"/>
              </a:rPr>
              <a:t>Author</a:t>
            </a:r>
          </a:p>
          <a:p>
            <a:pPr algn="l">
              <a:spcAft>
                <a:spcPts val="0"/>
              </a:spcAft>
            </a:pPr>
            <a:r>
              <a:rPr sz="1400" b="0" i="0">
                <a:solidFill>
                  <a:srgbClr val="203247"/>
                </a:solidFill>
                <a:latin typeface="Arial"/>
              </a:rPr>
              <a:t>AI Workbench Local</a:t>
            </a:r>
          </a:p>
        </p:txBody>
      </p:sp>
      <p:sp>
        <p:nvSpPr>
          <p:cNvPr id="8" name="TextBox 7"/>
          <p:cNvSpPr txBox="1"/>
          <p:nvPr/>
        </p:nvSpPr>
        <p:spPr>
          <a:xfrm>
            <a:off x="8458200" y="3325864"/>
            <a:ext cx="2560320" cy="1520455"/>
          </a:xfrm>
          <a:prstGeom prst="rect">
            <a:avLst/>
          </a:prstGeom>
          <a:noFill/>
        </p:spPr>
        <p:txBody>
          <a:bodyPr wrap="square" anchor="t" lIns="0" rIns="0" tIns="0" bIns="0">
            <a:spAutoFit/>
          </a:bodyPr>
          <a:lstStyle/>
          <a:p>
            <a:pPr algn="l">
              <a:spcAft>
                <a:spcPts val="200"/>
              </a:spcAft>
            </a:pPr>
            <a:r>
              <a:rPr sz="1000" b="1" i="0">
                <a:solidFill>
                  <a:srgbClr val="617287"/>
                </a:solidFill>
                <a:latin typeface="Arial"/>
              </a:rPr>
              <a:t>Date</a:t>
            </a:r>
          </a:p>
          <a:p>
            <a:pPr algn="l">
              <a:spcAft>
                <a:spcPts val="0"/>
              </a:spcAft>
            </a:pPr>
            <a:r>
              <a:rPr sz="1400" b="0" i="0">
                <a:solidFill>
                  <a:srgbClr val="203247"/>
                </a:solidFill>
                <a:latin typeface="Arial"/>
              </a:rPr>
              <a:t>2026-04-16</a:t>
            </a:r>
          </a:p>
        </p:txBody>
      </p:sp>
      <p:sp>
        <p:nvSpPr>
          <p:cNvPr id="9" name="TextBox 8"/>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2026-04-16</a:t>
            </a:r>
          </a:p>
        </p:txBody>
      </p:sp>
      <p:sp>
        <p:nvSpPr>
          <p:cNvPr id="10" name="TextBox 9"/>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01 / 06</a:t>
            </a:r>
          </a:p>
        </p:txBody>
      </p:sp>
      <p:cxnSp>
        <p:nvCxnSpPr>
          <p:cNvPr id="11" name="Connector 10"/>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932688"/>
            <a:ext cx="7178040" cy="950976"/>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Executive summary</a:t>
            </a:r>
            <a:endParaRPr sz="2800" b="1" i="0">
              <a:latin typeface="Arial"/>
            </a:endParaRPr>
          </a:p>
        </p:txBody>
      </p:sp>
      <p:sp>
        <p:nvSpPr>
          <p:cNvPr id="3" name="TextBox 2"/>
          <p:cNvSpPr txBox="1"/>
          <p:nvPr/>
        </p:nvSpPr>
        <p:spPr>
          <a:xfrm>
            <a:off x="777240" y="2048256"/>
            <a:ext cx="6450634" cy="1938528"/>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**Executive Comparison:**  
Meridian Holdings' Information Security Policy v3.2 represents a significant advancement over v3.1, addressing critical gaps in incident response timing and access controls while introducing more stringent, time-bound requirements. While v3.1 established foundational controls in privileged access, MFA, log retention, and vendor risk management, it lacked a defined notification window for critical customer-data breaches — a notable weakness that v3.2 resolves by mandating 24-hour escalation for such incidents. v3.2 further strengthens the policy with quarterly privileged access reviews (vs. implicit annual reviews in v3.1), mandatory MFA for all workforce accounts, 12-month tamper-evident log retention, and pre-onboarding vendor security reviews. These enhancements shift the organization from reactive or periodic controls to continuous, enforceable standards, improving regulatory alignment (e.g., GDPR, CCPA) and operational readiness. However, the tighter timelines in v3.2 create a compressed 30-day compliance window effective April 1, 2024, requiring urgent action to revalidate privileged access and close vendor evidence gaps.
**Key Differences and Implications:**  
- v3.2 introduces a 24-hour escalation requirement for customer data incidents, directly addressing v3.1’s critical gap in undefined incident notification timing, reducing regulatory and reputational risk.  
- Privileged access reviews are now quarterly in v3.2 (vs. annual or undefined frequency in v3.1), increasing oversight and reducing standing privilege abuse risk.  
- MFA is mandated for all workforce accounts in v3.2, expanding beyond likely role-based or partial enforcement in v3.1, significantly strengthening identity security.  
- Log retention is explicitly defined as 12-month tamper-evident in v3.2, enhancing forensic readiness and audit integrity compared to v3.1’s less specific retention language.  
- v3.2 requires pre-onboarding security reviews for critical vendors and closes vendor evidence gaps within 30 days, tightening supply chain risk management beyond v3.1’s annual evidence expectations.  
- The April 1, 2024 effective date creates a narrow 30-day compliance window in v3.2, demanding immediate operational effort — a transition burden not present in v3.1’s iterative update cycle.  
**Recommendation:**  
Prioritize rapid implementation of v3.2’s 30-day transition requirements, focusing first on revalidating standing privileged access and completing pre-onboarding vendor security reviews to meet the April 1, 2024 deadline. Simultaneously, deploy the 24-hour incident escalation protocol and tamper-evident logging controls to close the most critical regulatory and operational gaps identified in v3.1. Use v3.2’s structured timelines as a foundation to build continuous monitoring and automated enforcement where possible, ensuring sustained compliance beyond the initial rollout.</a:t>
            </a:r>
            <a:endParaRPr sz="700" b="0" i="0">
              <a:latin typeface="Arial"/>
            </a:endParaRPr>
          </a:p>
        </p:txBody>
      </p:sp>
      <p:sp>
        <p:nvSpPr>
          <p:cNvPr id="4" name="Rounded Rectangle 3"/>
          <p:cNvSpPr/>
          <p:nvPr/>
        </p:nvSpPr>
        <p:spPr>
          <a:xfrm>
            <a:off x="7520482" y="1865376"/>
            <a:ext cx="3863797" cy="31272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520482" y="1865376"/>
            <a:ext cx="3863797" cy="73152"/>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39938" y="2084832"/>
            <a:ext cx="3424885" cy="256032"/>
          </a:xfrm>
          <a:prstGeom prst="rect">
            <a:avLst/>
          </a:prstGeom>
          <a:noFill/>
        </p:spPr>
        <p:txBody>
          <a:bodyPr wrap="square" anchor="t" lIns="0" rIns="0" tIns="0" bIns="0">
            <a:spAutoFit/>
          </a:bodyPr>
          <a:lstStyle/>
          <a:p/>
        </p:txBody>
      </p:sp>
      <p:sp>
        <p:nvSpPr>
          <p:cNvPr id="7" name="TextBox 6"/>
          <p:cNvSpPr txBox="1"/>
          <p:nvPr/>
        </p:nvSpPr>
        <p:spPr>
          <a:xfrm>
            <a:off x="7739938" y="2414016"/>
            <a:ext cx="3424885" cy="2359152"/>
          </a:xfrm>
          <a:prstGeom prst="rect">
            <a:avLst/>
          </a:prstGeom>
          <a:noFill/>
        </p:spPr>
        <p:txBody>
          <a:bodyPr wrap="square" anchor="t" lIns="0" rIns="0" tIns="0" bIns="0">
            <a:noAutofit/>
          </a:bodyPr>
          <a:lstStyle/>
          <a:p>
            <a:pPr algn="l">
              <a:lnSpc>
                <a:spcPct val="100000"/>
              </a:lnSpc>
              <a:spcAft>
                <a:spcPts val="300"/>
              </a:spcAft>
            </a:pPr>
            <a:r>
              <a:rPr sz="900" b="0" i="0">
                <a:solidFill>
                  <a:srgbClr val="203247"/>
                </a:solidFill>
                <a:latin typeface="Arial"/>
              </a:rPr>
              <a:t>• Meridian Holdings' Information Security Policy v3.2 represents a significan…</a:t>
            </a:r>
            <a:endParaRPr sz="1000" b="0" i="0">
              <a:latin typeface="Arial"/>
            </a:endParaRPr>
          </a:p>
          <a:p>
            <a:pPr algn="l">
              <a:lnSpc>
                <a:spcPct val="100000"/>
              </a:lnSpc>
              <a:spcAft>
                <a:spcPts val="300"/>
              </a:spcAft>
            </a:pPr>
            <a:r>
              <a:rPr sz="900" b="0" i="0">
                <a:solidFill>
                  <a:srgbClr val="203247"/>
                </a:solidFill>
                <a:latin typeface="Arial"/>
              </a:rPr>
              <a:t>• **Key Differences and Implications:**</a:t>
            </a:r>
            <a:endParaRPr sz="1000" b="0" i="0">
              <a:latin typeface="Arial"/>
            </a:endParaRPr>
          </a:p>
          <a:p>
            <a:pPr algn="l">
              <a:lnSpc>
                <a:spcPct val="100000"/>
              </a:lnSpc>
              <a:spcAft>
                <a:spcPts val="300"/>
              </a:spcAft>
            </a:pPr>
            <a:r>
              <a:rPr sz="900" b="0" i="0">
                <a:solidFill>
                  <a:srgbClr val="203247"/>
                </a:solidFill>
                <a:latin typeface="Arial"/>
              </a:rPr>
              <a:t>• v3.2 introduces a 24-hour escalation requirement for customer data incident…</a:t>
            </a:r>
            <a:endParaRPr sz="1000" b="0" i="0">
              <a:latin typeface="Arial"/>
            </a:endParaRPr>
          </a:p>
        </p:txBody>
      </p:sp>
      <p:sp>
        <p:nvSpPr>
          <p:cNvPr id="8" name="TextBox 7"/>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2026-04-16</a:t>
            </a:r>
          </a:p>
        </p:txBody>
      </p:sp>
      <p:sp>
        <p:nvSpPr>
          <p:cNvPr id="9" name="TextBox 8"/>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02 / 06</a:t>
            </a:r>
          </a:p>
        </p:txBody>
      </p:sp>
      <p:cxnSp>
        <p:nvCxnSpPr>
          <p:cNvPr id="10" name="Connector 9"/>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685800"/>
            <a:ext cx="4389120" cy="228600"/>
          </a:xfrm>
          <a:prstGeom prst="rect">
            <a:avLst/>
          </a:prstGeom>
          <a:noFill/>
        </p:spPr>
        <p:txBody>
          <a:bodyPr wrap="square" anchor="t" lIns="0" rIns="0" tIns="0" bIns="0">
            <a:spAutoFit/>
          </a:bodyPr>
          <a:lstStyle/>
          <a:p>
            <a:pPr algn="l"/>
            <a:r>
              <a:rPr sz="1000" b="1" i="0">
                <a:solidFill>
                  <a:srgbClr val="B08B5B"/>
                </a:solidFill>
                <a:latin typeface="Arial"/>
              </a:rPr>
              <a:t>KEY METRICS</a:t>
            </a:r>
          </a:p>
        </p:txBody>
      </p:sp>
      <p:sp>
        <p:nvSpPr>
          <p:cNvPr id="3" name="TextBox 2"/>
          <p:cNvSpPr txBox="1"/>
          <p:nvPr/>
        </p:nvSpPr>
        <p:spPr>
          <a:xfrm>
            <a:off x="777240" y="932688"/>
            <a:ext cx="6812280" cy="950976"/>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Executive snapshot</a:t>
            </a:r>
            <a:endParaRPr sz="2800" b="1" i="0">
              <a:latin typeface="Arial"/>
            </a:endParaRPr>
          </a:p>
        </p:txBody>
      </p:sp>
      <p:sp>
        <p:nvSpPr>
          <p:cNvPr id="4" name="Rounded Rectangle 3"/>
          <p:cNvSpPr/>
          <p:nvPr/>
        </p:nvSpPr>
        <p:spPr>
          <a:xfrm>
            <a:off x="777240" y="2212848"/>
            <a:ext cx="2509160" cy="26700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2212848"/>
            <a:ext cx="2509160" cy="73152"/>
          </a:xfrm>
          <a:prstGeom prst="rect">
            <a:avLst/>
          </a:prstGeom>
          <a:solidFill>
            <a:srgbClr val="14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96695" y="2432304"/>
            <a:ext cx="2070248" cy="512064"/>
          </a:xfrm>
          <a:prstGeom prst="rect">
            <a:avLst/>
          </a:prstGeom>
          <a:noFill/>
        </p:spPr>
        <p:txBody>
          <a:bodyPr wrap="square" anchor="t" lIns="0" rIns="0" tIns="0" bIns="0">
            <a:noAutofit/>
          </a:bodyPr>
          <a:lstStyle/>
          <a:p>
            <a:pPr algn="l">
              <a:spcAft>
                <a:spcPts val="0"/>
              </a:spcAft>
            </a:pPr>
            <a:r>
              <a:rPr sz="2400" b="1" i="0">
                <a:solidFill>
                  <a:srgbClr val="14263F"/>
                </a:solidFill>
                <a:latin typeface="Arial"/>
              </a:rPr>
              <a:t>2</a:t>
            </a:r>
            <a:endParaRPr sz="2400" b="1" i="0">
              <a:latin typeface="Arial"/>
            </a:endParaRPr>
          </a:p>
        </p:txBody>
      </p:sp>
      <p:sp>
        <p:nvSpPr>
          <p:cNvPr id="7" name="TextBox 6"/>
          <p:cNvSpPr txBox="1"/>
          <p:nvPr/>
        </p:nvSpPr>
        <p:spPr>
          <a:xfrm>
            <a:off x="996695" y="3017520"/>
            <a:ext cx="2070248" cy="512064"/>
          </a:xfrm>
          <a:prstGeom prst="rect">
            <a:avLst/>
          </a:prstGeom>
          <a:noFill/>
        </p:spPr>
        <p:txBody>
          <a:bodyPr wrap="square" anchor="t" lIns="0" rIns="0" tIns="0" bIns="0">
            <a:noAutofit/>
          </a:bodyPr>
          <a:lstStyle/>
          <a:p>
            <a:pPr algn="l">
              <a:spcAft>
                <a:spcPts val="0"/>
              </a:spcAft>
            </a:pPr>
            <a:r>
              <a:rPr sz="1200" b="1" i="0">
                <a:solidFill>
                  <a:srgbClr val="203247"/>
                </a:solidFill>
                <a:latin typeface="Arial"/>
              </a:rPr>
              <a:t>Compared docs</a:t>
            </a:r>
            <a:endParaRPr sz="1200" b="1" i="0">
              <a:latin typeface="Arial"/>
            </a:endParaRPr>
          </a:p>
        </p:txBody>
      </p:sp>
      <p:sp>
        <p:nvSpPr>
          <p:cNvPr id="8" name="Rounded Rectangle 7"/>
          <p:cNvSpPr/>
          <p:nvPr/>
        </p:nvSpPr>
        <p:spPr>
          <a:xfrm>
            <a:off x="3524144" y="2212848"/>
            <a:ext cx="2437743" cy="26700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524144" y="2212848"/>
            <a:ext cx="2437743" cy="73152"/>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43600" y="2432304"/>
            <a:ext cx="1998831" cy="512064"/>
          </a:xfrm>
          <a:prstGeom prst="rect">
            <a:avLst/>
          </a:prstGeom>
          <a:noFill/>
        </p:spPr>
        <p:txBody>
          <a:bodyPr wrap="square" anchor="t" lIns="0" rIns="0" tIns="0" bIns="0">
            <a:noAutofit/>
          </a:bodyPr>
          <a:lstStyle/>
          <a:p>
            <a:pPr algn="l">
              <a:spcAft>
                <a:spcPts val="0"/>
              </a:spcAft>
            </a:pPr>
            <a:r>
              <a:rPr sz="2400" b="1" i="0">
                <a:solidFill>
                  <a:srgbClr val="14263F"/>
                </a:solidFill>
                <a:latin typeface="Arial"/>
              </a:rPr>
              <a:t>8</a:t>
            </a:r>
            <a:endParaRPr sz="2400" b="1" i="0">
              <a:latin typeface="Arial"/>
            </a:endParaRPr>
          </a:p>
        </p:txBody>
      </p:sp>
      <p:sp>
        <p:nvSpPr>
          <p:cNvPr id="11" name="TextBox 10"/>
          <p:cNvSpPr txBox="1"/>
          <p:nvPr/>
        </p:nvSpPr>
        <p:spPr>
          <a:xfrm>
            <a:off x="3743600" y="3017520"/>
            <a:ext cx="1998831" cy="512064"/>
          </a:xfrm>
          <a:prstGeom prst="rect">
            <a:avLst/>
          </a:prstGeom>
          <a:noFill/>
        </p:spPr>
        <p:txBody>
          <a:bodyPr wrap="square" anchor="t" lIns="0" rIns="0" tIns="0" bIns="0">
            <a:noAutofit/>
          </a:bodyPr>
          <a:lstStyle/>
          <a:p>
            <a:pPr algn="l">
              <a:spcAft>
                <a:spcPts val="0"/>
              </a:spcAft>
            </a:pPr>
            <a:r>
              <a:rPr sz="1200" b="1" i="0">
                <a:solidFill>
                  <a:srgbClr val="203247"/>
                </a:solidFill>
                <a:latin typeface="Arial"/>
              </a:rPr>
              <a:t>Findings</a:t>
            </a:r>
            <a:endParaRPr sz="1200" b="1" i="0">
              <a:latin typeface="Arial"/>
            </a:endParaRPr>
          </a:p>
        </p:txBody>
      </p:sp>
      <p:sp>
        <p:nvSpPr>
          <p:cNvPr id="12" name="Rounded Rectangle 11"/>
          <p:cNvSpPr/>
          <p:nvPr/>
        </p:nvSpPr>
        <p:spPr>
          <a:xfrm>
            <a:off x="6199632" y="2212848"/>
            <a:ext cx="2437743" cy="26700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9632" y="2212848"/>
            <a:ext cx="2437743" cy="73152"/>
          </a:xfrm>
          <a:prstGeom prst="rect">
            <a:avLst/>
          </a:prstGeom>
          <a:solidFill>
            <a:srgbClr val="14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19088" y="2432304"/>
            <a:ext cx="1998831" cy="512064"/>
          </a:xfrm>
          <a:prstGeom prst="rect">
            <a:avLst/>
          </a:prstGeom>
          <a:noFill/>
        </p:spPr>
        <p:txBody>
          <a:bodyPr wrap="square" anchor="t" lIns="0" rIns="0" tIns="0" bIns="0">
            <a:noAutofit/>
          </a:bodyPr>
          <a:lstStyle/>
          <a:p>
            <a:pPr algn="l">
              <a:spcAft>
                <a:spcPts val="0"/>
              </a:spcAft>
            </a:pPr>
            <a:r>
              <a:rPr sz="2400" b="1" i="0">
                <a:solidFill>
                  <a:srgbClr val="14263F"/>
                </a:solidFill>
                <a:latin typeface="Arial"/>
              </a:rPr>
              <a:t>4</a:t>
            </a:r>
            <a:endParaRPr sz="2400" b="1" i="0">
              <a:latin typeface="Arial"/>
            </a:endParaRPr>
          </a:p>
        </p:txBody>
      </p:sp>
      <p:sp>
        <p:nvSpPr>
          <p:cNvPr id="15" name="TextBox 14"/>
          <p:cNvSpPr txBox="1"/>
          <p:nvPr/>
        </p:nvSpPr>
        <p:spPr>
          <a:xfrm>
            <a:off x="6419088" y="3017520"/>
            <a:ext cx="1998831" cy="512064"/>
          </a:xfrm>
          <a:prstGeom prst="rect">
            <a:avLst/>
          </a:prstGeom>
          <a:noFill/>
        </p:spPr>
        <p:txBody>
          <a:bodyPr wrap="square" anchor="t" lIns="0" rIns="0" tIns="0" bIns="0">
            <a:noAutofit/>
          </a:bodyPr>
          <a:lstStyle/>
          <a:p>
            <a:pPr algn="l">
              <a:spcAft>
                <a:spcPts val="0"/>
              </a:spcAft>
            </a:pPr>
            <a:r>
              <a:rPr sz="1200" b="1" i="0">
                <a:solidFill>
                  <a:srgbClr val="203247"/>
                </a:solidFill>
                <a:latin typeface="Arial"/>
              </a:rPr>
              <a:t>Sources</a:t>
            </a:r>
            <a:endParaRPr sz="1200" b="1" i="0">
              <a:latin typeface="Arial"/>
            </a:endParaRPr>
          </a:p>
        </p:txBody>
      </p:sp>
      <p:sp>
        <p:nvSpPr>
          <p:cNvPr id="16" name="Rounded Rectangle 15"/>
          <p:cNvSpPr/>
          <p:nvPr/>
        </p:nvSpPr>
        <p:spPr>
          <a:xfrm>
            <a:off x="8875119" y="2212848"/>
            <a:ext cx="2509160" cy="26700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875119" y="2212848"/>
            <a:ext cx="2509160" cy="73152"/>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94575" y="2432304"/>
            <a:ext cx="2070248" cy="512064"/>
          </a:xfrm>
          <a:prstGeom prst="rect">
            <a:avLst/>
          </a:prstGeom>
          <a:noFill/>
        </p:spPr>
        <p:txBody>
          <a:bodyPr wrap="square" anchor="t" lIns="0" rIns="0" tIns="0" bIns="0">
            <a:noAutofit/>
          </a:bodyPr>
          <a:lstStyle/>
          <a:p>
            <a:pPr algn="l">
              <a:spcAft>
                <a:spcPts val="0"/>
              </a:spcAft>
            </a:pPr>
            <a:r>
              <a:rPr sz="2400" b="1" i="0">
                <a:solidFill>
                  <a:srgbClr val="14263F"/>
                </a:solidFill>
                <a:latin typeface="Arial"/>
              </a:rPr>
              <a:t>No</a:t>
            </a:r>
            <a:endParaRPr sz="2400" b="1" i="0">
              <a:latin typeface="Arial"/>
            </a:endParaRPr>
          </a:p>
        </p:txBody>
      </p:sp>
      <p:sp>
        <p:nvSpPr>
          <p:cNvPr id="19" name="TextBox 18"/>
          <p:cNvSpPr txBox="1"/>
          <p:nvPr/>
        </p:nvSpPr>
        <p:spPr>
          <a:xfrm>
            <a:off x="9094575" y="3017520"/>
            <a:ext cx="2070248" cy="512064"/>
          </a:xfrm>
          <a:prstGeom prst="rect">
            <a:avLst/>
          </a:prstGeom>
          <a:noFill/>
        </p:spPr>
        <p:txBody>
          <a:bodyPr wrap="square" anchor="t" lIns="0" rIns="0" tIns="0" bIns="0">
            <a:noAutofit/>
          </a:bodyPr>
          <a:lstStyle/>
          <a:p>
            <a:pPr algn="l">
              <a:spcAft>
                <a:spcPts val="0"/>
              </a:spcAft>
            </a:pPr>
            <a:r>
              <a:rPr sz="1200" b="1" i="0">
                <a:solidFill>
                  <a:srgbClr val="203247"/>
                </a:solidFill>
                <a:latin typeface="Arial"/>
              </a:rPr>
              <a:t>Needs review</a:t>
            </a:r>
            <a:endParaRPr sz="1200" b="1" i="0">
              <a:latin typeface="Arial"/>
            </a:endParaRPr>
          </a:p>
        </p:txBody>
      </p:sp>
      <p:sp>
        <p:nvSpPr>
          <p:cNvPr id="20" name="TextBox 19"/>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2026-04-16</a:t>
            </a:r>
          </a:p>
        </p:txBody>
      </p:sp>
      <p:sp>
        <p:nvSpPr>
          <p:cNvPr id="21" name="TextBox 20"/>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03 / 06</a:t>
            </a:r>
          </a:p>
        </p:txBody>
      </p:sp>
      <p:cxnSp>
        <p:nvCxnSpPr>
          <p:cNvPr id="22" name="Connector 21"/>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685800"/>
            <a:ext cx="4389120" cy="228600"/>
          </a:xfrm>
          <a:prstGeom prst="rect">
            <a:avLst/>
          </a:prstGeom>
          <a:noFill/>
        </p:spPr>
        <p:txBody>
          <a:bodyPr wrap="square" anchor="t" lIns="0" rIns="0" tIns="0" bIns="0">
            <a:spAutoFit/>
          </a:bodyPr>
          <a:lstStyle/>
          <a:p>
            <a:pPr algn="l"/>
            <a:r>
              <a:rPr sz="1000" b="1" i="0">
                <a:solidFill>
                  <a:srgbClr val="B08B5B"/>
                </a:solidFill>
                <a:latin typeface="Arial"/>
              </a:rPr>
              <a:t>EXECUTIVE TABLE</a:t>
            </a:r>
          </a:p>
        </p:txBody>
      </p:sp>
      <p:sp>
        <p:nvSpPr>
          <p:cNvPr id="3" name="TextBox 2"/>
          <p:cNvSpPr txBox="1"/>
          <p:nvPr/>
        </p:nvSpPr>
        <p:spPr>
          <a:xfrm>
            <a:off x="777240" y="932688"/>
            <a:ext cx="7498079" cy="950976"/>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Comparison findings</a:t>
            </a:r>
            <a:endParaRPr sz="2800" b="1" i="0">
              <a:latin typeface="Arial"/>
            </a:endParaRPr>
          </a:p>
        </p:txBody>
      </p:sp>
      <p:sp>
        <p:nvSpPr>
          <p:cNvPr id="4" name="Rounded Rectangle 3"/>
          <p:cNvSpPr/>
          <p:nvPr/>
        </p:nvSpPr>
        <p:spPr>
          <a:xfrm>
            <a:off x="777240" y="1920240"/>
            <a:ext cx="2352634" cy="457200"/>
          </a:xfrm>
          <a:prstGeom prst="roundRect">
            <a:avLst/>
          </a:prstGeom>
          <a:solidFill>
            <a:srgbClr val="EEF1F4"/>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7" y="1984248"/>
            <a:ext cx="2224618" cy="329184"/>
          </a:xfrm>
          <a:prstGeom prst="rect">
            <a:avLst/>
          </a:prstGeom>
          <a:noFill/>
        </p:spPr>
        <p:txBody>
          <a:bodyPr wrap="square" anchor="t" lIns="0" rIns="0" tIns="0" bIns="0">
            <a:noAutofit/>
          </a:bodyPr>
          <a:lstStyle/>
          <a:p>
            <a:pPr algn="ctr">
              <a:spcAft>
                <a:spcPts val="0"/>
              </a:spcAft>
            </a:pPr>
            <a:r>
              <a:rPr sz="1100" b="1" i="0">
                <a:solidFill>
                  <a:srgbClr val="14263F"/>
                </a:solidFill>
                <a:latin typeface="Arial"/>
              </a:rPr>
              <a:t>Type</a:t>
            </a:r>
            <a:endParaRPr sz="1100" b="1" i="0">
              <a:latin typeface="Arial"/>
            </a:endParaRPr>
          </a:p>
        </p:txBody>
      </p:sp>
      <p:sp>
        <p:nvSpPr>
          <p:cNvPr id="6" name="Rounded Rectangle 5"/>
          <p:cNvSpPr/>
          <p:nvPr/>
        </p:nvSpPr>
        <p:spPr>
          <a:xfrm>
            <a:off x="3175594" y="1920240"/>
            <a:ext cx="2705748" cy="457200"/>
          </a:xfrm>
          <a:prstGeom prst="roundRect">
            <a:avLst/>
          </a:prstGeom>
          <a:solidFill>
            <a:srgbClr val="EEF1F4"/>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39602" y="1984248"/>
            <a:ext cx="2577732" cy="329184"/>
          </a:xfrm>
          <a:prstGeom prst="rect">
            <a:avLst/>
          </a:prstGeom>
          <a:noFill/>
        </p:spPr>
        <p:txBody>
          <a:bodyPr wrap="square" anchor="t" lIns="0" rIns="0" tIns="0" bIns="0">
            <a:noAutofit/>
          </a:bodyPr>
          <a:lstStyle/>
          <a:p>
            <a:pPr algn="ctr">
              <a:spcAft>
                <a:spcPts val="0"/>
              </a:spcAft>
            </a:pPr>
            <a:r>
              <a:rPr sz="1100" b="1" i="0">
                <a:solidFill>
                  <a:srgbClr val="14263F"/>
                </a:solidFill>
                <a:latin typeface="Arial"/>
              </a:rPr>
              <a:t>Finding</a:t>
            </a:r>
            <a:endParaRPr sz="1100" b="1" i="0">
              <a:latin typeface="Arial"/>
            </a:endParaRPr>
          </a:p>
        </p:txBody>
      </p:sp>
      <p:sp>
        <p:nvSpPr>
          <p:cNvPr id="8" name="Rounded Rectangle 7"/>
          <p:cNvSpPr/>
          <p:nvPr/>
        </p:nvSpPr>
        <p:spPr>
          <a:xfrm>
            <a:off x="5927063" y="1920240"/>
            <a:ext cx="2705748" cy="457200"/>
          </a:xfrm>
          <a:prstGeom prst="roundRect">
            <a:avLst/>
          </a:prstGeom>
          <a:solidFill>
            <a:srgbClr val="EEF1F4"/>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91071" y="1984248"/>
            <a:ext cx="2577732" cy="329184"/>
          </a:xfrm>
          <a:prstGeom prst="rect">
            <a:avLst/>
          </a:prstGeom>
          <a:noFill/>
        </p:spPr>
        <p:txBody>
          <a:bodyPr wrap="square" anchor="t" lIns="0" rIns="0" tIns="0" bIns="0">
            <a:noAutofit/>
          </a:bodyPr>
          <a:lstStyle/>
          <a:p>
            <a:pPr algn="ctr">
              <a:spcAft>
                <a:spcPts val="0"/>
              </a:spcAft>
            </a:pPr>
            <a:r>
              <a:rPr sz="1100" b="1" i="0">
                <a:solidFill>
                  <a:srgbClr val="14263F"/>
                </a:solidFill>
                <a:latin typeface="Arial"/>
              </a:rPr>
              <a:t>Documents</a:t>
            </a:r>
            <a:endParaRPr sz="1100" b="1" i="0">
              <a:latin typeface="Arial"/>
            </a:endParaRPr>
          </a:p>
        </p:txBody>
      </p:sp>
      <p:sp>
        <p:nvSpPr>
          <p:cNvPr id="10" name="Rounded Rectangle 9"/>
          <p:cNvSpPr/>
          <p:nvPr/>
        </p:nvSpPr>
        <p:spPr>
          <a:xfrm>
            <a:off x="8678531" y="1920240"/>
            <a:ext cx="2705748" cy="457200"/>
          </a:xfrm>
          <a:prstGeom prst="roundRect">
            <a:avLst/>
          </a:prstGeom>
          <a:solidFill>
            <a:srgbClr val="EEF1F4"/>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42539" y="1984248"/>
            <a:ext cx="2577732" cy="329184"/>
          </a:xfrm>
          <a:prstGeom prst="rect">
            <a:avLst/>
          </a:prstGeom>
          <a:noFill/>
        </p:spPr>
        <p:txBody>
          <a:bodyPr wrap="square" anchor="t" lIns="0" rIns="0" tIns="0" bIns="0">
            <a:noAutofit/>
          </a:bodyPr>
          <a:lstStyle/>
          <a:p>
            <a:pPr algn="ctr">
              <a:spcAft>
                <a:spcPts val="0"/>
              </a:spcAft>
            </a:pPr>
            <a:r>
              <a:rPr sz="1100" b="1" i="0">
                <a:solidFill>
                  <a:srgbClr val="14263F"/>
                </a:solidFill>
                <a:latin typeface="Arial"/>
              </a:rPr>
              <a:t>Evidence</a:t>
            </a:r>
            <a:endParaRPr sz="1100" b="1" i="0">
              <a:latin typeface="Arial"/>
            </a:endParaRPr>
          </a:p>
        </p:txBody>
      </p:sp>
      <p:sp>
        <p:nvSpPr>
          <p:cNvPr id="12" name="Rounded Rectangle 11"/>
          <p:cNvSpPr/>
          <p:nvPr/>
        </p:nvSpPr>
        <p:spPr>
          <a:xfrm>
            <a:off x="777240" y="2450592"/>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7" y="2514600"/>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document_summary</a:t>
            </a:r>
            <a:endParaRPr sz="1000" b="0" i="0">
              <a:latin typeface="Arial"/>
            </a:endParaRPr>
          </a:p>
        </p:txBody>
      </p:sp>
      <p:sp>
        <p:nvSpPr>
          <p:cNvPr id="14" name="Rounded Rectangle 13"/>
          <p:cNvSpPr/>
          <p:nvPr/>
        </p:nvSpPr>
        <p:spPr>
          <a:xfrm>
            <a:off x="3175594" y="245059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39602" y="2514600"/>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Summary of Information Security Policy v3.1.pdf (pdf)</a:t>
            </a:r>
            <a:endParaRPr sz="1000" b="0" i="0">
              <a:latin typeface="Arial"/>
            </a:endParaRPr>
          </a:p>
        </p:txBody>
      </p:sp>
      <p:sp>
        <p:nvSpPr>
          <p:cNvPr id="16" name="Rounded Rectangle 15"/>
          <p:cNvSpPr/>
          <p:nvPr/>
        </p:nvSpPr>
        <p:spPr>
          <a:xfrm>
            <a:off x="5927063" y="245059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91071" y="2514600"/>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Information Security Policy v3.1.pdf (pdf)</a:t>
            </a:r>
            <a:endParaRPr sz="1000" b="0" i="0">
              <a:latin typeface="Arial"/>
            </a:endParaRPr>
          </a:p>
        </p:txBody>
      </p:sp>
      <p:sp>
        <p:nvSpPr>
          <p:cNvPr id="18" name="Rounded Rectangle 17"/>
          <p:cNvSpPr/>
          <p:nvPr/>
        </p:nvSpPr>
        <p:spPr>
          <a:xfrm>
            <a:off x="8678531" y="245059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42539" y="2514600"/>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The policy strengthens identity and access management through formal approval workflows and MFA enforcement, reducing u…</a:t>
            </a:r>
            <a:endParaRPr sz="700" b="0" i="0">
              <a:latin typeface="Arial"/>
            </a:endParaRPr>
          </a:p>
        </p:txBody>
      </p:sp>
      <p:sp>
        <p:nvSpPr>
          <p:cNvPr id="20" name="Rounded Rectangle 19"/>
          <p:cNvSpPr/>
          <p:nvPr/>
        </p:nvSpPr>
        <p:spPr>
          <a:xfrm>
            <a:off x="777240" y="2910078"/>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7" y="2974086"/>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document_summary</a:t>
            </a:r>
            <a:endParaRPr sz="1000" b="0" i="0">
              <a:latin typeface="Arial"/>
            </a:endParaRPr>
          </a:p>
        </p:txBody>
      </p:sp>
      <p:sp>
        <p:nvSpPr>
          <p:cNvPr id="22" name="Rounded Rectangle 21"/>
          <p:cNvSpPr/>
          <p:nvPr/>
        </p:nvSpPr>
        <p:spPr>
          <a:xfrm>
            <a:off x="3175594" y="291007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39602" y="2974086"/>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Summary of Information Security Policy v3.2.pdf (pdf)</a:t>
            </a:r>
            <a:endParaRPr sz="1000" b="0" i="0">
              <a:latin typeface="Arial"/>
            </a:endParaRPr>
          </a:p>
        </p:txBody>
      </p:sp>
      <p:sp>
        <p:nvSpPr>
          <p:cNvPr id="24" name="Rounded Rectangle 23"/>
          <p:cNvSpPr/>
          <p:nvPr/>
        </p:nvSpPr>
        <p:spPr>
          <a:xfrm>
            <a:off x="5927063" y="291007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91071" y="2974086"/>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Information Security Policy v3.2.pdf (pdf)</a:t>
            </a:r>
            <a:endParaRPr sz="1000" b="0" i="0">
              <a:latin typeface="Arial"/>
            </a:endParaRPr>
          </a:p>
        </p:txBody>
      </p:sp>
      <p:sp>
        <p:nvSpPr>
          <p:cNvPr id="26" name="Rounded Rectangle 25"/>
          <p:cNvSpPr/>
          <p:nvPr/>
        </p:nvSpPr>
        <p:spPr>
          <a:xfrm>
            <a:off x="8678531" y="291007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42539" y="2974086"/>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The policy shifts from reactive or periodic controls to continuous, time-bound enforcement mechanisms. | Increased focu…</a:t>
            </a:r>
            <a:endParaRPr sz="700" b="0" i="0">
              <a:latin typeface="Arial"/>
            </a:endParaRPr>
          </a:p>
        </p:txBody>
      </p:sp>
      <p:sp>
        <p:nvSpPr>
          <p:cNvPr id="28" name="Rounded Rectangle 27"/>
          <p:cNvSpPr/>
          <p:nvPr/>
        </p:nvSpPr>
        <p:spPr>
          <a:xfrm>
            <a:off x="777240" y="3369564"/>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1247" y="3433572"/>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approval_change</a:t>
            </a:r>
            <a:endParaRPr sz="1000" b="0" i="0">
              <a:latin typeface="Arial"/>
            </a:endParaRPr>
          </a:p>
        </p:txBody>
      </p:sp>
      <p:sp>
        <p:nvSpPr>
          <p:cNvPr id="30" name="Rounded Rectangle 29"/>
          <p:cNvSpPr/>
          <p:nvPr/>
        </p:nvSpPr>
        <p:spPr>
          <a:xfrm>
            <a:off x="3175594" y="336956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39602" y="3433572"/>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Meridian Holdings' Information Security Policy v3.2 represents a…</a:t>
            </a:r>
            <a:endParaRPr sz="1000" b="0" i="0">
              <a:latin typeface="Arial"/>
            </a:endParaRPr>
          </a:p>
        </p:txBody>
      </p:sp>
      <p:sp>
        <p:nvSpPr>
          <p:cNvPr id="32" name="Rounded Rectangle 31"/>
          <p:cNvSpPr/>
          <p:nvPr/>
        </p:nvSpPr>
        <p:spPr>
          <a:xfrm>
            <a:off x="5927063" y="336956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991071" y="3433572"/>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Information Security Policy v3.1.pdf (pdf), Information Security Policy v3.2.pdf (pdf)</a:t>
            </a:r>
            <a:endParaRPr sz="1000" b="0" i="0">
              <a:latin typeface="Arial"/>
            </a:endParaRPr>
          </a:p>
        </p:txBody>
      </p:sp>
      <p:sp>
        <p:nvSpPr>
          <p:cNvPr id="34" name="Rounded Rectangle 33"/>
          <p:cNvSpPr/>
          <p:nvPr/>
        </p:nvSpPr>
        <p:spPr>
          <a:xfrm>
            <a:off x="8678531" y="336956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742539" y="3433572"/>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Information Security Policy v3.1.pdf (pdf): Meridian Holdings' Information Security Policy v3.1 establishes foundationa…</a:t>
            </a:r>
            <a:endParaRPr sz="700" b="0" i="0">
              <a:latin typeface="Arial"/>
            </a:endParaRPr>
          </a:p>
        </p:txBody>
      </p:sp>
      <p:sp>
        <p:nvSpPr>
          <p:cNvPr id="36" name="Rounded Rectangle 35"/>
          <p:cNvSpPr/>
          <p:nvPr/>
        </p:nvSpPr>
        <p:spPr>
          <a:xfrm>
            <a:off x="777240" y="3829050"/>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1247" y="3893058"/>
            <a:ext cx="2224618"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cross_document_observation</a:t>
            </a:r>
            <a:endParaRPr sz="1000" b="0" i="0">
              <a:latin typeface="Arial"/>
            </a:endParaRPr>
          </a:p>
        </p:txBody>
      </p:sp>
      <p:sp>
        <p:nvSpPr>
          <p:cNvPr id="38" name="Rounded Rectangle 37"/>
          <p:cNvSpPr/>
          <p:nvPr/>
        </p:nvSpPr>
        <p:spPr>
          <a:xfrm>
            <a:off x="3175594" y="3829050"/>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239602" y="3893058"/>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**Key Differences and Implications:**</a:t>
            </a:r>
            <a:endParaRPr sz="1000" b="0" i="0">
              <a:latin typeface="Arial"/>
            </a:endParaRPr>
          </a:p>
        </p:txBody>
      </p:sp>
      <p:sp>
        <p:nvSpPr>
          <p:cNvPr id="40" name="Rounded Rectangle 39"/>
          <p:cNvSpPr/>
          <p:nvPr/>
        </p:nvSpPr>
        <p:spPr>
          <a:xfrm>
            <a:off x="5927063" y="3829050"/>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991071" y="3893058"/>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Information Security Policy v3.1.pdf (pdf), Information Security Policy v3.2.pdf (pdf)</a:t>
            </a:r>
            <a:endParaRPr sz="1000" b="0" i="0">
              <a:latin typeface="Arial"/>
            </a:endParaRPr>
          </a:p>
        </p:txBody>
      </p:sp>
      <p:sp>
        <p:nvSpPr>
          <p:cNvPr id="42" name="Rounded Rectangle 41"/>
          <p:cNvSpPr/>
          <p:nvPr/>
        </p:nvSpPr>
        <p:spPr>
          <a:xfrm>
            <a:off x="8678531" y="3829050"/>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742539" y="3893058"/>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Information Security Policy v3.1.pdf (pdf): Meridian Holdings' Information Security Policy v3.1 establishes foundationa…</a:t>
            </a:r>
            <a:endParaRPr sz="700" b="0" i="0">
              <a:latin typeface="Arial"/>
            </a:endParaRPr>
          </a:p>
        </p:txBody>
      </p:sp>
      <p:sp>
        <p:nvSpPr>
          <p:cNvPr id="44" name="Rounded Rectangle 43"/>
          <p:cNvSpPr/>
          <p:nvPr/>
        </p:nvSpPr>
        <p:spPr>
          <a:xfrm>
            <a:off x="777240" y="4288536"/>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41247" y="4352544"/>
            <a:ext cx="2224618"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incident_response_delta</a:t>
            </a:r>
            <a:endParaRPr sz="1000" b="0" i="0">
              <a:latin typeface="Arial"/>
            </a:endParaRPr>
          </a:p>
        </p:txBody>
      </p:sp>
      <p:sp>
        <p:nvSpPr>
          <p:cNvPr id="46" name="Rounded Rectangle 45"/>
          <p:cNvSpPr/>
          <p:nvPr/>
        </p:nvSpPr>
        <p:spPr>
          <a:xfrm>
            <a:off x="3175594" y="4288536"/>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239602" y="4352544"/>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v3.2 introduces a 24-hour escalation requirement for customer…</a:t>
            </a:r>
            <a:endParaRPr sz="1000" b="0" i="0">
              <a:latin typeface="Arial"/>
            </a:endParaRPr>
          </a:p>
        </p:txBody>
      </p:sp>
      <p:sp>
        <p:nvSpPr>
          <p:cNvPr id="48" name="Rounded Rectangle 47"/>
          <p:cNvSpPr/>
          <p:nvPr/>
        </p:nvSpPr>
        <p:spPr>
          <a:xfrm>
            <a:off x="5927063" y="4288536"/>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991071" y="4352544"/>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Information Security Policy v3.1.pdf (pdf), Information Security Policy v3.2.pdf (pdf)</a:t>
            </a:r>
            <a:endParaRPr sz="1000" b="0" i="0">
              <a:latin typeface="Arial"/>
            </a:endParaRPr>
          </a:p>
        </p:txBody>
      </p:sp>
      <p:sp>
        <p:nvSpPr>
          <p:cNvPr id="50" name="Rounded Rectangle 49"/>
          <p:cNvSpPr/>
          <p:nvPr/>
        </p:nvSpPr>
        <p:spPr>
          <a:xfrm>
            <a:off x="8678531" y="4288536"/>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742539" y="4352544"/>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Information Security Policy v3.1.pdf (pdf): Meridian Holdings' Information Security Policy v3.1 establishes foundationa…</a:t>
            </a:r>
            <a:endParaRPr sz="700" b="0" i="0">
              <a:latin typeface="Arial"/>
            </a:endParaRPr>
          </a:p>
        </p:txBody>
      </p:sp>
      <p:sp>
        <p:nvSpPr>
          <p:cNvPr id="52" name="Rounded Rectangle 51"/>
          <p:cNvSpPr/>
          <p:nvPr/>
        </p:nvSpPr>
        <p:spPr>
          <a:xfrm>
            <a:off x="777240" y="4748022"/>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41247" y="4812030"/>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approval_change</a:t>
            </a:r>
            <a:endParaRPr sz="1000" b="0" i="0">
              <a:latin typeface="Arial"/>
            </a:endParaRPr>
          </a:p>
        </p:txBody>
      </p:sp>
      <p:sp>
        <p:nvSpPr>
          <p:cNvPr id="54" name="Rounded Rectangle 53"/>
          <p:cNvSpPr/>
          <p:nvPr/>
        </p:nvSpPr>
        <p:spPr>
          <a:xfrm>
            <a:off x="3175594" y="474802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239602" y="4812030"/>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Privileged access reviews are now quarterly in v3.2…</a:t>
            </a:r>
            <a:endParaRPr sz="1000" b="0" i="0">
              <a:latin typeface="Arial"/>
            </a:endParaRPr>
          </a:p>
        </p:txBody>
      </p:sp>
      <p:sp>
        <p:nvSpPr>
          <p:cNvPr id="56" name="Rounded Rectangle 55"/>
          <p:cNvSpPr/>
          <p:nvPr/>
        </p:nvSpPr>
        <p:spPr>
          <a:xfrm>
            <a:off x="5927063" y="474802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991071" y="4812030"/>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Information Security Policy v3.1.pdf (pdf), Information Security Policy v3.2.pdf (pdf)</a:t>
            </a:r>
            <a:endParaRPr sz="1000" b="0" i="0">
              <a:latin typeface="Arial"/>
            </a:endParaRPr>
          </a:p>
        </p:txBody>
      </p:sp>
      <p:sp>
        <p:nvSpPr>
          <p:cNvPr id="58" name="Rounded Rectangle 57"/>
          <p:cNvSpPr/>
          <p:nvPr/>
        </p:nvSpPr>
        <p:spPr>
          <a:xfrm>
            <a:off x="8678531" y="474802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742539" y="4812030"/>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Information Security Policy v3.1.pdf (pdf): Meridian Holdings' Information Security Policy v3.1 establishes foundationa…</a:t>
            </a:r>
            <a:endParaRPr sz="700" b="0" i="0">
              <a:latin typeface="Arial"/>
            </a:endParaRPr>
          </a:p>
        </p:txBody>
      </p:sp>
      <p:sp>
        <p:nvSpPr>
          <p:cNvPr id="60" name="Rounded Rectangle 59"/>
          <p:cNvSpPr/>
          <p:nvPr/>
        </p:nvSpPr>
        <p:spPr>
          <a:xfrm>
            <a:off x="777240" y="5207508"/>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41247" y="5271516"/>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identity_control_delta</a:t>
            </a:r>
            <a:endParaRPr sz="1000" b="0" i="0">
              <a:latin typeface="Arial"/>
            </a:endParaRPr>
          </a:p>
        </p:txBody>
      </p:sp>
      <p:sp>
        <p:nvSpPr>
          <p:cNvPr id="62" name="Rounded Rectangle 61"/>
          <p:cNvSpPr/>
          <p:nvPr/>
        </p:nvSpPr>
        <p:spPr>
          <a:xfrm>
            <a:off x="3175594" y="520750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239602" y="5271516"/>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MFA is mandated for all workforce accounts in…</a:t>
            </a:r>
            <a:endParaRPr sz="1000" b="0" i="0">
              <a:latin typeface="Arial"/>
            </a:endParaRPr>
          </a:p>
        </p:txBody>
      </p:sp>
      <p:sp>
        <p:nvSpPr>
          <p:cNvPr id="64" name="Rounded Rectangle 63"/>
          <p:cNvSpPr/>
          <p:nvPr/>
        </p:nvSpPr>
        <p:spPr>
          <a:xfrm>
            <a:off x="5927063" y="520750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991071" y="5271516"/>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Information Security Policy v3.1.pdf (pdf), Information Security Policy v3.2.pdf (pdf)</a:t>
            </a:r>
            <a:endParaRPr sz="1000" b="0" i="0">
              <a:latin typeface="Arial"/>
            </a:endParaRPr>
          </a:p>
        </p:txBody>
      </p:sp>
      <p:sp>
        <p:nvSpPr>
          <p:cNvPr id="66" name="Rounded Rectangle 65"/>
          <p:cNvSpPr/>
          <p:nvPr/>
        </p:nvSpPr>
        <p:spPr>
          <a:xfrm>
            <a:off x="8678531" y="520750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742539" y="5271516"/>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Information Security Policy v3.1.pdf (pdf): Meridian Holdings' Information Security Policy v3.1 establishes foundationa…</a:t>
            </a:r>
            <a:endParaRPr sz="700" b="0" i="0">
              <a:latin typeface="Arial"/>
            </a:endParaRPr>
          </a:p>
        </p:txBody>
      </p:sp>
      <p:sp>
        <p:nvSpPr>
          <p:cNvPr id="68" name="Rounded Rectangle 67"/>
          <p:cNvSpPr/>
          <p:nvPr/>
        </p:nvSpPr>
        <p:spPr>
          <a:xfrm>
            <a:off x="777240" y="5666994"/>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41247" y="5731002"/>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retention_delta</a:t>
            </a:r>
            <a:endParaRPr sz="1000" b="0" i="0">
              <a:latin typeface="Arial"/>
            </a:endParaRPr>
          </a:p>
        </p:txBody>
      </p:sp>
      <p:sp>
        <p:nvSpPr>
          <p:cNvPr id="70" name="Rounded Rectangle 69"/>
          <p:cNvSpPr/>
          <p:nvPr/>
        </p:nvSpPr>
        <p:spPr>
          <a:xfrm>
            <a:off x="3175594" y="566699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239602" y="5731002"/>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Log retention is explicitly defined as 12-month tamper-evident…</a:t>
            </a:r>
            <a:endParaRPr sz="1000" b="0" i="0">
              <a:latin typeface="Arial"/>
            </a:endParaRPr>
          </a:p>
        </p:txBody>
      </p:sp>
      <p:sp>
        <p:nvSpPr>
          <p:cNvPr id="72" name="Rounded Rectangle 71"/>
          <p:cNvSpPr/>
          <p:nvPr/>
        </p:nvSpPr>
        <p:spPr>
          <a:xfrm>
            <a:off x="5927063" y="566699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991071" y="5731002"/>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Information Security Policy v3.1.pdf (pdf), Information Security Policy v3.2.pdf (pdf)</a:t>
            </a:r>
            <a:endParaRPr sz="1000" b="0" i="0">
              <a:latin typeface="Arial"/>
            </a:endParaRPr>
          </a:p>
        </p:txBody>
      </p:sp>
      <p:sp>
        <p:nvSpPr>
          <p:cNvPr id="74" name="Rounded Rectangle 73"/>
          <p:cNvSpPr/>
          <p:nvPr/>
        </p:nvSpPr>
        <p:spPr>
          <a:xfrm>
            <a:off x="8678531" y="566699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8742539" y="5731002"/>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Information Security Policy v3.1.pdf (pdf): Log retention and vendor evidence requirements support audit readiness and…</a:t>
            </a:r>
            <a:endParaRPr sz="700" b="0" i="0">
              <a:latin typeface="Arial"/>
            </a:endParaRPr>
          </a:p>
        </p:txBody>
      </p:sp>
      <p:sp>
        <p:nvSpPr>
          <p:cNvPr id="76" name="TextBox 75"/>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2026-04-16</a:t>
            </a:r>
          </a:p>
        </p:txBody>
      </p:sp>
      <p:sp>
        <p:nvSpPr>
          <p:cNvPr id="77" name="TextBox 76"/>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04 / 06</a:t>
            </a:r>
          </a:p>
        </p:txBody>
      </p:sp>
      <p:cxnSp>
        <p:nvCxnSpPr>
          <p:cNvPr id="78" name="Connector 77"/>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685800"/>
            <a:ext cx="4389120" cy="228600"/>
          </a:xfrm>
          <a:prstGeom prst="rect">
            <a:avLst/>
          </a:prstGeom>
          <a:noFill/>
        </p:spPr>
        <p:txBody>
          <a:bodyPr wrap="square" anchor="t" lIns="0" rIns="0" tIns="0" bIns="0">
            <a:spAutoFit/>
          </a:bodyPr>
          <a:lstStyle/>
          <a:p>
            <a:pPr algn="l"/>
            <a:r>
              <a:rPr sz="1000" b="1" i="0">
                <a:solidFill>
                  <a:srgbClr val="B08B5B"/>
                </a:solidFill>
                <a:latin typeface="Arial"/>
              </a:rPr>
              <a:t>EXECUTIVE NARRATIVE</a:t>
            </a:r>
          </a:p>
        </p:txBody>
      </p:sp>
      <p:sp>
        <p:nvSpPr>
          <p:cNvPr id="3" name="TextBox 2"/>
          <p:cNvSpPr txBox="1"/>
          <p:nvPr/>
        </p:nvSpPr>
        <p:spPr>
          <a:xfrm>
            <a:off x="777240" y="932688"/>
            <a:ext cx="7178040" cy="950976"/>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Recommendation vs watchouts</a:t>
            </a:r>
            <a:endParaRPr sz="2800" b="1" i="0">
              <a:latin typeface="Arial"/>
            </a:endParaRPr>
          </a:p>
        </p:txBody>
      </p:sp>
      <p:sp>
        <p:nvSpPr>
          <p:cNvPr id="4" name="Rounded Rectangle 3"/>
          <p:cNvSpPr/>
          <p:nvPr/>
        </p:nvSpPr>
        <p:spPr>
          <a:xfrm>
            <a:off x="777240" y="2029968"/>
            <a:ext cx="5551932" cy="3255264"/>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2029968"/>
            <a:ext cx="73152" cy="3255264"/>
          </a:xfrm>
          <a:prstGeom prst="rect">
            <a:avLst/>
          </a:prstGeom>
          <a:solidFill>
            <a:srgbClr val="14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14983" y="2267712"/>
            <a:ext cx="5076444" cy="384048"/>
          </a:xfrm>
          <a:prstGeom prst="rect">
            <a:avLst/>
          </a:prstGeom>
          <a:noFill/>
        </p:spPr>
        <p:txBody>
          <a:bodyPr wrap="square" anchor="t" lIns="0" rIns="0" tIns="0" bIns="0">
            <a:noAutofit/>
          </a:bodyPr>
          <a:lstStyle/>
          <a:p>
            <a:pPr algn="l">
              <a:spcAft>
                <a:spcPts val="0"/>
              </a:spcAft>
            </a:pPr>
            <a:r>
              <a:rPr sz="1600" b="1" i="0">
                <a:solidFill>
                  <a:srgbClr val="14263F"/>
                </a:solidFill>
                <a:latin typeface="Arial"/>
              </a:rPr>
              <a:t>Recommendation</a:t>
            </a:r>
            <a:endParaRPr sz="1600" b="1" i="0">
              <a:latin typeface="Arial"/>
            </a:endParaRPr>
          </a:p>
        </p:txBody>
      </p:sp>
      <p:sp>
        <p:nvSpPr>
          <p:cNvPr id="7" name="TextBox 6"/>
          <p:cNvSpPr txBox="1"/>
          <p:nvPr/>
        </p:nvSpPr>
        <p:spPr>
          <a:xfrm>
            <a:off x="1014983" y="2706624"/>
            <a:ext cx="5076444" cy="1272819"/>
          </a:xfrm>
          <a:prstGeom prst="rect">
            <a:avLst/>
          </a:prstGeom>
          <a:noFill/>
        </p:spPr>
        <p:txBody>
          <a:bodyPr wrap="square" anchor="t" lIns="0" rIns="0" tIns="0" bIns="0">
            <a:noAutofit/>
          </a:bodyPr>
          <a:lstStyle/>
          <a:p>
            <a:pPr algn="l">
              <a:spcAft>
                <a:spcPts val="0"/>
              </a:spcAft>
            </a:pPr>
            <a:r>
              <a:rPr sz="1400" b="0" i="0">
                <a:solidFill>
                  <a:srgbClr val="203247"/>
                </a:solidFill>
                <a:latin typeface="Arial"/>
              </a:rPr>
              <a:t>Open the cited source excerpts to confirm the interpretation before acting.</a:t>
            </a:r>
            <a:endParaRPr sz="1500" b="0" i="0">
              <a:latin typeface="Arial"/>
            </a:endParaRPr>
          </a:p>
        </p:txBody>
      </p:sp>
      <p:sp>
        <p:nvSpPr>
          <p:cNvPr id="8" name="TextBox 7"/>
          <p:cNvSpPr txBox="1"/>
          <p:nvPr/>
        </p:nvSpPr>
        <p:spPr>
          <a:xfrm>
            <a:off x="1014983" y="4034307"/>
            <a:ext cx="5076444" cy="1013180"/>
          </a:xfrm>
          <a:prstGeom prst="rect">
            <a:avLst/>
          </a:prstGeom>
          <a:noFill/>
        </p:spPr>
        <p:txBody>
          <a:bodyPr wrap="square" anchor="t" lIns="0" rIns="0" tIns="0" bIns="0">
            <a:noAutofit/>
          </a:bodyPr>
          <a:lstStyle/>
          <a:p>
            <a:pPr algn="l">
              <a:spcAft>
                <a:spcPts val="300"/>
              </a:spcAft>
            </a:pPr>
            <a:r>
              <a:rPr sz="1000" b="0" i="0">
                <a:solidFill>
                  <a:srgbClr val="203247"/>
                </a:solidFill>
                <a:latin typeface="Arial"/>
              </a:rPr>
              <a:t>• Open the cited source excerpts to confirm the interpretation before act…</a:t>
            </a:r>
            <a:endParaRPr sz="1100" b="0" i="0">
              <a:latin typeface="Arial"/>
            </a:endParaRPr>
          </a:p>
          <a:p>
            <a:pPr algn="l">
              <a:spcAft>
                <a:spcPts val="300"/>
              </a:spcAft>
            </a:pPr>
            <a:r>
              <a:rPr sz="1000" b="0" i="0">
                <a:solidFill>
                  <a:srgbClr val="203247"/>
                </a:solidFill>
                <a:latin typeface="Arial"/>
              </a:rPr>
              <a:t>• Validate critical differences directly in the compared documents before…</a:t>
            </a:r>
            <a:endParaRPr sz="1100" b="0" i="0">
              <a:latin typeface="Arial"/>
            </a:endParaRPr>
          </a:p>
        </p:txBody>
      </p:sp>
      <p:sp>
        <p:nvSpPr>
          <p:cNvPr id="9" name="Rounded Rectangle 8"/>
          <p:cNvSpPr/>
          <p:nvPr/>
        </p:nvSpPr>
        <p:spPr>
          <a:xfrm>
            <a:off x="6621780" y="2029968"/>
            <a:ext cx="4762500" cy="3255264"/>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621780" y="2029968"/>
            <a:ext cx="73152" cy="3255264"/>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9524" y="2267712"/>
            <a:ext cx="4287012" cy="384048"/>
          </a:xfrm>
          <a:prstGeom prst="rect">
            <a:avLst/>
          </a:prstGeom>
          <a:noFill/>
        </p:spPr>
        <p:txBody>
          <a:bodyPr wrap="square" anchor="t" lIns="0" rIns="0" tIns="0" bIns="0">
            <a:noAutofit/>
          </a:bodyPr>
          <a:lstStyle/>
          <a:p>
            <a:pPr algn="l">
              <a:spcAft>
                <a:spcPts val="0"/>
              </a:spcAft>
            </a:pPr>
            <a:r>
              <a:rPr sz="1600" b="1" i="0">
                <a:solidFill>
                  <a:srgbClr val="14263F"/>
                </a:solidFill>
                <a:latin typeface="Arial"/>
              </a:rPr>
              <a:t>Watchouts</a:t>
            </a:r>
            <a:endParaRPr sz="1600" b="1" i="0">
              <a:latin typeface="Arial"/>
            </a:endParaRPr>
          </a:p>
        </p:txBody>
      </p:sp>
      <p:sp>
        <p:nvSpPr>
          <p:cNvPr id="12" name="TextBox 11"/>
          <p:cNvSpPr txBox="1"/>
          <p:nvPr/>
        </p:nvSpPr>
        <p:spPr>
          <a:xfrm>
            <a:off x="6859524" y="2706624"/>
            <a:ext cx="4287012" cy="1481328"/>
          </a:xfrm>
          <a:prstGeom prst="rect">
            <a:avLst/>
          </a:prstGeom>
          <a:noFill/>
        </p:spPr>
        <p:txBody>
          <a:bodyPr wrap="square" anchor="t" lIns="0" rIns="0" tIns="0" bIns="0">
            <a:noAutofit/>
          </a:bodyPr>
          <a:lstStyle/>
          <a:p>
            <a:pPr algn="l">
              <a:spcAft>
                <a:spcPts val="0"/>
              </a:spcAft>
            </a:pPr>
            <a:r>
              <a:rPr sz="1500" b="0" i="0">
                <a:solidFill>
                  <a:srgbClr val="203247"/>
                </a:solidFill>
                <a:latin typeface="Arial"/>
              </a:rPr>
              <a:t>No critical watchouts recorded for this slice.</a:t>
            </a:r>
            <a:endParaRPr sz="1500" b="0" i="0">
              <a:latin typeface="Arial"/>
            </a:endParaRPr>
          </a:p>
        </p:txBody>
      </p:sp>
      <p:sp>
        <p:nvSpPr>
          <p:cNvPr id="13" name="TextBox 12"/>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2026-04-16</a:t>
            </a:r>
          </a:p>
        </p:txBody>
      </p:sp>
      <p:sp>
        <p:nvSpPr>
          <p:cNvPr id="14" name="TextBox 13"/>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05 / 06</a:t>
            </a:r>
          </a:p>
        </p:txBody>
      </p:sp>
      <p:cxnSp>
        <p:nvCxnSpPr>
          <p:cNvPr id="15" name="Connector 14"/>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932688"/>
            <a:ext cx="5852160" cy="777240"/>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Next steps</a:t>
            </a:r>
            <a:endParaRPr sz="2800" b="1" i="0">
              <a:latin typeface="Arial"/>
            </a:endParaRPr>
          </a:p>
        </p:txBody>
      </p:sp>
      <p:sp>
        <p:nvSpPr>
          <p:cNvPr id="3" name="TextBox 2"/>
          <p:cNvSpPr txBox="1"/>
          <p:nvPr/>
        </p:nvSpPr>
        <p:spPr>
          <a:xfrm>
            <a:off x="777240" y="2331720"/>
            <a:ext cx="6263640" cy="2880360"/>
          </a:xfrm>
          <a:prstGeom prst="rect">
            <a:avLst/>
          </a:prstGeom>
          <a:noFill/>
        </p:spPr>
        <p:txBody>
          <a:bodyPr wrap="square" anchor="t" lIns="0" rIns="0" tIns="0" bIns="0">
            <a:noAutofit/>
          </a:bodyPr>
          <a:lstStyle/>
          <a:p>
            <a:pPr algn="l">
              <a:spcAft>
                <a:spcPts val="400"/>
              </a:spcAft>
            </a:pPr>
            <a:r>
              <a:rPr sz="1300" b="0" i="0">
                <a:solidFill>
                  <a:srgbClr val="203247"/>
                </a:solidFill>
                <a:latin typeface="Arial"/>
              </a:rPr>
              <a:t>• Open the cited source excerpts to confirm the interpretation before acting.</a:t>
            </a:r>
            <a:endParaRPr sz="1400" b="0" i="0">
              <a:latin typeface="Arial"/>
            </a:endParaRPr>
          </a:p>
          <a:p>
            <a:pPr algn="l">
              <a:spcAft>
                <a:spcPts val="400"/>
              </a:spcAft>
            </a:pPr>
            <a:r>
              <a:rPr sz="1300" b="0" i="0">
                <a:solidFill>
                  <a:srgbClr val="203247"/>
                </a:solidFill>
                <a:latin typeface="Arial"/>
              </a:rPr>
              <a:t>• Validate critical differences directly in the compared documents before consoli…</a:t>
            </a:r>
            <a:endParaRPr sz="1400" b="0" i="0">
              <a:latin typeface="Arial"/>
            </a:endParaRPr>
          </a:p>
        </p:txBody>
      </p:sp>
      <p:sp>
        <p:nvSpPr>
          <p:cNvPr id="4" name="Rounded Rectangle 3"/>
          <p:cNvSpPr/>
          <p:nvPr/>
        </p:nvSpPr>
        <p:spPr>
          <a:xfrm>
            <a:off x="7360919" y="960120"/>
            <a:ext cx="4023360" cy="4526280"/>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60919" y="960120"/>
            <a:ext cx="4023360" cy="73152"/>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16951" y="1216152"/>
            <a:ext cx="3511296" cy="2130967"/>
          </a:xfrm>
          <a:prstGeom prst="rect">
            <a:avLst/>
          </a:prstGeom>
          <a:noFill/>
        </p:spPr>
        <p:txBody>
          <a:bodyPr wrap="square" anchor="t" lIns="0" rIns="0" tIns="0" bIns="0">
            <a:noAutofit/>
          </a:bodyPr>
          <a:lstStyle/>
          <a:p>
            <a:pPr algn="l">
              <a:spcAft>
                <a:spcPts val="0"/>
              </a:spcAft>
            </a:pPr>
            <a:r>
              <a:rPr sz="1300" b="0" i="0">
                <a:solidFill>
                  <a:srgbClr val="203247"/>
                </a:solidFill>
                <a:latin typeface="Arial"/>
              </a:rPr>
              <a:t>Open the cited source excerpts to confirm the interpretation before acting.</a:t>
            </a:r>
            <a:endParaRPr sz="1400" b="0" i="0">
              <a:latin typeface="Arial"/>
            </a:endParaRPr>
          </a:p>
        </p:txBody>
      </p:sp>
      <p:sp>
        <p:nvSpPr>
          <p:cNvPr id="7" name="TextBox 6"/>
          <p:cNvSpPr txBox="1"/>
          <p:nvPr/>
        </p:nvSpPr>
        <p:spPr>
          <a:xfrm>
            <a:off x="7616951" y="3438559"/>
            <a:ext cx="3511296" cy="1791808"/>
          </a:xfrm>
          <a:prstGeom prst="rect">
            <a:avLst/>
          </a:prstGeom>
          <a:noFill/>
        </p:spPr>
        <p:txBody>
          <a:bodyPr wrap="square" anchor="t" lIns="0" rIns="0" tIns="0" bIns="0">
            <a:noAutofit/>
          </a:bodyPr>
          <a:lstStyle/>
          <a:p>
            <a:pPr algn="l">
              <a:spcAft>
                <a:spcPts val="400"/>
              </a:spcAft>
            </a:pPr>
            <a:r>
              <a:rPr sz="1300" b="0" i="0">
                <a:solidFill>
                  <a:srgbClr val="14263F"/>
                </a:solidFill>
                <a:latin typeface="Arial"/>
              </a:rPr>
              <a:t>• Validate critical differences directly in the compared documents before consoli…</a:t>
            </a:r>
            <a:endParaRPr sz="1400" b="0" i="0">
              <a:latin typeface="Arial"/>
            </a:endParaRPr>
          </a:p>
        </p:txBody>
      </p:sp>
      <p:sp>
        <p:nvSpPr>
          <p:cNvPr id="8" name="TextBox 7"/>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2026-04-16</a:t>
            </a:r>
          </a:p>
        </p:txBody>
      </p:sp>
      <p:sp>
        <p:nvSpPr>
          <p:cNvPr id="9" name="TextBox 8"/>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06 / 06</a:t>
            </a:r>
          </a:p>
        </p:txBody>
      </p:sp>
      <p:cxnSp>
        <p:nvCxnSpPr>
          <p:cNvPr id="10" name="Connector 9"/>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