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9"/>
    <p:sldId id="258" r:id="rId10"/>
    <p:sldId id="259" r:id="rId11"/>
    <p:sldId id="260" r:id="rId12"/>
    <p:sldId id="261" r:id="rId13"/>
    <p:sldId id="262" r:id="rId14"/>
    <p:sldId id="263" r:id="rId15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notesMaster" Target="notesMasters/notesMaster1.xml"/><Relationship Id="rId9" Type="http://schemas.openxmlformats.org/officeDocument/2006/relationships/slide" Target="slides/slide2.xml"/><Relationship Id="rId10" Type="http://schemas.openxmlformats.org/officeDocument/2006/relationships/slide" Target="slides/slide3.xml"/><Relationship Id="rId11" Type="http://schemas.openxmlformats.org/officeDocument/2006/relationships/slide" Target="slides/slide4.xml"/><Relationship Id="rId12" Type="http://schemas.openxmlformats.org/officeDocument/2006/relationships/slide" Target="slides/slide5.xml"/><Relationship Id="rId13" Type="http://schemas.openxmlformats.org/officeDocument/2006/relationships/slide" Target="slides/slide6.xml"/><Relationship Id="rId14" Type="http://schemas.openxmlformats.org/officeDocument/2006/relationships/slide" Target="slides/slide7.xml"/><Relationship Id="rId15" Type="http://schemas.openxmlformats.org/officeDocument/2006/relationships/slide" Target="slides/slide8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rPr sz="1100" b="0" i="0">
                <a:solidFill>
                  <a:srgbClr val="203247"/>
                </a:solidFill>
                <a:latin typeface="Arial"/>
              </a:rPr>
              <a:t>Export kind: candidate_review_deck. Deck family: candidate_review. Sources: structured_result, cv_analysis.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rPr sz="1100" b="0" i="0">
                <a:solidFill>
                  <a:srgbClr val="203247"/>
                </a:solidFill>
                <a:latin typeface="Arial"/>
              </a:rPr>
              <a:t>Resumo executivo consolidado a partir dos sinais grounded do produto.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rPr sz="1100" b="0" i="0">
                <a:solidFill>
                  <a:srgbClr val="203247"/>
                </a:solidFill>
                <a:latin typeface="Arial"/>
              </a:rPr>
              <a:t>Top candidate strengths.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rPr sz="1100" b="0" i="0">
                <a:solidFill>
                  <a:srgbClr val="203247"/>
                </a:solidFill>
                <a:latin typeface="Arial"/>
              </a:rPr>
              <a:t>Grounded evidence highlights supporting the candidate review.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rPr sz="1100" b="0" i="0">
                <a:solidFill>
                  <a:srgbClr val="203247"/>
                </a:solidFill>
                <a:latin typeface="Arial"/>
              </a:rPr>
              <a:t>Candidate gaps versus hiring thesis.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4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5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5F2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777240" y="658368"/>
            <a:ext cx="91440" cy="1051560"/>
          </a:xfrm>
          <a:prstGeom prst="rect">
            <a:avLst/>
          </a:prstGeom>
          <a:solidFill>
            <a:srgbClr val="B08B5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1078992" y="896112"/>
            <a:ext cx="4389120" cy="228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000" b="1" i="0">
                <a:solidFill>
                  <a:srgbClr val="B08B5B"/>
                </a:solidFill>
                <a:latin typeface="Arial"/>
              </a:rPr>
              <a:t>EXECUTIVE HIRING SUMMARY GROUNDED IN CV_ANALYSIS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78992" y="1143000"/>
            <a:ext cx="6126480" cy="1243584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spcAft>
                <a:spcPts val="0"/>
              </a:spcAft>
            </a:pPr>
            <a:r>
              <a:rPr sz="3200" b="1" i="0">
                <a:solidFill>
                  <a:srgbClr val="14263F"/>
                </a:solidFill>
                <a:latin typeface="Arial"/>
              </a:rPr>
              <a:t>AI Workbench Local — Candidate Review · Jane Doe</a:t>
            </a:r>
            <a:endParaRPr sz="3200" b="1" i="0">
              <a:latin typeface="Arial"/>
            </a:endParaRPr>
          </a:p>
        </p:txBody>
      </p:sp>
      <p:sp>
        <p:nvSpPr>
          <p:cNvPr id="5" name="TextBox 4"/>
          <p:cNvSpPr txBox="1"/>
          <p:nvPr/>
        </p:nvSpPr>
        <p:spPr>
          <a:xfrm>
            <a:off x="1078992" y="2551176"/>
            <a:ext cx="5394960" cy="475488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spcAft>
                <a:spcPts val="0"/>
              </a:spcAft>
            </a:pPr>
            <a:r>
              <a:rPr sz="1300" b="0" i="0">
                <a:solidFill>
                  <a:srgbClr val="617287"/>
                </a:solidFill>
                <a:latin typeface="Arial"/>
              </a:rPr>
              <a:t>Executive hiring summary grounded in cv_analysis</a:t>
            </a:r>
            <a:endParaRPr sz="1300" b="0" i="0">
              <a:latin typeface="Arial"/>
            </a:endParaRPr>
          </a:p>
        </p:txBody>
      </p:sp>
      <p:sp>
        <p:nvSpPr>
          <p:cNvPr id="6" name="Rounded Rectangle 5"/>
          <p:cNvSpPr/>
          <p:nvPr/>
        </p:nvSpPr>
        <p:spPr>
          <a:xfrm>
            <a:off x="8092440" y="960120"/>
            <a:ext cx="3291840" cy="4251960"/>
          </a:xfrm>
          <a:prstGeom prst="roundRect">
            <a:avLst/>
          </a:prstGeom>
          <a:solidFill>
            <a:srgbClr val="FFFDFC"/>
          </a:solidFill>
          <a:ln w="12700">
            <a:solidFill>
              <a:srgbClr val="D8DE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458200" y="1325880"/>
            <a:ext cx="2560320" cy="19268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200"/>
              </a:spcAft>
            </a:pPr>
            <a:r>
              <a:rPr sz="1000" b="1" i="0">
                <a:solidFill>
                  <a:srgbClr val="617287"/>
                </a:solidFill>
                <a:latin typeface="Arial"/>
              </a:rPr>
              <a:t>Author</a:t>
            </a:r>
          </a:p>
          <a:p>
            <a:pPr algn="l">
              <a:spcAft>
                <a:spcPts val="0"/>
              </a:spcAft>
            </a:pPr>
            <a:r>
              <a:rPr sz="1400" b="0" i="0">
                <a:solidFill>
                  <a:srgbClr val="203247"/>
                </a:solidFill>
                <a:latin typeface="Arial"/>
              </a:rPr>
              <a:t>AI Workbench Local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458200" y="3325864"/>
            <a:ext cx="2560320" cy="1520455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200"/>
              </a:spcAft>
            </a:pPr>
            <a:r>
              <a:rPr sz="1000" b="1" i="0">
                <a:solidFill>
                  <a:srgbClr val="617287"/>
                </a:solidFill>
                <a:latin typeface="Arial"/>
              </a:rPr>
              <a:t>Date</a:t>
            </a:r>
          </a:p>
          <a:p>
            <a:pPr algn="l">
              <a:spcAft>
                <a:spcPts val="0"/>
              </a:spcAft>
            </a:pPr>
            <a:r>
              <a:rPr sz="1400" b="0" i="0">
                <a:solidFill>
                  <a:srgbClr val="203247"/>
                </a:solidFill>
                <a:latin typeface="Arial"/>
              </a:rPr>
              <a:t>2026-04-06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77240" y="6327648"/>
            <a:ext cx="5486400" cy="1828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000" b="0" i="0">
                <a:solidFill>
                  <a:srgbClr val="617287"/>
                </a:solidFill>
                <a:latin typeface="Arial"/>
              </a:rPr>
              <a:t>AI Workbench Local • Candidate Review  •  2026-04-06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966960" y="6327648"/>
            <a:ext cx="1234440" cy="1828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000" b="0" i="0">
                <a:solidFill>
                  <a:srgbClr val="617287"/>
                </a:solidFill>
                <a:latin typeface="Arial"/>
              </a:rPr>
              <a:t>01 / 08</a:t>
            </a:r>
          </a:p>
        </p:txBody>
      </p:sp>
      <p:cxnSp>
        <p:nvCxnSpPr>
          <p:cNvPr id="11" name="Connector 10"/>
          <p:cNvCxnSpPr/>
          <p:nvPr/>
        </p:nvCxnSpPr>
        <p:spPr>
          <a:xfrm>
            <a:off x="777240" y="6272784"/>
            <a:ext cx="10607040" cy="0"/>
          </a:xfrm>
          <a:prstGeom prst="line">
            <a:avLst/>
          </a:prstGeom>
          <a:ln w="10160">
            <a:solidFill>
              <a:srgbClr val="D8DEE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5F2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77240" y="932688"/>
            <a:ext cx="7178040" cy="950976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spcAft>
                <a:spcPts val="0"/>
              </a:spcAft>
            </a:pPr>
            <a:r>
              <a:rPr sz="2800" b="1" i="0">
                <a:solidFill>
                  <a:srgbClr val="14263F"/>
                </a:solidFill>
                <a:latin typeface="Arial"/>
              </a:rPr>
              <a:t>Executive summary</a:t>
            </a:r>
            <a:endParaRPr sz="2800" b="1" i="0">
              <a:latin typeface="Arial"/>
            </a:endParaRPr>
          </a:p>
        </p:txBody>
      </p:sp>
      <p:sp>
        <p:nvSpPr>
          <p:cNvPr id="3" name="TextBox 2"/>
          <p:cNvSpPr txBox="1"/>
          <p:nvPr/>
        </p:nvSpPr>
        <p:spPr>
          <a:xfrm>
            <a:off x="777240" y="2048256"/>
            <a:ext cx="6486825" cy="1810512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spcAft>
                <a:spcPts val="0"/>
              </a:spcAft>
            </a:pPr>
            <a:r>
              <a:rPr sz="1300" b="0" i="0">
                <a:solidFill>
                  <a:srgbClr val="203247"/>
                </a:solidFill>
                <a:latin typeface="Arial"/>
              </a:rPr>
              <a:t>Jane Doe presents as a hiring profile centered on Applied AI Engineer · Python, RAG from São Paulo. Grounded evidence suggests about 3.5 year(s) of experience across 1 structured role(s). Top strengths: Strong applied AI execution; Good product + engineering bridge. Primary watchout: Validate scale/production depth.</a:t>
            </a:r>
            <a:endParaRPr sz="1500" b="0" i="0">
              <a:latin typeface="Arial"/>
            </a:endParaRPr>
          </a:p>
        </p:txBody>
      </p:sp>
      <p:sp>
        <p:nvSpPr>
          <p:cNvPr id="4" name="Rounded Rectangle 3"/>
          <p:cNvSpPr/>
          <p:nvPr/>
        </p:nvSpPr>
        <p:spPr>
          <a:xfrm>
            <a:off x="7584105" y="1865376"/>
            <a:ext cx="3800174" cy="2999232"/>
          </a:xfrm>
          <a:prstGeom prst="roundRect">
            <a:avLst/>
          </a:prstGeom>
          <a:solidFill>
            <a:srgbClr val="FFFDFC"/>
          </a:solidFill>
          <a:ln w="12700">
            <a:solidFill>
              <a:srgbClr val="D8DE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7584105" y="1865376"/>
            <a:ext cx="3800174" cy="73152"/>
          </a:xfrm>
          <a:prstGeom prst="rect">
            <a:avLst/>
          </a:prstGeom>
          <a:solidFill>
            <a:srgbClr val="B08B5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821849" y="2103120"/>
            <a:ext cx="3324686" cy="2560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/>
        </p:txBody>
      </p:sp>
      <p:sp>
        <p:nvSpPr>
          <p:cNvPr id="7" name="TextBox 6"/>
          <p:cNvSpPr txBox="1"/>
          <p:nvPr/>
        </p:nvSpPr>
        <p:spPr>
          <a:xfrm>
            <a:off x="7821849" y="2432303"/>
            <a:ext cx="3324686" cy="2194559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0000"/>
              </a:lnSpc>
              <a:spcAft>
                <a:spcPts val="300"/>
              </a:spcAft>
            </a:pPr>
            <a:r>
              <a:rPr sz="1000" b="0" i="0">
                <a:solidFill>
                  <a:srgbClr val="203247"/>
                </a:solidFill>
                <a:latin typeface="Arial"/>
              </a:rPr>
              <a:t>• Strong applied AI execution</a:t>
            </a:r>
            <a:endParaRPr sz="1100" b="0" i="0">
              <a:latin typeface="Arial"/>
            </a:endParaRPr>
          </a:p>
          <a:p>
            <a:pPr algn="l">
              <a:lnSpc>
                <a:spcPct val="100000"/>
              </a:lnSpc>
              <a:spcAft>
                <a:spcPts val="300"/>
              </a:spcAft>
            </a:pPr>
            <a:r>
              <a:rPr sz="1000" b="0" i="0">
                <a:solidFill>
                  <a:srgbClr val="203247"/>
                </a:solidFill>
                <a:latin typeface="Arial"/>
              </a:rPr>
              <a:t>• Good product + engineering bridge</a:t>
            </a:r>
            <a:endParaRPr sz="1100" b="0" i="0">
              <a:latin typeface="Arial"/>
            </a:endParaRPr>
          </a:p>
          <a:p>
            <a:pPr algn="l">
              <a:lnSpc>
                <a:spcPct val="100000"/>
              </a:lnSpc>
              <a:spcAft>
                <a:spcPts val="300"/>
              </a:spcAft>
            </a:pPr>
            <a:r>
              <a:rPr sz="1000" b="0" i="0">
                <a:solidFill>
                  <a:srgbClr val="203247"/>
                </a:solidFill>
                <a:latin typeface="Arial"/>
              </a:rPr>
              <a:t>• Python</a:t>
            </a:r>
            <a:endParaRPr sz="1100" b="0" i="0">
              <a:latin typeface="Arial"/>
            </a:endParaRPr>
          </a:p>
        </p:txBody>
      </p:sp>
      <p:sp>
        <p:nvSpPr>
          <p:cNvPr id="8" name="TextBox 7"/>
          <p:cNvSpPr txBox="1"/>
          <p:nvPr/>
        </p:nvSpPr>
        <p:spPr>
          <a:xfrm>
            <a:off x="777240" y="6327648"/>
            <a:ext cx="5486400" cy="1828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000" b="0" i="0">
                <a:solidFill>
                  <a:srgbClr val="617287"/>
                </a:solidFill>
                <a:latin typeface="Arial"/>
              </a:rPr>
              <a:t>AI Workbench Local • Candidate Review  •  2026-04-06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966960" y="6327648"/>
            <a:ext cx="1234440" cy="1828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000" b="0" i="0">
                <a:solidFill>
                  <a:srgbClr val="617287"/>
                </a:solidFill>
                <a:latin typeface="Arial"/>
              </a:rPr>
              <a:t>02 / 08</a:t>
            </a:r>
          </a:p>
        </p:txBody>
      </p:sp>
      <p:cxnSp>
        <p:nvCxnSpPr>
          <p:cNvPr id="10" name="Connector 9"/>
          <p:cNvCxnSpPr/>
          <p:nvPr/>
        </p:nvCxnSpPr>
        <p:spPr>
          <a:xfrm>
            <a:off x="777240" y="6272784"/>
            <a:ext cx="10607040" cy="0"/>
          </a:xfrm>
          <a:prstGeom prst="line">
            <a:avLst/>
          </a:prstGeom>
          <a:ln w="10160">
            <a:solidFill>
              <a:srgbClr val="D8DEE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5F2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77240" y="685800"/>
            <a:ext cx="4389120" cy="228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000" b="1" i="0">
                <a:solidFill>
                  <a:srgbClr val="B08B5B"/>
                </a:solidFill>
                <a:latin typeface="Arial"/>
              </a:rPr>
              <a:t>KEY METRICS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77240" y="932688"/>
            <a:ext cx="6812280" cy="950976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spcAft>
                <a:spcPts val="0"/>
              </a:spcAft>
            </a:pPr>
            <a:r>
              <a:rPr sz="2800" b="1" i="0">
                <a:solidFill>
                  <a:srgbClr val="14263F"/>
                </a:solidFill>
                <a:latin typeface="Arial"/>
              </a:rPr>
              <a:t>Executive snapshot</a:t>
            </a:r>
            <a:endParaRPr sz="2800" b="1" i="0">
              <a:latin typeface="Arial"/>
            </a:endParaRPr>
          </a:p>
        </p:txBody>
      </p:sp>
      <p:sp>
        <p:nvSpPr>
          <p:cNvPr id="4" name="Rounded Rectangle 3"/>
          <p:cNvSpPr/>
          <p:nvPr/>
        </p:nvSpPr>
        <p:spPr>
          <a:xfrm>
            <a:off x="777240" y="2212848"/>
            <a:ext cx="2509160" cy="2670048"/>
          </a:xfrm>
          <a:prstGeom prst="roundRect">
            <a:avLst/>
          </a:prstGeom>
          <a:solidFill>
            <a:srgbClr val="FFFDFC"/>
          </a:solidFill>
          <a:ln w="12700">
            <a:solidFill>
              <a:srgbClr val="D8DE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777240" y="2212848"/>
            <a:ext cx="2509160" cy="73152"/>
          </a:xfrm>
          <a:prstGeom prst="rect">
            <a:avLst/>
          </a:prstGeom>
          <a:solidFill>
            <a:srgbClr val="14263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96695" y="2432304"/>
            <a:ext cx="2070248" cy="512064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spcAft>
                <a:spcPts val="0"/>
              </a:spcAft>
            </a:pPr>
            <a:r>
              <a:rPr sz="2400" b="1" i="0">
                <a:solidFill>
                  <a:srgbClr val="14263F"/>
                </a:solidFill>
                <a:latin typeface="Arial"/>
              </a:rPr>
              <a:t>3.5</a:t>
            </a:r>
            <a:endParaRPr sz="2400" b="1" i="0">
              <a:latin typeface="Arial"/>
            </a:endParaRPr>
          </a:p>
        </p:txBody>
      </p:sp>
      <p:sp>
        <p:nvSpPr>
          <p:cNvPr id="7" name="TextBox 6"/>
          <p:cNvSpPr txBox="1"/>
          <p:nvPr/>
        </p:nvSpPr>
        <p:spPr>
          <a:xfrm>
            <a:off x="996695" y="3017520"/>
            <a:ext cx="2070248" cy="512064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spcAft>
                <a:spcPts val="0"/>
              </a:spcAft>
            </a:pPr>
            <a:r>
              <a:rPr sz="1200" b="1" i="0">
                <a:solidFill>
                  <a:srgbClr val="203247"/>
                </a:solidFill>
                <a:latin typeface="Arial"/>
              </a:rPr>
              <a:t>Experience years</a:t>
            </a:r>
            <a:endParaRPr sz="1200" b="1" i="0">
              <a:latin typeface="Arial"/>
            </a:endParaRPr>
          </a:p>
        </p:txBody>
      </p:sp>
      <p:sp>
        <p:nvSpPr>
          <p:cNvPr id="8" name="Rounded Rectangle 7"/>
          <p:cNvSpPr/>
          <p:nvPr/>
        </p:nvSpPr>
        <p:spPr>
          <a:xfrm>
            <a:off x="3524144" y="2212848"/>
            <a:ext cx="2437743" cy="2670048"/>
          </a:xfrm>
          <a:prstGeom prst="roundRect">
            <a:avLst/>
          </a:prstGeom>
          <a:solidFill>
            <a:srgbClr val="FFFDFC"/>
          </a:solidFill>
          <a:ln w="12700">
            <a:solidFill>
              <a:srgbClr val="D8DE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3524144" y="2212848"/>
            <a:ext cx="2437743" cy="73152"/>
          </a:xfrm>
          <a:prstGeom prst="rect">
            <a:avLst/>
          </a:prstGeom>
          <a:solidFill>
            <a:srgbClr val="B08B5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3743600" y="2432304"/>
            <a:ext cx="1998831" cy="512064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spcAft>
                <a:spcPts val="0"/>
              </a:spcAft>
            </a:pPr>
            <a:r>
              <a:rPr sz="2400" b="1" i="0">
                <a:solidFill>
                  <a:srgbClr val="14263F"/>
                </a:solidFill>
                <a:latin typeface="Arial"/>
              </a:rPr>
              <a:t>3</a:t>
            </a:r>
            <a:endParaRPr sz="2400" b="1" i="0">
              <a:latin typeface="Arial"/>
            </a:endParaRPr>
          </a:p>
        </p:txBody>
      </p:sp>
      <p:sp>
        <p:nvSpPr>
          <p:cNvPr id="11" name="TextBox 10"/>
          <p:cNvSpPr txBox="1"/>
          <p:nvPr/>
        </p:nvSpPr>
        <p:spPr>
          <a:xfrm>
            <a:off x="3743600" y="3017520"/>
            <a:ext cx="1998831" cy="512064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spcAft>
                <a:spcPts val="0"/>
              </a:spcAft>
            </a:pPr>
            <a:r>
              <a:rPr sz="1200" b="1" i="0">
                <a:solidFill>
                  <a:srgbClr val="203247"/>
                </a:solidFill>
                <a:latin typeface="Arial"/>
              </a:rPr>
              <a:t>Skills</a:t>
            </a:r>
            <a:endParaRPr sz="1200" b="1" i="0">
              <a:latin typeface="Arial"/>
            </a:endParaRPr>
          </a:p>
        </p:txBody>
      </p:sp>
      <p:sp>
        <p:nvSpPr>
          <p:cNvPr id="12" name="Rounded Rectangle 11"/>
          <p:cNvSpPr/>
          <p:nvPr/>
        </p:nvSpPr>
        <p:spPr>
          <a:xfrm>
            <a:off x="6199632" y="2212848"/>
            <a:ext cx="2437743" cy="2670048"/>
          </a:xfrm>
          <a:prstGeom prst="roundRect">
            <a:avLst/>
          </a:prstGeom>
          <a:solidFill>
            <a:srgbClr val="FFFDFC"/>
          </a:solidFill>
          <a:ln w="12700">
            <a:solidFill>
              <a:srgbClr val="D8DE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6199632" y="2212848"/>
            <a:ext cx="2437743" cy="73152"/>
          </a:xfrm>
          <a:prstGeom prst="rect">
            <a:avLst/>
          </a:prstGeom>
          <a:solidFill>
            <a:srgbClr val="14263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419088" y="2432304"/>
            <a:ext cx="1998831" cy="512064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spcAft>
                <a:spcPts val="0"/>
              </a:spcAft>
            </a:pPr>
            <a:r>
              <a:rPr sz="2400" b="1" i="0">
                <a:solidFill>
                  <a:srgbClr val="14263F"/>
                </a:solidFill>
                <a:latin typeface="Arial"/>
              </a:rPr>
              <a:t>2</a:t>
            </a:r>
            <a:endParaRPr sz="2400" b="1" i="0">
              <a:latin typeface="Arial"/>
            </a:endParaRPr>
          </a:p>
        </p:txBody>
      </p:sp>
      <p:sp>
        <p:nvSpPr>
          <p:cNvPr id="15" name="TextBox 14"/>
          <p:cNvSpPr txBox="1"/>
          <p:nvPr/>
        </p:nvSpPr>
        <p:spPr>
          <a:xfrm>
            <a:off x="6419088" y="3017520"/>
            <a:ext cx="1998831" cy="512064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spcAft>
                <a:spcPts val="0"/>
              </a:spcAft>
            </a:pPr>
            <a:r>
              <a:rPr sz="1200" b="1" i="0">
                <a:solidFill>
                  <a:srgbClr val="203247"/>
                </a:solidFill>
                <a:latin typeface="Arial"/>
              </a:rPr>
              <a:t>Languages</a:t>
            </a:r>
            <a:endParaRPr sz="1200" b="1" i="0">
              <a:latin typeface="Arial"/>
            </a:endParaRPr>
          </a:p>
        </p:txBody>
      </p:sp>
      <p:sp>
        <p:nvSpPr>
          <p:cNvPr id="16" name="Rounded Rectangle 15"/>
          <p:cNvSpPr/>
          <p:nvPr/>
        </p:nvSpPr>
        <p:spPr>
          <a:xfrm>
            <a:off x="8875119" y="2212848"/>
            <a:ext cx="2509160" cy="2670048"/>
          </a:xfrm>
          <a:prstGeom prst="roundRect">
            <a:avLst/>
          </a:prstGeom>
          <a:solidFill>
            <a:srgbClr val="FFFDFC"/>
          </a:solidFill>
          <a:ln w="12700">
            <a:solidFill>
              <a:srgbClr val="D8DE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8875119" y="2212848"/>
            <a:ext cx="2509160" cy="73152"/>
          </a:xfrm>
          <a:prstGeom prst="rect">
            <a:avLst/>
          </a:prstGeom>
          <a:solidFill>
            <a:srgbClr val="B08B5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9094575" y="2432304"/>
            <a:ext cx="2070248" cy="512064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spcAft>
                <a:spcPts val="0"/>
              </a:spcAft>
            </a:pPr>
            <a:r>
              <a:rPr sz="2400" b="1" i="0">
                <a:solidFill>
                  <a:srgbClr val="14263F"/>
                </a:solidFill>
                <a:latin typeface="Arial"/>
              </a:rPr>
              <a:t>1</a:t>
            </a:r>
            <a:endParaRPr sz="2400" b="1" i="0">
              <a:latin typeface="Arial"/>
            </a:endParaRPr>
          </a:p>
        </p:txBody>
      </p:sp>
      <p:sp>
        <p:nvSpPr>
          <p:cNvPr id="19" name="TextBox 18"/>
          <p:cNvSpPr txBox="1"/>
          <p:nvPr/>
        </p:nvSpPr>
        <p:spPr>
          <a:xfrm>
            <a:off x="9094575" y="3017520"/>
            <a:ext cx="2070248" cy="512064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spcAft>
                <a:spcPts val="0"/>
              </a:spcAft>
            </a:pPr>
            <a:r>
              <a:rPr sz="1200" b="1" i="0">
                <a:solidFill>
                  <a:srgbClr val="203247"/>
                </a:solidFill>
                <a:latin typeface="Arial"/>
              </a:rPr>
              <a:t>Experience entries</a:t>
            </a:r>
            <a:endParaRPr sz="1200" b="1" i="0">
              <a:latin typeface="Arial"/>
            </a:endParaRPr>
          </a:p>
        </p:txBody>
      </p:sp>
      <p:sp>
        <p:nvSpPr>
          <p:cNvPr id="20" name="TextBox 19"/>
          <p:cNvSpPr txBox="1"/>
          <p:nvPr/>
        </p:nvSpPr>
        <p:spPr>
          <a:xfrm>
            <a:off x="777240" y="6327648"/>
            <a:ext cx="5486400" cy="1828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000" b="0" i="0">
                <a:solidFill>
                  <a:srgbClr val="617287"/>
                </a:solidFill>
                <a:latin typeface="Arial"/>
              </a:rPr>
              <a:t>AI Workbench Local • Candidate Review  •  2026-04-06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9966960" y="6327648"/>
            <a:ext cx="1234440" cy="1828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000" b="0" i="0">
                <a:solidFill>
                  <a:srgbClr val="617287"/>
                </a:solidFill>
                <a:latin typeface="Arial"/>
              </a:rPr>
              <a:t>03 / 08</a:t>
            </a:r>
          </a:p>
        </p:txBody>
      </p:sp>
      <p:cxnSp>
        <p:nvCxnSpPr>
          <p:cNvPr id="22" name="Connector 21"/>
          <p:cNvCxnSpPr/>
          <p:nvPr/>
        </p:nvCxnSpPr>
        <p:spPr>
          <a:xfrm>
            <a:off x="777240" y="6272784"/>
            <a:ext cx="10607040" cy="0"/>
          </a:xfrm>
          <a:prstGeom prst="line">
            <a:avLst/>
          </a:prstGeom>
          <a:ln w="10160">
            <a:solidFill>
              <a:srgbClr val="D8DEE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5F2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77240" y="932688"/>
            <a:ext cx="6583680" cy="950976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spcAft>
                <a:spcPts val="0"/>
              </a:spcAft>
            </a:pPr>
            <a:r>
              <a:rPr sz="2800" b="1" i="0">
                <a:solidFill>
                  <a:srgbClr val="14263F"/>
                </a:solidFill>
                <a:latin typeface="Arial"/>
              </a:rPr>
              <a:t>Strengths snapshot</a:t>
            </a:r>
            <a:endParaRPr sz="2800" b="1" i="0">
              <a:latin typeface="Arial"/>
            </a:endParaRPr>
          </a:p>
        </p:txBody>
      </p:sp>
      <p:sp>
        <p:nvSpPr>
          <p:cNvPr id="3" name="Rounded Rectangle 2"/>
          <p:cNvSpPr/>
          <p:nvPr/>
        </p:nvSpPr>
        <p:spPr>
          <a:xfrm>
            <a:off x="777240" y="2331720"/>
            <a:ext cx="3245424" cy="2697480"/>
          </a:xfrm>
          <a:prstGeom prst="roundRect">
            <a:avLst/>
          </a:prstGeom>
          <a:solidFill>
            <a:srgbClr val="FFFDFC"/>
          </a:solidFill>
          <a:ln w="12700">
            <a:solidFill>
              <a:srgbClr val="D8DE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777240" y="2331720"/>
            <a:ext cx="3245424" cy="73152"/>
          </a:xfrm>
          <a:prstGeom prst="rect">
            <a:avLst/>
          </a:prstGeom>
          <a:solidFill>
            <a:srgbClr val="14263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996695" y="2551176"/>
            <a:ext cx="2806512" cy="347472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spcAft>
                <a:spcPts val="0"/>
              </a:spcAft>
            </a:pPr>
            <a:r>
              <a:rPr sz="1500" b="1" i="0">
                <a:solidFill>
                  <a:srgbClr val="14263F"/>
                </a:solidFill>
                <a:latin typeface="Arial"/>
              </a:rPr>
              <a:t>Strength 1</a:t>
            </a:r>
            <a:endParaRPr sz="1500" b="1" i="0">
              <a:latin typeface="Arial"/>
            </a:endParaRPr>
          </a:p>
        </p:txBody>
      </p:sp>
      <p:sp>
        <p:nvSpPr>
          <p:cNvPr id="6" name="TextBox 5"/>
          <p:cNvSpPr txBox="1"/>
          <p:nvPr/>
        </p:nvSpPr>
        <p:spPr>
          <a:xfrm>
            <a:off x="996695" y="2971800"/>
            <a:ext cx="2806512" cy="1563624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spcAft>
                <a:spcPts val="0"/>
              </a:spcAft>
            </a:pPr>
            <a:r>
              <a:rPr sz="1400" b="0" i="0">
                <a:solidFill>
                  <a:srgbClr val="203247"/>
                </a:solidFill>
                <a:latin typeface="Arial"/>
              </a:rPr>
              <a:t>Strong applied AI execution</a:t>
            </a:r>
            <a:endParaRPr sz="1400" b="0" i="0">
              <a:latin typeface="Arial"/>
            </a:endParaRPr>
          </a:p>
        </p:txBody>
      </p:sp>
      <p:sp>
        <p:nvSpPr>
          <p:cNvPr id="7" name="TextBox 6"/>
          <p:cNvSpPr txBox="1"/>
          <p:nvPr/>
        </p:nvSpPr>
        <p:spPr>
          <a:xfrm>
            <a:off x="996695" y="4608576"/>
            <a:ext cx="2806512" cy="201168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spcAft>
                <a:spcPts val="0"/>
              </a:spcAft>
            </a:pPr>
            <a:r>
              <a:rPr sz="1000" b="0" i="0">
                <a:solidFill>
                  <a:srgbClr val="617287"/>
                </a:solidFill>
                <a:latin typeface="Arial"/>
              </a:rPr>
              <a:t>Positive signal</a:t>
            </a:r>
            <a:endParaRPr sz="1000" b="0" i="0">
              <a:latin typeface="Arial"/>
            </a:endParaRPr>
          </a:p>
        </p:txBody>
      </p:sp>
      <p:sp>
        <p:nvSpPr>
          <p:cNvPr id="8" name="Rounded Rectangle 7"/>
          <p:cNvSpPr/>
          <p:nvPr/>
        </p:nvSpPr>
        <p:spPr>
          <a:xfrm>
            <a:off x="4342704" y="2331720"/>
            <a:ext cx="3317514" cy="2697480"/>
          </a:xfrm>
          <a:prstGeom prst="roundRect">
            <a:avLst/>
          </a:prstGeom>
          <a:solidFill>
            <a:srgbClr val="FFFDFC"/>
          </a:solidFill>
          <a:ln w="12700">
            <a:solidFill>
              <a:srgbClr val="D8DE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4342704" y="2331720"/>
            <a:ext cx="3317514" cy="73152"/>
          </a:xfrm>
          <a:prstGeom prst="rect">
            <a:avLst/>
          </a:prstGeom>
          <a:solidFill>
            <a:srgbClr val="B08B5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4562160" y="2551176"/>
            <a:ext cx="2878602" cy="347472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spcAft>
                <a:spcPts val="0"/>
              </a:spcAft>
            </a:pPr>
            <a:r>
              <a:rPr sz="1500" b="1" i="0">
                <a:solidFill>
                  <a:srgbClr val="14263F"/>
                </a:solidFill>
                <a:latin typeface="Arial"/>
              </a:rPr>
              <a:t>Strength 2</a:t>
            </a:r>
            <a:endParaRPr sz="1500" b="1" i="0">
              <a:latin typeface="Arial"/>
            </a:endParaRPr>
          </a:p>
        </p:txBody>
      </p:sp>
      <p:sp>
        <p:nvSpPr>
          <p:cNvPr id="11" name="TextBox 10"/>
          <p:cNvSpPr txBox="1"/>
          <p:nvPr/>
        </p:nvSpPr>
        <p:spPr>
          <a:xfrm>
            <a:off x="4562160" y="2971800"/>
            <a:ext cx="2878602" cy="1563624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spcAft>
                <a:spcPts val="0"/>
              </a:spcAft>
            </a:pPr>
            <a:r>
              <a:rPr sz="1400" b="0" i="0">
                <a:solidFill>
                  <a:srgbClr val="203247"/>
                </a:solidFill>
                <a:latin typeface="Arial"/>
              </a:rPr>
              <a:t>Good product + engineering bridge</a:t>
            </a:r>
            <a:endParaRPr sz="1400" b="0" i="0">
              <a:latin typeface="Arial"/>
            </a:endParaRPr>
          </a:p>
        </p:txBody>
      </p:sp>
      <p:sp>
        <p:nvSpPr>
          <p:cNvPr id="12" name="TextBox 11"/>
          <p:cNvSpPr txBox="1"/>
          <p:nvPr/>
        </p:nvSpPr>
        <p:spPr>
          <a:xfrm>
            <a:off x="4562160" y="4608576"/>
            <a:ext cx="2878602" cy="201168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spcAft>
                <a:spcPts val="0"/>
              </a:spcAft>
            </a:pPr>
            <a:r>
              <a:rPr sz="1000" b="0" i="0">
                <a:solidFill>
                  <a:srgbClr val="617287"/>
                </a:solidFill>
                <a:latin typeface="Arial"/>
              </a:rPr>
              <a:t>Positive signal</a:t>
            </a:r>
            <a:endParaRPr sz="1000" b="0" i="0">
              <a:latin typeface="Arial"/>
            </a:endParaRPr>
          </a:p>
        </p:txBody>
      </p:sp>
      <p:sp>
        <p:nvSpPr>
          <p:cNvPr id="13" name="Rounded Rectangle 12"/>
          <p:cNvSpPr/>
          <p:nvPr/>
        </p:nvSpPr>
        <p:spPr>
          <a:xfrm>
            <a:off x="7980258" y="2331720"/>
            <a:ext cx="3404021" cy="2697480"/>
          </a:xfrm>
          <a:prstGeom prst="roundRect">
            <a:avLst/>
          </a:prstGeom>
          <a:solidFill>
            <a:srgbClr val="FFFDFC"/>
          </a:solidFill>
          <a:ln w="12700">
            <a:solidFill>
              <a:srgbClr val="D8DE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7980258" y="2331720"/>
            <a:ext cx="3404021" cy="73152"/>
          </a:xfrm>
          <a:prstGeom prst="rect">
            <a:avLst/>
          </a:prstGeom>
          <a:solidFill>
            <a:srgbClr val="14263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8199714" y="2551176"/>
            <a:ext cx="2965109" cy="347472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spcAft>
                <a:spcPts val="0"/>
              </a:spcAft>
            </a:pPr>
            <a:r>
              <a:rPr sz="1500" b="1" i="0">
                <a:solidFill>
                  <a:srgbClr val="14263F"/>
                </a:solidFill>
                <a:latin typeface="Arial"/>
              </a:rPr>
              <a:t>Signal 3</a:t>
            </a:r>
            <a:endParaRPr sz="1500" b="1" i="0">
              <a:latin typeface="Arial"/>
            </a:endParaRPr>
          </a:p>
        </p:txBody>
      </p:sp>
      <p:sp>
        <p:nvSpPr>
          <p:cNvPr id="16" name="TextBox 15"/>
          <p:cNvSpPr txBox="1"/>
          <p:nvPr/>
        </p:nvSpPr>
        <p:spPr>
          <a:xfrm>
            <a:off x="8199714" y="2971800"/>
            <a:ext cx="2965109" cy="1563624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spcAft>
                <a:spcPts val="0"/>
              </a:spcAft>
            </a:pPr>
            <a:r>
              <a:rPr sz="1400" b="0" i="0">
                <a:solidFill>
                  <a:srgbClr val="203247"/>
                </a:solidFill>
                <a:latin typeface="Arial"/>
              </a:rPr>
              <a:t>Additional executive signal not populated in this slice.</a:t>
            </a:r>
            <a:endParaRPr sz="1400" b="0" i="0">
              <a:latin typeface="Arial"/>
            </a:endParaRPr>
          </a:p>
        </p:txBody>
      </p:sp>
      <p:sp>
        <p:nvSpPr>
          <p:cNvPr id="17" name="TextBox 16"/>
          <p:cNvSpPr txBox="1"/>
          <p:nvPr/>
        </p:nvSpPr>
        <p:spPr>
          <a:xfrm>
            <a:off x="8199714" y="4608576"/>
            <a:ext cx="2965109" cy="201168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spcAft>
                <a:spcPts val="0"/>
              </a:spcAft>
            </a:pPr>
            <a:r>
              <a:rPr sz="1000" b="0" i="0">
                <a:solidFill>
                  <a:srgbClr val="617287"/>
                </a:solidFill>
                <a:latin typeface="Arial"/>
              </a:rPr>
              <a:t>Optional</a:t>
            </a:r>
            <a:endParaRPr sz="1000" b="0" i="0">
              <a:latin typeface="Arial"/>
            </a:endParaRPr>
          </a:p>
        </p:txBody>
      </p:sp>
      <p:sp>
        <p:nvSpPr>
          <p:cNvPr id="18" name="TextBox 17"/>
          <p:cNvSpPr txBox="1"/>
          <p:nvPr/>
        </p:nvSpPr>
        <p:spPr>
          <a:xfrm>
            <a:off x="777240" y="6327648"/>
            <a:ext cx="5486400" cy="1828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000" b="0" i="0">
                <a:solidFill>
                  <a:srgbClr val="617287"/>
                </a:solidFill>
                <a:latin typeface="Arial"/>
              </a:rPr>
              <a:t>AI Workbench Local • Candidate Review  •  2026-04-06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9966960" y="6327648"/>
            <a:ext cx="1234440" cy="1828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000" b="0" i="0">
                <a:solidFill>
                  <a:srgbClr val="617287"/>
                </a:solidFill>
                <a:latin typeface="Arial"/>
              </a:rPr>
              <a:t>04 / 08</a:t>
            </a:r>
          </a:p>
        </p:txBody>
      </p:sp>
      <p:cxnSp>
        <p:nvCxnSpPr>
          <p:cNvPr id="20" name="Connector 19"/>
          <p:cNvCxnSpPr/>
          <p:nvPr/>
        </p:nvCxnSpPr>
        <p:spPr>
          <a:xfrm>
            <a:off x="777240" y="6272784"/>
            <a:ext cx="10607040" cy="0"/>
          </a:xfrm>
          <a:prstGeom prst="line">
            <a:avLst/>
          </a:prstGeom>
          <a:ln w="10160">
            <a:solidFill>
              <a:srgbClr val="D8DEE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5F2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77240" y="685800"/>
            <a:ext cx="4389120" cy="228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000" b="1" i="0">
                <a:solidFill>
                  <a:srgbClr val="B08B5B"/>
                </a:solidFill>
                <a:latin typeface="Arial"/>
              </a:rPr>
              <a:t>EXECUTIVE TABLE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77240" y="932688"/>
            <a:ext cx="7498079" cy="950976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spcAft>
                <a:spcPts val="0"/>
              </a:spcAft>
            </a:pPr>
            <a:r>
              <a:rPr sz="2800" b="1" i="0">
                <a:solidFill>
                  <a:srgbClr val="14263F"/>
                </a:solidFill>
                <a:latin typeface="Arial"/>
              </a:rPr>
              <a:t>Evidence highlights</a:t>
            </a:r>
            <a:endParaRPr sz="2800" b="1" i="0">
              <a:latin typeface="Arial"/>
            </a:endParaRPr>
          </a:p>
        </p:txBody>
      </p:sp>
      <p:sp>
        <p:nvSpPr>
          <p:cNvPr id="4" name="Rounded Rectangle 3"/>
          <p:cNvSpPr/>
          <p:nvPr/>
        </p:nvSpPr>
        <p:spPr>
          <a:xfrm>
            <a:off x="777240" y="1920240"/>
            <a:ext cx="3491995" cy="457200"/>
          </a:xfrm>
          <a:prstGeom prst="roundRect">
            <a:avLst/>
          </a:prstGeom>
          <a:solidFill>
            <a:srgbClr val="EEF1F4"/>
          </a:solidFill>
          <a:ln w="12700">
            <a:solidFill>
              <a:srgbClr val="D8DE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841247" y="1984248"/>
            <a:ext cx="3363979" cy="329184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ctr">
              <a:spcAft>
                <a:spcPts val="0"/>
              </a:spcAft>
            </a:pPr>
            <a:r>
              <a:rPr sz="1100" b="1" i="0">
                <a:solidFill>
                  <a:srgbClr val="14263F"/>
                </a:solidFill>
                <a:latin typeface="Arial"/>
              </a:rPr>
              <a:t>Signal</a:t>
            </a:r>
            <a:endParaRPr sz="1100" b="1" i="0">
              <a:latin typeface="Arial"/>
            </a:endParaRPr>
          </a:p>
        </p:txBody>
      </p:sp>
      <p:sp>
        <p:nvSpPr>
          <p:cNvPr id="6" name="Rounded Rectangle 5"/>
          <p:cNvSpPr/>
          <p:nvPr/>
        </p:nvSpPr>
        <p:spPr>
          <a:xfrm>
            <a:off x="4314955" y="1920240"/>
            <a:ext cx="3596764" cy="457200"/>
          </a:xfrm>
          <a:prstGeom prst="roundRect">
            <a:avLst/>
          </a:prstGeom>
          <a:solidFill>
            <a:srgbClr val="EEF1F4"/>
          </a:solidFill>
          <a:ln w="12700">
            <a:solidFill>
              <a:srgbClr val="D8DE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4378963" y="1984248"/>
            <a:ext cx="3468748" cy="329184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ctr">
              <a:spcAft>
                <a:spcPts val="0"/>
              </a:spcAft>
            </a:pPr>
            <a:r>
              <a:rPr sz="1100" b="1" i="0">
                <a:solidFill>
                  <a:srgbClr val="14263F"/>
                </a:solidFill>
                <a:latin typeface="Arial"/>
              </a:rPr>
              <a:t>Value</a:t>
            </a:r>
            <a:endParaRPr sz="1100" b="1" i="0">
              <a:latin typeface="Arial"/>
            </a:endParaRPr>
          </a:p>
        </p:txBody>
      </p:sp>
      <p:sp>
        <p:nvSpPr>
          <p:cNvPr id="8" name="Rounded Rectangle 7"/>
          <p:cNvSpPr/>
          <p:nvPr/>
        </p:nvSpPr>
        <p:spPr>
          <a:xfrm>
            <a:off x="7957439" y="1920240"/>
            <a:ext cx="3426840" cy="457200"/>
          </a:xfrm>
          <a:prstGeom prst="roundRect">
            <a:avLst/>
          </a:prstGeom>
          <a:solidFill>
            <a:srgbClr val="EEF1F4"/>
          </a:solidFill>
          <a:ln w="12700">
            <a:solidFill>
              <a:srgbClr val="D8DE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8021447" y="1984248"/>
            <a:ext cx="3298824" cy="329184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ctr">
              <a:spcAft>
                <a:spcPts val="0"/>
              </a:spcAft>
            </a:pPr>
            <a:r>
              <a:rPr sz="1100" b="1" i="0">
                <a:solidFill>
                  <a:srgbClr val="14263F"/>
                </a:solidFill>
                <a:latin typeface="Arial"/>
              </a:rPr>
              <a:t>Detail</a:t>
            </a:r>
            <a:endParaRPr sz="1100" b="1" i="0">
              <a:latin typeface="Arial"/>
            </a:endParaRPr>
          </a:p>
        </p:txBody>
      </p:sp>
      <p:sp>
        <p:nvSpPr>
          <p:cNvPr id="10" name="Rounded Rectangle 9"/>
          <p:cNvSpPr/>
          <p:nvPr/>
        </p:nvSpPr>
        <p:spPr>
          <a:xfrm>
            <a:off x="777240" y="2450592"/>
            <a:ext cx="3491995" cy="608624"/>
          </a:xfrm>
          <a:prstGeom prst="roundRect">
            <a:avLst/>
          </a:prstGeom>
          <a:solidFill>
            <a:srgbClr val="FFFDFC"/>
          </a:solidFill>
          <a:ln w="12700">
            <a:solidFill>
              <a:srgbClr val="D8DE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841247" y="2514600"/>
            <a:ext cx="3363979" cy="480608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spcAft>
                <a:spcPts val="0"/>
              </a:spcAft>
            </a:pPr>
            <a:r>
              <a:rPr sz="1000" b="0" i="0">
                <a:solidFill>
                  <a:srgbClr val="203247"/>
                </a:solidFill>
                <a:latin typeface="Arial"/>
              </a:rPr>
              <a:t>Experience</a:t>
            </a:r>
            <a:endParaRPr sz="1000" b="0" i="0">
              <a:latin typeface="Arial"/>
            </a:endParaRPr>
          </a:p>
        </p:txBody>
      </p:sp>
      <p:sp>
        <p:nvSpPr>
          <p:cNvPr id="12" name="Rounded Rectangle 11"/>
          <p:cNvSpPr/>
          <p:nvPr/>
        </p:nvSpPr>
        <p:spPr>
          <a:xfrm>
            <a:off x="4314955" y="2450592"/>
            <a:ext cx="3596764" cy="608624"/>
          </a:xfrm>
          <a:prstGeom prst="roundRect">
            <a:avLst/>
          </a:prstGeom>
          <a:solidFill>
            <a:srgbClr val="FFFDFC"/>
          </a:solidFill>
          <a:ln w="12700">
            <a:solidFill>
              <a:srgbClr val="D8DE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4378963" y="2514600"/>
            <a:ext cx="3468748" cy="480608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ctr">
              <a:spcAft>
                <a:spcPts val="0"/>
              </a:spcAft>
            </a:pPr>
            <a:r>
              <a:rPr sz="1000" b="0" i="0">
                <a:solidFill>
                  <a:srgbClr val="203247"/>
                </a:solidFill>
                <a:latin typeface="Arial"/>
              </a:rPr>
              <a:t>3.5 years</a:t>
            </a:r>
            <a:endParaRPr sz="1000" b="0" i="0">
              <a:latin typeface="Arial"/>
            </a:endParaRPr>
          </a:p>
        </p:txBody>
      </p:sp>
      <p:sp>
        <p:nvSpPr>
          <p:cNvPr id="14" name="Rounded Rectangle 13"/>
          <p:cNvSpPr/>
          <p:nvPr/>
        </p:nvSpPr>
        <p:spPr>
          <a:xfrm>
            <a:off x="7957439" y="2450592"/>
            <a:ext cx="3426840" cy="608624"/>
          </a:xfrm>
          <a:prstGeom prst="roundRect">
            <a:avLst/>
          </a:prstGeom>
          <a:solidFill>
            <a:srgbClr val="FFFDFC"/>
          </a:solidFill>
          <a:ln w="12700">
            <a:solidFill>
              <a:srgbClr val="D8DE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8021447" y="2514600"/>
            <a:ext cx="3298824" cy="480608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spcAft>
                <a:spcPts val="0"/>
              </a:spcAft>
            </a:pPr>
            <a:r>
              <a:rPr sz="1000" b="0" i="0">
                <a:solidFill>
                  <a:srgbClr val="203247"/>
                </a:solidFill>
                <a:latin typeface="Arial"/>
              </a:rPr>
              <a:t>1 structured role(s)</a:t>
            </a:r>
            <a:endParaRPr sz="1000" b="0" i="0">
              <a:latin typeface="Arial"/>
            </a:endParaRPr>
          </a:p>
        </p:txBody>
      </p:sp>
      <p:sp>
        <p:nvSpPr>
          <p:cNvPr id="16" name="Rounded Rectangle 15"/>
          <p:cNvSpPr/>
          <p:nvPr/>
        </p:nvSpPr>
        <p:spPr>
          <a:xfrm>
            <a:off x="777240" y="3114080"/>
            <a:ext cx="3491995" cy="608624"/>
          </a:xfrm>
          <a:prstGeom prst="roundRect">
            <a:avLst/>
          </a:prstGeom>
          <a:solidFill>
            <a:srgbClr val="FFFDFC"/>
          </a:solidFill>
          <a:ln w="12700">
            <a:solidFill>
              <a:srgbClr val="D8DE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841247" y="3178088"/>
            <a:ext cx="3363979" cy="480608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spcAft>
                <a:spcPts val="0"/>
              </a:spcAft>
            </a:pPr>
            <a:r>
              <a:rPr sz="1000" b="0" i="0">
                <a:solidFill>
                  <a:srgbClr val="203247"/>
                </a:solidFill>
                <a:latin typeface="Arial"/>
              </a:rPr>
              <a:t>Core skills</a:t>
            </a:r>
            <a:endParaRPr sz="1000" b="0" i="0">
              <a:latin typeface="Arial"/>
            </a:endParaRPr>
          </a:p>
        </p:txBody>
      </p:sp>
      <p:sp>
        <p:nvSpPr>
          <p:cNvPr id="18" name="Rounded Rectangle 17"/>
          <p:cNvSpPr/>
          <p:nvPr/>
        </p:nvSpPr>
        <p:spPr>
          <a:xfrm>
            <a:off x="4314955" y="3114080"/>
            <a:ext cx="3596764" cy="608624"/>
          </a:xfrm>
          <a:prstGeom prst="roundRect">
            <a:avLst/>
          </a:prstGeom>
          <a:solidFill>
            <a:srgbClr val="FFFDFC"/>
          </a:solidFill>
          <a:ln w="12700">
            <a:solidFill>
              <a:srgbClr val="D8DE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4378963" y="3178088"/>
            <a:ext cx="3468748" cy="480608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spcAft>
                <a:spcPts val="0"/>
              </a:spcAft>
            </a:pPr>
            <a:r>
              <a:rPr sz="1000" b="0" i="0">
                <a:solidFill>
                  <a:srgbClr val="203247"/>
                </a:solidFill>
                <a:latin typeface="Arial"/>
              </a:rPr>
              <a:t>Python, RAG, Structured outputs</a:t>
            </a:r>
            <a:endParaRPr sz="1000" b="0" i="0">
              <a:latin typeface="Arial"/>
            </a:endParaRPr>
          </a:p>
        </p:txBody>
      </p:sp>
      <p:sp>
        <p:nvSpPr>
          <p:cNvPr id="20" name="Rounded Rectangle 19"/>
          <p:cNvSpPr/>
          <p:nvPr/>
        </p:nvSpPr>
        <p:spPr>
          <a:xfrm>
            <a:off x="7957439" y="3114080"/>
            <a:ext cx="3426840" cy="608624"/>
          </a:xfrm>
          <a:prstGeom prst="roundRect">
            <a:avLst/>
          </a:prstGeom>
          <a:solidFill>
            <a:srgbClr val="FFFDFC"/>
          </a:solidFill>
          <a:ln w="12700">
            <a:solidFill>
              <a:srgbClr val="D8DE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8021447" y="3178088"/>
            <a:ext cx="3298824" cy="480608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ctr">
              <a:spcAft>
                <a:spcPts val="0"/>
              </a:spcAft>
            </a:pPr>
            <a:r>
              <a:rPr sz="1000" b="0" i="0">
                <a:solidFill>
                  <a:srgbClr val="203247"/>
                </a:solidFill>
                <a:latin typeface="Arial"/>
              </a:rPr>
              <a:t>3 mapped skill(s)</a:t>
            </a:r>
            <a:endParaRPr sz="1000" b="0" i="0">
              <a:latin typeface="Arial"/>
            </a:endParaRPr>
          </a:p>
        </p:txBody>
      </p:sp>
      <p:sp>
        <p:nvSpPr>
          <p:cNvPr id="22" name="Rounded Rectangle 21"/>
          <p:cNvSpPr/>
          <p:nvPr/>
        </p:nvSpPr>
        <p:spPr>
          <a:xfrm>
            <a:off x="777240" y="3777569"/>
            <a:ext cx="3491995" cy="608624"/>
          </a:xfrm>
          <a:prstGeom prst="roundRect">
            <a:avLst/>
          </a:prstGeom>
          <a:solidFill>
            <a:srgbClr val="FFFDFC"/>
          </a:solidFill>
          <a:ln w="12700">
            <a:solidFill>
              <a:srgbClr val="D8DE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841247" y="3841577"/>
            <a:ext cx="3363979" cy="480608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spcAft>
                <a:spcPts val="0"/>
              </a:spcAft>
            </a:pPr>
            <a:r>
              <a:rPr sz="1000" b="0" i="0">
                <a:solidFill>
                  <a:srgbClr val="203247"/>
                </a:solidFill>
                <a:latin typeface="Arial"/>
              </a:rPr>
              <a:t>Languages</a:t>
            </a:r>
            <a:endParaRPr sz="1000" b="0" i="0">
              <a:latin typeface="Arial"/>
            </a:endParaRPr>
          </a:p>
        </p:txBody>
      </p:sp>
      <p:sp>
        <p:nvSpPr>
          <p:cNvPr id="24" name="Rounded Rectangle 23"/>
          <p:cNvSpPr/>
          <p:nvPr/>
        </p:nvSpPr>
        <p:spPr>
          <a:xfrm>
            <a:off x="4314955" y="3777569"/>
            <a:ext cx="3596764" cy="608624"/>
          </a:xfrm>
          <a:prstGeom prst="roundRect">
            <a:avLst/>
          </a:prstGeom>
          <a:solidFill>
            <a:srgbClr val="FFFDFC"/>
          </a:solidFill>
          <a:ln w="12700">
            <a:solidFill>
              <a:srgbClr val="D8DE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4378963" y="3841577"/>
            <a:ext cx="3468748" cy="480608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spcAft>
                <a:spcPts val="0"/>
              </a:spcAft>
            </a:pPr>
            <a:r>
              <a:rPr sz="1000" b="0" i="0">
                <a:solidFill>
                  <a:srgbClr val="203247"/>
                </a:solidFill>
                <a:latin typeface="Arial"/>
              </a:rPr>
              <a:t>English, Portuguese</a:t>
            </a:r>
            <a:endParaRPr sz="1000" b="0" i="0">
              <a:latin typeface="Arial"/>
            </a:endParaRPr>
          </a:p>
        </p:txBody>
      </p:sp>
      <p:sp>
        <p:nvSpPr>
          <p:cNvPr id="26" name="Rounded Rectangle 25"/>
          <p:cNvSpPr/>
          <p:nvPr/>
        </p:nvSpPr>
        <p:spPr>
          <a:xfrm>
            <a:off x="7957439" y="3777569"/>
            <a:ext cx="3426840" cy="608624"/>
          </a:xfrm>
          <a:prstGeom prst="roundRect">
            <a:avLst/>
          </a:prstGeom>
          <a:solidFill>
            <a:srgbClr val="FFFDFC"/>
          </a:solidFill>
          <a:ln w="12700">
            <a:solidFill>
              <a:srgbClr val="D8DE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8021447" y="3841577"/>
            <a:ext cx="3298824" cy="480608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ctr">
              <a:spcAft>
                <a:spcPts val="0"/>
              </a:spcAft>
            </a:pPr>
            <a:r>
              <a:rPr sz="1000" b="0" i="0">
                <a:solidFill>
                  <a:srgbClr val="203247"/>
                </a:solidFill>
                <a:latin typeface="Arial"/>
              </a:rPr>
              <a:t>2 language(s)</a:t>
            </a:r>
            <a:endParaRPr sz="1000" b="0" i="0">
              <a:latin typeface="Arial"/>
            </a:endParaRPr>
          </a:p>
        </p:txBody>
      </p:sp>
      <p:sp>
        <p:nvSpPr>
          <p:cNvPr id="28" name="Rounded Rectangle 27"/>
          <p:cNvSpPr/>
          <p:nvPr/>
        </p:nvSpPr>
        <p:spPr>
          <a:xfrm>
            <a:off x="777240" y="4441057"/>
            <a:ext cx="3491995" cy="608624"/>
          </a:xfrm>
          <a:prstGeom prst="roundRect">
            <a:avLst/>
          </a:prstGeom>
          <a:solidFill>
            <a:srgbClr val="FFFDFC"/>
          </a:solidFill>
          <a:ln w="12700">
            <a:solidFill>
              <a:srgbClr val="D8DE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841247" y="4505065"/>
            <a:ext cx="3363979" cy="480608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spcAft>
                <a:spcPts val="0"/>
              </a:spcAft>
            </a:pPr>
            <a:r>
              <a:rPr sz="1000" b="0" i="0">
                <a:solidFill>
                  <a:srgbClr val="203247"/>
                </a:solidFill>
                <a:latin typeface="Arial"/>
              </a:rPr>
              <a:t>Recent anchor</a:t>
            </a:r>
            <a:endParaRPr sz="1000" b="0" i="0">
              <a:latin typeface="Arial"/>
            </a:endParaRPr>
          </a:p>
        </p:txBody>
      </p:sp>
      <p:sp>
        <p:nvSpPr>
          <p:cNvPr id="30" name="Rounded Rectangle 29"/>
          <p:cNvSpPr/>
          <p:nvPr/>
        </p:nvSpPr>
        <p:spPr>
          <a:xfrm>
            <a:off x="4314955" y="4441057"/>
            <a:ext cx="3596764" cy="608624"/>
          </a:xfrm>
          <a:prstGeom prst="roundRect">
            <a:avLst/>
          </a:prstGeom>
          <a:solidFill>
            <a:srgbClr val="FFFDFC"/>
          </a:solidFill>
          <a:ln w="12700">
            <a:solidFill>
              <a:srgbClr val="D8DE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4378963" y="4505065"/>
            <a:ext cx="3468748" cy="480608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spcAft>
                <a:spcPts val="0"/>
              </a:spcAft>
            </a:pPr>
            <a:r>
              <a:rPr sz="1000" b="0" i="0">
                <a:solidFill>
                  <a:srgbClr val="203247"/>
                </a:solidFill>
                <a:latin typeface="Arial"/>
              </a:rPr>
              <a:t>Applied AI Engineer</a:t>
            </a:r>
            <a:endParaRPr sz="1000" b="0" i="0">
              <a:latin typeface="Arial"/>
            </a:endParaRPr>
          </a:p>
        </p:txBody>
      </p:sp>
      <p:sp>
        <p:nvSpPr>
          <p:cNvPr id="32" name="Rounded Rectangle 31"/>
          <p:cNvSpPr/>
          <p:nvPr/>
        </p:nvSpPr>
        <p:spPr>
          <a:xfrm>
            <a:off x="7957439" y="4441057"/>
            <a:ext cx="3426840" cy="608624"/>
          </a:xfrm>
          <a:prstGeom prst="roundRect">
            <a:avLst/>
          </a:prstGeom>
          <a:solidFill>
            <a:srgbClr val="FFFDFC"/>
          </a:solidFill>
          <a:ln w="12700">
            <a:solidFill>
              <a:srgbClr val="D8DE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8021447" y="4505065"/>
            <a:ext cx="3298824" cy="480608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ctr">
              <a:spcAft>
                <a:spcPts val="0"/>
              </a:spcAft>
            </a:pPr>
            <a:r>
              <a:rPr sz="1000" b="0" i="0">
                <a:solidFill>
                  <a:srgbClr val="203247"/>
                </a:solidFill>
                <a:latin typeface="Arial"/>
              </a:rPr>
              <a:t>Acme</a:t>
            </a:r>
            <a:endParaRPr sz="1000" b="0" i="0">
              <a:latin typeface="Arial"/>
            </a:endParaRPr>
          </a:p>
        </p:txBody>
      </p:sp>
      <p:sp>
        <p:nvSpPr>
          <p:cNvPr id="34" name="TextBox 33"/>
          <p:cNvSpPr txBox="1"/>
          <p:nvPr/>
        </p:nvSpPr>
        <p:spPr>
          <a:xfrm>
            <a:off x="777240" y="6327648"/>
            <a:ext cx="5486400" cy="1828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000" b="0" i="0">
                <a:solidFill>
                  <a:srgbClr val="617287"/>
                </a:solidFill>
                <a:latin typeface="Arial"/>
              </a:rPr>
              <a:t>AI Workbench Local • Candidate Review  •  2026-04-06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9966960" y="6327648"/>
            <a:ext cx="1234440" cy="1828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000" b="0" i="0">
                <a:solidFill>
                  <a:srgbClr val="617287"/>
                </a:solidFill>
                <a:latin typeface="Arial"/>
              </a:rPr>
              <a:t>05 / 08</a:t>
            </a:r>
          </a:p>
        </p:txBody>
      </p:sp>
      <p:cxnSp>
        <p:nvCxnSpPr>
          <p:cNvPr id="36" name="Connector 35"/>
          <p:cNvCxnSpPr/>
          <p:nvPr/>
        </p:nvCxnSpPr>
        <p:spPr>
          <a:xfrm>
            <a:off x="777240" y="6272784"/>
            <a:ext cx="10607040" cy="0"/>
          </a:xfrm>
          <a:prstGeom prst="line">
            <a:avLst/>
          </a:prstGeom>
          <a:ln w="10160">
            <a:solidFill>
              <a:srgbClr val="D8DEE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5F2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77240" y="685800"/>
            <a:ext cx="4389120" cy="228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000" b="1" i="0">
                <a:solidFill>
                  <a:srgbClr val="B08B5B"/>
                </a:solidFill>
                <a:latin typeface="Arial"/>
              </a:rPr>
              <a:t>EXECUTIVE TABLE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77240" y="932688"/>
            <a:ext cx="7498079" cy="950976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spcAft>
                <a:spcPts val="0"/>
              </a:spcAft>
            </a:pPr>
            <a:r>
              <a:rPr sz="2800" b="1" i="0">
                <a:solidFill>
                  <a:srgbClr val="14263F"/>
                </a:solidFill>
                <a:latin typeface="Arial"/>
              </a:rPr>
              <a:t>Experience highlights</a:t>
            </a:r>
            <a:endParaRPr sz="2800" b="1" i="0">
              <a:latin typeface="Arial"/>
            </a:endParaRPr>
          </a:p>
        </p:txBody>
      </p:sp>
      <p:sp>
        <p:nvSpPr>
          <p:cNvPr id="4" name="Rounded Rectangle 3"/>
          <p:cNvSpPr/>
          <p:nvPr/>
        </p:nvSpPr>
        <p:spPr>
          <a:xfrm>
            <a:off x="777240" y="1920240"/>
            <a:ext cx="2840466" cy="457200"/>
          </a:xfrm>
          <a:prstGeom prst="roundRect">
            <a:avLst/>
          </a:prstGeom>
          <a:solidFill>
            <a:srgbClr val="EEF1F4"/>
          </a:solidFill>
          <a:ln w="12700">
            <a:solidFill>
              <a:srgbClr val="D8DE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841247" y="1984248"/>
            <a:ext cx="2712450" cy="329184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ctr">
              <a:spcAft>
                <a:spcPts val="0"/>
              </a:spcAft>
            </a:pPr>
            <a:r>
              <a:rPr sz="1100" b="1" i="0">
                <a:solidFill>
                  <a:srgbClr val="14263F"/>
                </a:solidFill>
                <a:latin typeface="Arial"/>
              </a:rPr>
              <a:t>Role</a:t>
            </a:r>
            <a:endParaRPr sz="1100" b="1" i="0">
              <a:latin typeface="Arial"/>
            </a:endParaRPr>
          </a:p>
        </p:txBody>
      </p:sp>
      <p:sp>
        <p:nvSpPr>
          <p:cNvPr id="6" name="Rounded Rectangle 5"/>
          <p:cNvSpPr/>
          <p:nvPr/>
        </p:nvSpPr>
        <p:spPr>
          <a:xfrm>
            <a:off x="3663426" y="1920240"/>
            <a:ext cx="2384157" cy="457200"/>
          </a:xfrm>
          <a:prstGeom prst="roundRect">
            <a:avLst/>
          </a:prstGeom>
          <a:solidFill>
            <a:srgbClr val="EEF1F4"/>
          </a:solidFill>
          <a:ln w="12700">
            <a:solidFill>
              <a:srgbClr val="D8DE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3727434" y="1984248"/>
            <a:ext cx="2256141" cy="329184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ctr">
              <a:spcAft>
                <a:spcPts val="0"/>
              </a:spcAft>
            </a:pPr>
            <a:r>
              <a:rPr sz="1100" b="1" i="0">
                <a:solidFill>
                  <a:srgbClr val="14263F"/>
                </a:solidFill>
                <a:latin typeface="Arial"/>
              </a:rPr>
              <a:t>Organization</a:t>
            </a:r>
            <a:endParaRPr sz="1100" b="1" i="0">
              <a:latin typeface="Arial"/>
            </a:endParaRPr>
          </a:p>
        </p:txBody>
      </p:sp>
      <p:sp>
        <p:nvSpPr>
          <p:cNvPr id="8" name="Rounded Rectangle 7"/>
          <p:cNvSpPr/>
          <p:nvPr/>
        </p:nvSpPr>
        <p:spPr>
          <a:xfrm>
            <a:off x="6093303" y="1920240"/>
            <a:ext cx="2384157" cy="457200"/>
          </a:xfrm>
          <a:prstGeom prst="roundRect">
            <a:avLst/>
          </a:prstGeom>
          <a:solidFill>
            <a:srgbClr val="EEF1F4"/>
          </a:solidFill>
          <a:ln w="12700">
            <a:solidFill>
              <a:srgbClr val="D8DE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157311" y="1984248"/>
            <a:ext cx="2256141" cy="329184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ctr">
              <a:spcAft>
                <a:spcPts val="0"/>
              </a:spcAft>
            </a:pPr>
            <a:r>
              <a:rPr sz="1100" b="1" i="0">
                <a:solidFill>
                  <a:srgbClr val="14263F"/>
                </a:solidFill>
                <a:latin typeface="Arial"/>
              </a:rPr>
              <a:t>Date</a:t>
            </a:r>
            <a:endParaRPr sz="1100" b="1" i="0">
              <a:latin typeface="Arial"/>
            </a:endParaRPr>
          </a:p>
        </p:txBody>
      </p:sp>
      <p:sp>
        <p:nvSpPr>
          <p:cNvPr id="10" name="Rounded Rectangle 9"/>
          <p:cNvSpPr/>
          <p:nvPr/>
        </p:nvSpPr>
        <p:spPr>
          <a:xfrm>
            <a:off x="8523181" y="1920240"/>
            <a:ext cx="2861098" cy="457200"/>
          </a:xfrm>
          <a:prstGeom prst="roundRect">
            <a:avLst/>
          </a:prstGeom>
          <a:solidFill>
            <a:srgbClr val="EEF1F4"/>
          </a:solidFill>
          <a:ln w="12700">
            <a:solidFill>
              <a:srgbClr val="D8DE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8587189" y="1984248"/>
            <a:ext cx="2733082" cy="329184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ctr">
              <a:spcAft>
                <a:spcPts val="0"/>
              </a:spcAft>
            </a:pPr>
            <a:r>
              <a:rPr sz="1100" b="1" i="0">
                <a:solidFill>
                  <a:srgbClr val="14263F"/>
                </a:solidFill>
                <a:latin typeface="Arial"/>
              </a:rPr>
              <a:t>Evidence</a:t>
            </a:r>
            <a:endParaRPr sz="1100" b="1" i="0">
              <a:latin typeface="Arial"/>
            </a:endParaRPr>
          </a:p>
        </p:txBody>
      </p:sp>
      <p:sp>
        <p:nvSpPr>
          <p:cNvPr id="12" name="Rounded Rectangle 11"/>
          <p:cNvSpPr/>
          <p:nvPr/>
        </p:nvSpPr>
        <p:spPr>
          <a:xfrm>
            <a:off x="777240" y="2450592"/>
            <a:ext cx="2840466" cy="608624"/>
          </a:xfrm>
          <a:prstGeom prst="roundRect">
            <a:avLst/>
          </a:prstGeom>
          <a:solidFill>
            <a:srgbClr val="FFFDFC"/>
          </a:solidFill>
          <a:ln w="12700">
            <a:solidFill>
              <a:srgbClr val="D8DE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841247" y="2514600"/>
            <a:ext cx="2712450" cy="480608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spcAft>
                <a:spcPts val="0"/>
              </a:spcAft>
            </a:pPr>
            <a:r>
              <a:rPr sz="1000" b="0" i="0">
                <a:solidFill>
                  <a:srgbClr val="203247"/>
                </a:solidFill>
                <a:latin typeface="Arial"/>
              </a:rPr>
              <a:t>Applied AI Engineer</a:t>
            </a:r>
            <a:endParaRPr sz="1000" b="0" i="0">
              <a:latin typeface="Arial"/>
            </a:endParaRPr>
          </a:p>
        </p:txBody>
      </p:sp>
      <p:sp>
        <p:nvSpPr>
          <p:cNvPr id="14" name="Rounded Rectangle 13"/>
          <p:cNvSpPr/>
          <p:nvPr/>
        </p:nvSpPr>
        <p:spPr>
          <a:xfrm>
            <a:off x="3663426" y="2450592"/>
            <a:ext cx="2384157" cy="608624"/>
          </a:xfrm>
          <a:prstGeom prst="roundRect">
            <a:avLst/>
          </a:prstGeom>
          <a:solidFill>
            <a:srgbClr val="FFFDFC"/>
          </a:solidFill>
          <a:ln w="12700">
            <a:solidFill>
              <a:srgbClr val="D8DE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3727434" y="2514600"/>
            <a:ext cx="2256141" cy="480608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ctr">
              <a:spcAft>
                <a:spcPts val="0"/>
              </a:spcAft>
            </a:pPr>
            <a:r>
              <a:rPr sz="1000" b="0" i="0">
                <a:solidFill>
                  <a:srgbClr val="203247"/>
                </a:solidFill>
                <a:latin typeface="Arial"/>
              </a:rPr>
              <a:t>Acme</a:t>
            </a:r>
            <a:endParaRPr sz="1000" b="0" i="0">
              <a:latin typeface="Arial"/>
            </a:endParaRPr>
          </a:p>
        </p:txBody>
      </p:sp>
      <p:sp>
        <p:nvSpPr>
          <p:cNvPr id="16" name="Rounded Rectangle 15"/>
          <p:cNvSpPr/>
          <p:nvPr/>
        </p:nvSpPr>
        <p:spPr>
          <a:xfrm>
            <a:off x="6093303" y="2450592"/>
            <a:ext cx="2384157" cy="608624"/>
          </a:xfrm>
          <a:prstGeom prst="roundRect">
            <a:avLst/>
          </a:prstGeom>
          <a:solidFill>
            <a:srgbClr val="FFFDFC"/>
          </a:solidFill>
          <a:ln w="12700">
            <a:solidFill>
              <a:srgbClr val="D8DE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6157311" y="2514600"/>
            <a:ext cx="2256141" cy="480608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ctr">
              <a:spcAft>
                <a:spcPts val="0"/>
              </a:spcAft>
            </a:pPr>
            <a:r>
              <a:rPr sz="1000" b="0" i="0">
                <a:solidFill>
                  <a:srgbClr val="203247"/>
                </a:solidFill>
                <a:latin typeface="Arial"/>
              </a:rPr>
              <a:t>2022-2025</a:t>
            </a:r>
            <a:endParaRPr sz="1000" b="0" i="0">
              <a:latin typeface="Arial"/>
            </a:endParaRPr>
          </a:p>
        </p:txBody>
      </p:sp>
      <p:sp>
        <p:nvSpPr>
          <p:cNvPr id="18" name="Rounded Rectangle 17"/>
          <p:cNvSpPr/>
          <p:nvPr/>
        </p:nvSpPr>
        <p:spPr>
          <a:xfrm>
            <a:off x="8523181" y="2450592"/>
            <a:ext cx="2861098" cy="608624"/>
          </a:xfrm>
          <a:prstGeom prst="roundRect">
            <a:avLst/>
          </a:prstGeom>
          <a:solidFill>
            <a:srgbClr val="FFFDFC"/>
          </a:solidFill>
          <a:ln w="12700">
            <a:solidFill>
              <a:srgbClr val="D8DE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8587189" y="2514600"/>
            <a:ext cx="2733082" cy="480608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spcAft>
                <a:spcPts val="0"/>
              </a:spcAft>
            </a:pPr>
            <a:r>
              <a:rPr sz="900" b="0" i="0">
                <a:solidFill>
                  <a:srgbClr val="203247"/>
                </a:solidFill>
                <a:latin typeface="Arial"/>
              </a:rPr>
              <a:t>Built RAG pipelines | Shipped eval-driven AI features</a:t>
            </a:r>
            <a:endParaRPr sz="1000" b="0" i="0">
              <a:latin typeface="Arial"/>
            </a:endParaRPr>
          </a:p>
        </p:txBody>
      </p:sp>
      <p:sp>
        <p:nvSpPr>
          <p:cNvPr id="20" name="TextBox 19"/>
          <p:cNvSpPr txBox="1"/>
          <p:nvPr/>
        </p:nvSpPr>
        <p:spPr>
          <a:xfrm>
            <a:off x="777240" y="6327648"/>
            <a:ext cx="5486400" cy="1828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000" b="0" i="0">
                <a:solidFill>
                  <a:srgbClr val="617287"/>
                </a:solidFill>
                <a:latin typeface="Arial"/>
              </a:rPr>
              <a:t>AI Workbench Local • Candidate Review  •  2026-04-06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9966960" y="6327648"/>
            <a:ext cx="1234440" cy="1828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000" b="0" i="0">
                <a:solidFill>
                  <a:srgbClr val="617287"/>
                </a:solidFill>
                <a:latin typeface="Arial"/>
              </a:rPr>
              <a:t>06 / 08</a:t>
            </a:r>
          </a:p>
        </p:txBody>
      </p:sp>
      <p:cxnSp>
        <p:nvCxnSpPr>
          <p:cNvPr id="22" name="Connector 21"/>
          <p:cNvCxnSpPr/>
          <p:nvPr/>
        </p:nvCxnSpPr>
        <p:spPr>
          <a:xfrm>
            <a:off x="777240" y="6272784"/>
            <a:ext cx="10607040" cy="0"/>
          </a:xfrm>
          <a:prstGeom prst="line">
            <a:avLst/>
          </a:prstGeom>
          <a:ln w="10160">
            <a:solidFill>
              <a:srgbClr val="D8DEE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5F2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77240" y="685800"/>
            <a:ext cx="4389120" cy="228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000" b="1" i="0">
                <a:solidFill>
                  <a:srgbClr val="B08B5B"/>
                </a:solidFill>
                <a:latin typeface="Arial"/>
              </a:rPr>
              <a:t>EXECUTIVE NARRATIVE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77240" y="932688"/>
            <a:ext cx="7178040" cy="950976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spcAft>
                <a:spcPts val="0"/>
              </a:spcAft>
            </a:pPr>
            <a:r>
              <a:rPr sz="2800" b="1" i="0">
                <a:solidFill>
                  <a:srgbClr val="14263F"/>
                </a:solidFill>
                <a:latin typeface="Arial"/>
              </a:rPr>
              <a:t>Gaps vs hiring thesis</a:t>
            </a:r>
            <a:endParaRPr sz="2800" b="1" i="0">
              <a:latin typeface="Arial"/>
            </a:endParaRPr>
          </a:p>
        </p:txBody>
      </p:sp>
      <p:sp>
        <p:nvSpPr>
          <p:cNvPr id="4" name="Rounded Rectangle 3"/>
          <p:cNvSpPr/>
          <p:nvPr/>
        </p:nvSpPr>
        <p:spPr>
          <a:xfrm>
            <a:off x="777240" y="2029968"/>
            <a:ext cx="4872577" cy="3255264"/>
          </a:xfrm>
          <a:prstGeom prst="roundRect">
            <a:avLst/>
          </a:prstGeom>
          <a:solidFill>
            <a:srgbClr val="FFFDFC"/>
          </a:solidFill>
          <a:ln w="12700">
            <a:solidFill>
              <a:srgbClr val="D8DE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777240" y="2029968"/>
            <a:ext cx="73152" cy="3255264"/>
          </a:xfrm>
          <a:prstGeom prst="rect">
            <a:avLst/>
          </a:prstGeom>
          <a:solidFill>
            <a:srgbClr val="14263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014983" y="2267712"/>
            <a:ext cx="4397089" cy="384048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spcAft>
                <a:spcPts val="0"/>
              </a:spcAft>
            </a:pPr>
            <a:r>
              <a:rPr sz="1600" b="1" i="0">
                <a:solidFill>
                  <a:srgbClr val="14263F"/>
                </a:solidFill>
                <a:latin typeface="Arial"/>
              </a:rPr>
              <a:t>Gaps / risks</a:t>
            </a:r>
            <a:endParaRPr sz="1600" b="1" i="0">
              <a:latin typeface="Arial"/>
            </a:endParaRPr>
          </a:p>
        </p:txBody>
      </p:sp>
      <p:sp>
        <p:nvSpPr>
          <p:cNvPr id="7" name="TextBox 6"/>
          <p:cNvSpPr txBox="1"/>
          <p:nvPr/>
        </p:nvSpPr>
        <p:spPr>
          <a:xfrm>
            <a:off x="1014983" y="2706624"/>
            <a:ext cx="4397089" cy="1242842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spcAft>
                <a:spcPts val="0"/>
              </a:spcAft>
            </a:pPr>
            <a:r>
              <a:rPr sz="1500" b="0" i="0">
                <a:solidFill>
                  <a:srgbClr val="203247"/>
                </a:solidFill>
                <a:latin typeface="Arial"/>
              </a:rPr>
              <a:t>Validate scale/production depth</a:t>
            </a:r>
            <a:endParaRPr sz="1500" b="0" i="0">
              <a:latin typeface="Arial"/>
            </a:endParaRPr>
          </a:p>
        </p:txBody>
      </p:sp>
      <p:sp>
        <p:nvSpPr>
          <p:cNvPr id="8" name="TextBox 7"/>
          <p:cNvSpPr txBox="1"/>
          <p:nvPr/>
        </p:nvSpPr>
        <p:spPr>
          <a:xfrm>
            <a:off x="1014983" y="4004330"/>
            <a:ext cx="4397089" cy="1043157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spcAft>
                <a:spcPts val="600"/>
              </a:spcAft>
            </a:pPr>
            <a:r>
              <a:rPr sz="1000" b="0" i="0">
                <a:solidFill>
                  <a:srgbClr val="203247"/>
                </a:solidFill>
                <a:latin typeface="Arial"/>
              </a:rPr>
              <a:t>• Leadership and ownership signals are not explicit in the current cv.</a:t>
            </a:r>
            <a:endParaRPr sz="1100" b="0" i="0">
              <a:latin typeface="Arial"/>
            </a:endParaRPr>
          </a:p>
        </p:txBody>
      </p:sp>
      <p:sp>
        <p:nvSpPr>
          <p:cNvPr id="9" name="Rounded Rectangle 8"/>
          <p:cNvSpPr/>
          <p:nvPr/>
        </p:nvSpPr>
        <p:spPr>
          <a:xfrm>
            <a:off x="5942425" y="2029968"/>
            <a:ext cx="5441854" cy="3255264"/>
          </a:xfrm>
          <a:prstGeom prst="roundRect">
            <a:avLst/>
          </a:prstGeom>
          <a:solidFill>
            <a:srgbClr val="FFFDFC"/>
          </a:solidFill>
          <a:ln w="12700">
            <a:solidFill>
              <a:srgbClr val="D8DE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5942425" y="2029968"/>
            <a:ext cx="73152" cy="3255264"/>
          </a:xfrm>
          <a:prstGeom prst="rect">
            <a:avLst/>
          </a:prstGeom>
          <a:solidFill>
            <a:srgbClr val="B08B5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180169" y="2267712"/>
            <a:ext cx="4966366" cy="384048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spcAft>
                <a:spcPts val="0"/>
              </a:spcAft>
            </a:pPr>
            <a:r>
              <a:rPr sz="1600" b="1" i="0">
                <a:solidFill>
                  <a:srgbClr val="14263F"/>
                </a:solidFill>
                <a:latin typeface="Arial"/>
              </a:rPr>
              <a:t>Hiring thesis</a:t>
            </a:r>
            <a:endParaRPr sz="1600" b="1" i="0">
              <a:latin typeface="Arial"/>
            </a:endParaRPr>
          </a:p>
        </p:txBody>
      </p:sp>
      <p:sp>
        <p:nvSpPr>
          <p:cNvPr id="12" name="TextBox 11"/>
          <p:cNvSpPr txBox="1"/>
          <p:nvPr/>
        </p:nvSpPr>
        <p:spPr>
          <a:xfrm>
            <a:off x="6180169" y="2706624"/>
            <a:ext cx="4966366" cy="1312732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spcAft>
                <a:spcPts val="0"/>
              </a:spcAft>
            </a:pPr>
            <a:r>
              <a:rPr sz="1400" b="0" i="0">
                <a:solidFill>
                  <a:srgbClr val="203247"/>
                </a:solidFill>
                <a:latin typeface="Arial"/>
              </a:rPr>
              <a:t>Advance to the next stage with focused validation of leadership, scope and business impact.</a:t>
            </a:r>
            <a:endParaRPr sz="1500" b="0" i="0">
              <a:latin typeface="Arial"/>
            </a:endParaRPr>
          </a:p>
        </p:txBody>
      </p:sp>
      <p:sp>
        <p:nvSpPr>
          <p:cNvPr id="13" name="TextBox 12"/>
          <p:cNvSpPr txBox="1"/>
          <p:nvPr/>
        </p:nvSpPr>
        <p:spPr>
          <a:xfrm>
            <a:off x="6180169" y="4074220"/>
            <a:ext cx="4966366" cy="973267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spcAft>
                <a:spcPts val="300"/>
              </a:spcAft>
            </a:pPr>
            <a:r>
              <a:rPr sz="1000" b="0" i="0">
                <a:solidFill>
                  <a:srgbClr val="203247"/>
                </a:solidFill>
                <a:latin typeface="Arial"/>
              </a:rPr>
              <a:t>• Validate scale/production depth</a:t>
            </a:r>
            <a:endParaRPr sz="1100" b="0" i="0">
              <a:latin typeface="Arial"/>
            </a:endParaRPr>
          </a:p>
          <a:p>
            <a:pPr algn="l">
              <a:spcAft>
                <a:spcPts val="300"/>
              </a:spcAft>
            </a:pPr>
            <a:r>
              <a:rPr sz="1000" b="0" i="0">
                <a:solidFill>
                  <a:srgbClr val="203247"/>
                </a:solidFill>
                <a:latin typeface="Arial"/>
              </a:rPr>
              <a:t>• Validate leadership and ownership signals are not explicit in the curre…</a:t>
            </a:r>
            <a:endParaRPr sz="1100" b="0" i="0">
              <a:latin typeface="Arial"/>
            </a:endParaRPr>
          </a:p>
        </p:txBody>
      </p:sp>
      <p:sp>
        <p:nvSpPr>
          <p:cNvPr id="14" name="TextBox 13"/>
          <p:cNvSpPr txBox="1"/>
          <p:nvPr/>
        </p:nvSpPr>
        <p:spPr>
          <a:xfrm>
            <a:off x="777240" y="6327648"/>
            <a:ext cx="5486400" cy="1828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000" b="0" i="0">
                <a:solidFill>
                  <a:srgbClr val="617287"/>
                </a:solidFill>
                <a:latin typeface="Arial"/>
              </a:rPr>
              <a:t>AI Workbench Local • Candidate Review  •  2026-04-06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9966960" y="6327648"/>
            <a:ext cx="1234440" cy="1828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000" b="0" i="0">
                <a:solidFill>
                  <a:srgbClr val="617287"/>
                </a:solidFill>
                <a:latin typeface="Arial"/>
              </a:rPr>
              <a:t>07 / 08</a:t>
            </a:r>
          </a:p>
        </p:txBody>
      </p:sp>
      <p:cxnSp>
        <p:nvCxnSpPr>
          <p:cNvPr id="16" name="Connector 15"/>
          <p:cNvCxnSpPr/>
          <p:nvPr/>
        </p:nvCxnSpPr>
        <p:spPr>
          <a:xfrm>
            <a:off x="777240" y="6272784"/>
            <a:ext cx="10607040" cy="0"/>
          </a:xfrm>
          <a:prstGeom prst="line">
            <a:avLst/>
          </a:prstGeom>
          <a:ln w="10160">
            <a:solidFill>
              <a:srgbClr val="D8DEE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5F2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77240" y="932688"/>
            <a:ext cx="5852160" cy="77724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spcAft>
                <a:spcPts val="0"/>
              </a:spcAft>
            </a:pPr>
            <a:r>
              <a:rPr sz="2800" b="1" i="0">
                <a:solidFill>
                  <a:srgbClr val="14263F"/>
                </a:solidFill>
                <a:latin typeface="Arial"/>
              </a:rPr>
              <a:t>Next steps</a:t>
            </a:r>
            <a:endParaRPr sz="2800" b="1" i="0">
              <a:latin typeface="Arial"/>
            </a:endParaRPr>
          </a:p>
        </p:txBody>
      </p:sp>
      <p:sp>
        <p:nvSpPr>
          <p:cNvPr id="3" name="TextBox 2"/>
          <p:cNvSpPr txBox="1"/>
          <p:nvPr/>
        </p:nvSpPr>
        <p:spPr>
          <a:xfrm>
            <a:off x="777240" y="2331720"/>
            <a:ext cx="6263640" cy="306324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0000"/>
              </a:lnSpc>
              <a:spcAft>
                <a:spcPts val="300"/>
              </a:spcAft>
            </a:pPr>
            <a:r>
              <a:rPr sz="1100" b="0" i="0">
                <a:solidFill>
                  <a:srgbClr val="203247"/>
                </a:solidFill>
                <a:latin typeface="Arial"/>
              </a:rPr>
              <a:t>• Validate scale/production depth</a:t>
            </a:r>
            <a:endParaRPr sz="1300" b="0" i="0">
              <a:latin typeface="Arial"/>
            </a:endParaRPr>
          </a:p>
          <a:p>
            <a:pPr algn="l">
              <a:lnSpc>
                <a:spcPct val="100000"/>
              </a:lnSpc>
              <a:spcAft>
                <a:spcPts val="300"/>
              </a:spcAft>
            </a:pPr>
            <a:r>
              <a:rPr sz="1100" b="0" i="0">
                <a:solidFill>
                  <a:srgbClr val="203247"/>
                </a:solidFill>
                <a:latin typeface="Arial"/>
              </a:rPr>
              <a:t>• Validate leadership and ownership signals are not explicit in the current CV</a:t>
            </a:r>
            <a:endParaRPr sz="1300" b="0" i="0">
              <a:latin typeface="Arial"/>
            </a:endParaRPr>
          </a:p>
          <a:p>
            <a:pPr algn="l">
              <a:lnSpc>
                <a:spcPct val="100000"/>
              </a:lnSpc>
              <a:spcAft>
                <a:spcPts val="300"/>
              </a:spcAft>
            </a:pPr>
            <a:r>
              <a:rPr sz="1100" b="0" i="0">
                <a:solidFill>
                  <a:srgbClr val="203247"/>
                </a:solidFill>
                <a:latin typeface="Arial"/>
              </a:rPr>
              <a:t>• Run a focused interview on leadership, ownership and stakeholder management exa…</a:t>
            </a:r>
            <a:endParaRPr sz="1300" b="0" i="0">
              <a:latin typeface="Arial"/>
            </a:endParaRPr>
          </a:p>
          <a:p>
            <a:pPr algn="l">
              <a:lnSpc>
                <a:spcPct val="100000"/>
              </a:lnSpc>
              <a:spcAft>
                <a:spcPts val="300"/>
              </a:spcAft>
            </a:pPr>
            <a:r>
              <a:rPr sz="1100" b="0" i="0">
                <a:solidFill>
                  <a:srgbClr val="203247"/>
                </a:solidFill>
                <a:latin typeface="Arial"/>
              </a:rPr>
              <a:t>• Validate delivery depth with concrete examples of architecture, execution and b…</a:t>
            </a:r>
            <a:endParaRPr sz="1300" b="0" i="0">
              <a:latin typeface="Arial"/>
            </a:endParaRPr>
          </a:p>
        </p:txBody>
      </p:sp>
      <p:sp>
        <p:nvSpPr>
          <p:cNvPr id="4" name="Rounded Rectangle 3"/>
          <p:cNvSpPr/>
          <p:nvPr/>
        </p:nvSpPr>
        <p:spPr>
          <a:xfrm>
            <a:off x="7360919" y="960120"/>
            <a:ext cx="4023360" cy="4526280"/>
          </a:xfrm>
          <a:prstGeom prst="roundRect">
            <a:avLst/>
          </a:prstGeom>
          <a:solidFill>
            <a:srgbClr val="FFFDFC"/>
          </a:solidFill>
          <a:ln w="12700">
            <a:solidFill>
              <a:srgbClr val="D8DE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7360919" y="960120"/>
            <a:ext cx="4023360" cy="73152"/>
          </a:xfrm>
          <a:prstGeom prst="rect">
            <a:avLst/>
          </a:prstGeom>
          <a:solidFill>
            <a:srgbClr val="B08B5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616951" y="1216152"/>
            <a:ext cx="3511296" cy="1700368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spcAft>
                <a:spcPts val="0"/>
              </a:spcAft>
            </a:pPr>
            <a:r>
              <a:rPr sz="1300" b="0" i="0">
                <a:solidFill>
                  <a:srgbClr val="203247"/>
                </a:solidFill>
                <a:latin typeface="Arial"/>
              </a:rPr>
              <a:t>Validate scale/production depth</a:t>
            </a:r>
            <a:endParaRPr sz="1300" b="0" i="0">
              <a:latin typeface="Arial"/>
            </a:endParaRPr>
          </a:p>
        </p:txBody>
      </p:sp>
      <p:sp>
        <p:nvSpPr>
          <p:cNvPr id="7" name="TextBox 6"/>
          <p:cNvSpPr txBox="1"/>
          <p:nvPr/>
        </p:nvSpPr>
        <p:spPr>
          <a:xfrm>
            <a:off x="7616951" y="3007960"/>
            <a:ext cx="3511296" cy="2222407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0000"/>
              </a:lnSpc>
              <a:spcAft>
                <a:spcPts val="300"/>
              </a:spcAft>
            </a:pPr>
            <a:r>
              <a:rPr sz="1100" b="0" i="0">
                <a:solidFill>
                  <a:srgbClr val="14263F"/>
                </a:solidFill>
                <a:latin typeface="Arial"/>
              </a:rPr>
              <a:t>• Validate leadership and ownership signals are not explicit in the current CV</a:t>
            </a:r>
            <a:endParaRPr sz="1300" b="0" i="0">
              <a:latin typeface="Arial"/>
            </a:endParaRPr>
          </a:p>
          <a:p>
            <a:pPr algn="l">
              <a:lnSpc>
                <a:spcPct val="100000"/>
              </a:lnSpc>
              <a:spcAft>
                <a:spcPts val="300"/>
              </a:spcAft>
            </a:pPr>
            <a:r>
              <a:rPr sz="1100" b="0" i="0">
                <a:solidFill>
                  <a:srgbClr val="14263F"/>
                </a:solidFill>
                <a:latin typeface="Arial"/>
              </a:rPr>
              <a:t>• Run a focused interview on leadership, ownership and stakeholder management exa…</a:t>
            </a:r>
            <a:endParaRPr sz="1300" b="0" i="0">
              <a:latin typeface="Arial"/>
            </a:endParaRPr>
          </a:p>
          <a:p>
            <a:pPr algn="l">
              <a:lnSpc>
                <a:spcPct val="100000"/>
              </a:lnSpc>
              <a:spcAft>
                <a:spcPts val="300"/>
              </a:spcAft>
            </a:pPr>
            <a:r>
              <a:rPr sz="1100" b="0" i="0">
                <a:solidFill>
                  <a:srgbClr val="14263F"/>
                </a:solidFill>
                <a:latin typeface="Arial"/>
              </a:rPr>
              <a:t>• Validate delivery depth with concrete examples of architecture, execution and b…</a:t>
            </a:r>
            <a:endParaRPr sz="1300" b="0" i="0">
              <a:latin typeface="Arial"/>
            </a:endParaRPr>
          </a:p>
        </p:txBody>
      </p:sp>
      <p:sp>
        <p:nvSpPr>
          <p:cNvPr id="8" name="TextBox 7"/>
          <p:cNvSpPr txBox="1"/>
          <p:nvPr/>
        </p:nvSpPr>
        <p:spPr>
          <a:xfrm>
            <a:off x="777240" y="6327648"/>
            <a:ext cx="5486400" cy="1828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000" b="0" i="0">
                <a:solidFill>
                  <a:srgbClr val="617287"/>
                </a:solidFill>
                <a:latin typeface="Arial"/>
              </a:rPr>
              <a:t>AI Workbench Local • Candidate Review  •  2026-04-06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966960" y="6327648"/>
            <a:ext cx="1234440" cy="1828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000" b="0" i="0">
                <a:solidFill>
                  <a:srgbClr val="617287"/>
                </a:solidFill>
                <a:latin typeface="Arial"/>
              </a:rPr>
              <a:t>08 / 08</a:t>
            </a:r>
          </a:p>
        </p:txBody>
      </p:sp>
      <p:cxnSp>
        <p:nvCxnSpPr>
          <p:cNvPr id="10" name="Connector 9"/>
          <p:cNvCxnSpPr/>
          <p:nvPr/>
        </p:nvCxnSpPr>
        <p:spPr>
          <a:xfrm>
            <a:off x="777240" y="6272784"/>
            <a:ext cx="10607040" cy="0"/>
          </a:xfrm>
          <a:prstGeom prst="line">
            <a:avLst/>
          </a:prstGeom>
          <a:ln w="10160">
            <a:solidFill>
              <a:srgbClr val="D8DEE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