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Export kind: policy_contract_comparison_deck. Deck family: comparison. Sources: structured_result, document_agent_comparison.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summary consolidated from the product's grounded signals.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Differences and impacts extracted from the document-comparison 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decision framing for this slice.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777240" y="658368"/>
            <a:ext cx="91440" cy="1051560"/>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8992" y="896112"/>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COMPARISON REVIEW OF GROUNDED DOCUMENT DIFFERENCES</a:t>
            </a:r>
          </a:p>
        </p:txBody>
      </p:sp>
      <p:sp>
        <p:nvSpPr>
          <p:cNvPr id="4" name="TextBox 3"/>
          <p:cNvSpPr txBox="1"/>
          <p:nvPr/>
        </p:nvSpPr>
        <p:spPr>
          <a:xfrm>
            <a:off x="1078992" y="1143000"/>
            <a:ext cx="6126480" cy="1243584"/>
          </a:xfrm>
          <a:prstGeom prst="rect">
            <a:avLst/>
          </a:prstGeom>
          <a:noFill/>
        </p:spPr>
        <p:txBody>
          <a:bodyPr wrap="square" anchor="t" lIns="0" rIns="0" tIns="0" bIns="0">
            <a:noAutofit/>
          </a:bodyPr>
          <a:lstStyle/>
          <a:p>
            <a:pPr algn="l">
              <a:spcAft>
                <a:spcPts val="0"/>
              </a:spcAft>
            </a:pPr>
            <a:r>
              <a:rPr sz="3200" b="1" i="0">
                <a:solidFill>
                  <a:srgbClr val="14263F"/>
                </a:solidFill>
                <a:latin typeface="Arial"/>
              </a:rPr>
              <a:t>AI Workbench Local — Policy / Contract Comparison</a:t>
            </a:r>
            <a:endParaRPr sz="3200" b="1" i="0">
              <a:latin typeface="Arial"/>
            </a:endParaRPr>
          </a:p>
        </p:txBody>
      </p:sp>
      <p:sp>
        <p:nvSpPr>
          <p:cNvPr id="5" name="TextBox 4"/>
          <p:cNvSpPr txBox="1"/>
          <p:nvPr/>
        </p:nvSpPr>
        <p:spPr>
          <a:xfrm>
            <a:off x="1078992" y="2551176"/>
            <a:ext cx="5394960" cy="475488"/>
          </a:xfrm>
          <a:prstGeom prst="rect">
            <a:avLst/>
          </a:prstGeom>
          <a:noFill/>
        </p:spPr>
        <p:txBody>
          <a:bodyPr wrap="square" anchor="t" lIns="0" rIns="0" tIns="0" bIns="0">
            <a:noAutofit/>
          </a:bodyPr>
          <a:lstStyle/>
          <a:p>
            <a:pPr algn="l">
              <a:spcAft>
                <a:spcPts val="0"/>
              </a:spcAft>
            </a:pPr>
            <a:r>
              <a:rPr sz="1300" b="0" i="0">
                <a:solidFill>
                  <a:srgbClr val="617287"/>
                </a:solidFill>
                <a:latin typeface="Arial"/>
              </a:rPr>
              <a:t>Executive comparison review of grounded document differences</a:t>
            </a:r>
            <a:endParaRPr sz="1300" b="0" i="0">
              <a:latin typeface="Arial"/>
            </a:endParaRPr>
          </a:p>
        </p:txBody>
      </p:sp>
      <p:sp>
        <p:nvSpPr>
          <p:cNvPr id="6" name="Rounded Rectangle 5"/>
          <p:cNvSpPr/>
          <p:nvPr/>
        </p:nvSpPr>
        <p:spPr>
          <a:xfrm>
            <a:off x="8092440" y="960120"/>
            <a:ext cx="3291840" cy="425196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325880"/>
            <a:ext cx="2560320" cy="1926832"/>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Author</a:t>
            </a:r>
          </a:p>
          <a:p>
            <a:pPr algn="l">
              <a:spcAft>
                <a:spcPts val="0"/>
              </a:spcAft>
            </a:pPr>
            <a:r>
              <a:rPr sz="1400" b="0" i="0">
                <a:solidFill>
                  <a:srgbClr val="203247"/>
                </a:solidFill>
                <a:latin typeface="Arial"/>
              </a:rPr>
              <a:t>AI Workbench Local</a:t>
            </a:r>
          </a:p>
        </p:txBody>
      </p:sp>
      <p:sp>
        <p:nvSpPr>
          <p:cNvPr id="8" name="TextBox 7"/>
          <p:cNvSpPr txBox="1"/>
          <p:nvPr/>
        </p:nvSpPr>
        <p:spPr>
          <a:xfrm>
            <a:off x="8458200" y="3325864"/>
            <a:ext cx="2560320" cy="1520455"/>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Date</a:t>
            </a:r>
          </a:p>
          <a:p>
            <a:pPr algn="l">
              <a:spcAft>
                <a:spcPts val="0"/>
              </a:spcAft>
            </a:pPr>
            <a:r>
              <a:rPr sz="1400" b="0" i="0">
                <a:solidFill>
                  <a:srgbClr val="203247"/>
                </a:solidFill>
                <a:latin typeface="Arial"/>
              </a:rPr>
              <a:t>2026-04-18</a:t>
            </a:r>
          </a:p>
        </p:txBody>
      </p:sp>
      <p:sp>
        <p:nvSpPr>
          <p:cNvPr id="9" name="TextBox 8"/>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0" name="TextBox 9"/>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01 / 06</a:t>
            </a:r>
          </a:p>
        </p:txBody>
      </p:sp>
      <p:cxnSp>
        <p:nvCxnSpPr>
          <p:cNvPr id="11" name="Connector 10"/>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summary</a:t>
            </a:r>
            <a:endParaRPr sz="2800" b="1" i="0">
              <a:latin typeface="Arial"/>
            </a:endParaRPr>
          </a:p>
        </p:txBody>
      </p:sp>
      <p:sp>
        <p:nvSpPr>
          <p:cNvPr id="3" name="TextBox 2"/>
          <p:cNvSpPr txBox="1"/>
          <p:nvPr/>
        </p:nvSpPr>
        <p:spPr>
          <a:xfrm>
            <a:off x="777240" y="2048256"/>
            <a:ext cx="6447488" cy="1938528"/>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The summaries highlight two distinct aspects of Northwind’s access governance: one focuses on evidence gaps in vendor control reviews, while the other addresses conditional approval for privileged access with governance safeguards. Material differences include the nature of the controls (evidence completeness vs. access authorization), the scope of accountability (vendor artifacts vs. personnel), and the requirement for proactive verification (archival validation vs. revalidation upon personnel change). Both underscore the need for rigor, but one centers on documentation integrity and the other on operational governance of access privileges.
- The Access Review Evidence Log documents missing or incomplete evidence artifacts, requiring archival verification to close controls.  
- The Privileged Account Approval Email outlines a time-bound, conditional authorization subject to governance controls and revalidation upon personnel changes.  
- Evidence gaps involve provenance verification of vendor documentation; privileged access requires proactive verification of personnel and operational conditions.  
- The evidence log is tied to control closure in a vendor review; privileged access approval is tied to ongoing governance and audit readiness.  
- Missing evidence prevents full control closure; conditional approval permits continued access only under strict, monitored conditions.  
- One addresses synthetic documentation as test material; the other treats access as a governed, accountable function requiring oversight.</a:t>
            </a:r>
            <a:endParaRPr sz="1000" b="0" i="0">
              <a:latin typeface="Arial"/>
            </a:endParaRPr>
          </a:p>
        </p:txBody>
      </p:sp>
      <p:sp>
        <p:nvSpPr>
          <p:cNvPr id="4" name="Rounded Rectangle 3"/>
          <p:cNvSpPr/>
          <p:nvPr/>
        </p:nvSpPr>
        <p:spPr>
          <a:xfrm>
            <a:off x="7517336" y="1865376"/>
            <a:ext cx="3866943" cy="31272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17336" y="1865376"/>
            <a:ext cx="38669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36792" y="2084832"/>
            <a:ext cx="3428031" cy="256032"/>
          </a:xfrm>
          <a:prstGeom prst="rect">
            <a:avLst/>
          </a:prstGeom>
          <a:noFill/>
        </p:spPr>
        <p:txBody>
          <a:bodyPr wrap="square" anchor="t" lIns="0" rIns="0" tIns="0" bIns="0">
            <a:spAutoFit/>
          </a:bodyPr>
          <a:lstStyle/>
          <a:p/>
        </p:txBody>
      </p:sp>
      <p:sp>
        <p:nvSpPr>
          <p:cNvPr id="7" name="TextBox 6"/>
          <p:cNvSpPr txBox="1"/>
          <p:nvPr/>
        </p:nvSpPr>
        <p:spPr>
          <a:xfrm>
            <a:off x="7736792" y="2414016"/>
            <a:ext cx="3428031" cy="2359152"/>
          </a:xfrm>
          <a:prstGeom prst="rect">
            <a:avLst/>
          </a:prstGeom>
          <a:noFill/>
        </p:spPr>
        <p:txBody>
          <a:bodyPr wrap="square" anchor="t" lIns="0" rIns="0" tIns="0" bIns="0">
            <a:noAutofit/>
          </a:bodyPr>
          <a:lstStyle/>
          <a:p>
            <a:pPr algn="l">
              <a:lnSpc>
                <a:spcPct val="100000"/>
              </a:lnSpc>
              <a:spcAft>
                <a:spcPts val="300"/>
              </a:spcAft>
            </a:pPr>
            <a:r>
              <a:rPr sz="900" b="0" i="0">
                <a:solidFill>
                  <a:srgbClr val="203247"/>
                </a:solidFill>
                <a:latin typeface="Arial"/>
              </a:rPr>
              <a:t>• The summaries highlight two distinct aspects of Northwind’s access governan…</a:t>
            </a:r>
            <a:endParaRPr sz="1000" b="0" i="0">
              <a:latin typeface="Arial"/>
            </a:endParaRPr>
          </a:p>
          <a:p>
            <a:pPr algn="l">
              <a:lnSpc>
                <a:spcPct val="100000"/>
              </a:lnSpc>
              <a:spcAft>
                <a:spcPts val="300"/>
              </a:spcAft>
            </a:pPr>
            <a:r>
              <a:rPr sz="900" b="0" i="0">
                <a:solidFill>
                  <a:srgbClr val="203247"/>
                </a:solidFill>
                <a:latin typeface="Arial"/>
              </a:rPr>
              <a:t>• The Access Review Evidence Log documents missing or incomplete evidence art…</a:t>
            </a:r>
            <a:endParaRPr sz="1000" b="0" i="0">
              <a:latin typeface="Arial"/>
            </a:endParaRPr>
          </a:p>
          <a:p>
            <a:pPr algn="l">
              <a:lnSpc>
                <a:spcPct val="100000"/>
              </a:lnSpc>
              <a:spcAft>
                <a:spcPts val="300"/>
              </a:spcAft>
            </a:pPr>
            <a:r>
              <a:rPr sz="900" b="0" i="0">
                <a:solidFill>
                  <a:srgbClr val="203247"/>
                </a:solidFill>
                <a:latin typeface="Arial"/>
              </a:rPr>
              <a:t>• The Privileged Account Approval Email outlines a time-bound, conditional au…</a:t>
            </a:r>
            <a:endParaRPr sz="10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02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KEY METRICS</a:t>
            </a:r>
          </a:p>
        </p:txBody>
      </p:sp>
      <p:sp>
        <p:nvSpPr>
          <p:cNvPr id="3" name="TextBox 2"/>
          <p:cNvSpPr txBox="1"/>
          <p:nvPr/>
        </p:nvSpPr>
        <p:spPr>
          <a:xfrm>
            <a:off x="777240" y="932688"/>
            <a:ext cx="681228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snapshot</a:t>
            </a:r>
            <a:endParaRPr sz="2800" b="1" i="0">
              <a:latin typeface="Arial"/>
            </a:endParaRPr>
          </a:p>
        </p:txBody>
      </p:sp>
      <p:sp>
        <p:nvSpPr>
          <p:cNvPr id="4" name="Rounded Rectangle 3"/>
          <p:cNvSpPr/>
          <p:nvPr/>
        </p:nvSpPr>
        <p:spPr>
          <a:xfrm>
            <a:off x="777240"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212848"/>
            <a:ext cx="2509160"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2</a:t>
            </a:r>
            <a:endParaRPr sz="2400" b="1" i="0">
              <a:latin typeface="Arial"/>
            </a:endParaRPr>
          </a:p>
        </p:txBody>
      </p:sp>
      <p:sp>
        <p:nvSpPr>
          <p:cNvPr id="7" name="TextBox 6"/>
          <p:cNvSpPr txBox="1"/>
          <p:nvPr/>
        </p:nvSpPr>
        <p:spPr>
          <a:xfrm>
            <a:off x="99669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Compared docs</a:t>
            </a:r>
            <a:endParaRPr sz="1200" b="1" i="0">
              <a:latin typeface="Arial"/>
            </a:endParaRPr>
          </a:p>
        </p:txBody>
      </p:sp>
      <p:sp>
        <p:nvSpPr>
          <p:cNvPr id="8" name="Rounded Rectangle 7"/>
          <p:cNvSpPr/>
          <p:nvPr/>
        </p:nvSpPr>
        <p:spPr>
          <a:xfrm>
            <a:off x="3524144"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4144" y="2212848"/>
            <a:ext cx="24377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3600"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8</a:t>
            </a:r>
            <a:endParaRPr sz="2400" b="1" i="0">
              <a:latin typeface="Arial"/>
            </a:endParaRPr>
          </a:p>
        </p:txBody>
      </p:sp>
      <p:sp>
        <p:nvSpPr>
          <p:cNvPr id="11" name="TextBox 10"/>
          <p:cNvSpPr txBox="1"/>
          <p:nvPr/>
        </p:nvSpPr>
        <p:spPr>
          <a:xfrm>
            <a:off x="3743600"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Findings</a:t>
            </a:r>
            <a:endParaRPr sz="1200" b="1" i="0">
              <a:latin typeface="Arial"/>
            </a:endParaRPr>
          </a:p>
        </p:txBody>
      </p:sp>
      <p:sp>
        <p:nvSpPr>
          <p:cNvPr id="12" name="Rounded Rectangle 11"/>
          <p:cNvSpPr/>
          <p:nvPr/>
        </p:nvSpPr>
        <p:spPr>
          <a:xfrm>
            <a:off x="6199632"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2212848"/>
            <a:ext cx="2437743"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4</a:t>
            </a:r>
            <a:endParaRPr sz="2400" b="1" i="0">
              <a:latin typeface="Arial"/>
            </a:endParaRPr>
          </a:p>
        </p:txBody>
      </p:sp>
      <p:sp>
        <p:nvSpPr>
          <p:cNvPr id="15" name="TextBox 14"/>
          <p:cNvSpPr txBox="1"/>
          <p:nvPr/>
        </p:nvSpPr>
        <p:spPr>
          <a:xfrm>
            <a:off x="6419088"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Sources</a:t>
            </a:r>
            <a:endParaRPr sz="1200" b="1" i="0">
              <a:latin typeface="Arial"/>
            </a:endParaRPr>
          </a:p>
        </p:txBody>
      </p:sp>
      <p:sp>
        <p:nvSpPr>
          <p:cNvPr id="16" name="Rounded Rectangle 15"/>
          <p:cNvSpPr/>
          <p:nvPr/>
        </p:nvSpPr>
        <p:spPr>
          <a:xfrm>
            <a:off x="8875119"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75119" y="2212848"/>
            <a:ext cx="25091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457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No</a:t>
            </a:r>
            <a:endParaRPr sz="2400" b="1" i="0">
              <a:latin typeface="Arial"/>
            </a:endParaRPr>
          </a:p>
        </p:txBody>
      </p:sp>
      <p:sp>
        <p:nvSpPr>
          <p:cNvPr id="19" name="TextBox 18"/>
          <p:cNvSpPr txBox="1"/>
          <p:nvPr/>
        </p:nvSpPr>
        <p:spPr>
          <a:xfrm>
            <a:off x="909457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Needs review</a:t>
            </a:r>
            <a:endParaRPr sz="1200" b="1" i="0">
              <a:latin typeface="Arial"/>
            </a:endParaRPr>
          </a:p>
        </p:txBody>
      </p:sp>
      <p:sp>
        <p:nvSpPr>
          <p:cNvPr id="20" name="TextBox 19"/>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21" name="TextBox 20"/>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03 / 06</a:t>
            </a:r>
          </a:p>
        </p:txBody>
      </p:sp>
      <p:cxnSp>
        <p:nvCxnSpPr>
          <p:cNvPr id="22" name="Connector 21"/>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TABLE</a:t>
            </a:r>
          </a:p>
        </p:txBody>
      </p:sp>
      <p:sp>
        <p:nvSpPr>
          <p:cNvPr id="3" name="TextBox 2"/>
          <p:cNvSpPr txBox="1"/>
          <p:nvPr/>
        </p:nvSpPr>
        <p:spPr>
          <a:xfrm>
            <a:off x="777240" y="932688"/>
            <a:ext cx="7498079"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Comparison findings</a:t>
            </a:r>
            <a:endParaRPr sz="2800" b="1" i="0">
              <a:latin typeface="Arial"/>
            </a:endParaRPr>
          </a:p>
        </p:txBody>
      </p:sp>
      <p:sp>
        <p:nvSpPr>
          <p:cNvPr id="4" name="Rounded Rectangle 3"/>
          <p:cNvSpPr/>
          <p:nvPr/>
        </p:nvSpPr>
        <p:spPr>
          <a:xfrm>
            <a:off x="777240" y="1920240"/>
            <a:ext cx="2352634"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984248"/>
            <a:ext cx="2224618"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Type</a:t>
            </a:r>
            <a:endParaRPr sz="1100" b="1" i="0">
              <a:latin typeface="Arial"/>
            </a:endParaRPr>
          </a:p>
        </p:txBody>
      </p:sp>
      <p:sp>
        <p:nvSpPr>
          <p:cNvPr id="6" name="Rounded Rectangle 5"/>
          <p:cNvSpPr/>
          <p:nvPr/>
        </p:nvSpPr>
        <p:spPr>
          <a:xfrm>
            <a:off x="3175594"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39602"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Finding</a:t>
            </a:r>
            <a:endParaRPr sz="1100" b="1" i="0">
              <a:latin typeface="Arial"/>
            </a:endParaRPr>
          </a:p>
        </p:txBody>
      </p:sp>
      <p:sp>
        <p:nvSpPr>
          <p:cNvPr id="8" name="Rounded Rectangle 7"/>
          <p:cNvSpPr/>
          <p:nvPr/>
        </p:nvSpPr>
        <p:spPr>
          <a:xfrm>
            <a:off x="5927063"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91071"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Documents</a:t>
            </a:r>
            <a:endParaRPr sz="1100" b="1" i="0">
              <a:latin typeface="Arial"/>
            </a:endParaRPr>
          </a:p>
        </p:txBody>
      </p:sp>
      <p:sp>
        <p:nvSpPr>
          <p:cNvPr id="10" name="Rounded Rectangle 9"/>
          <p:cNvSpPr/>
          <p:nvPr/>
        </p:nvSpPr>
        <p:spPr>
          <a:xfrm>
            <a:off x="8678531"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42539"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Evidence</a:t>
            </a:r>
            <a:endParaRPr sz="1100" b="1" i="0">
              <a:latin typeface="Arial"/>
            </a:endParaRPr>
          </a:p>
        </p:txBody>
      </p:sp>
      <p:sp>
        <p:nvSpPr>
          <p:cNvPr id="12" name="Rounded Rectangle 11"/>
          <p:cNvSpPr/>
          <p:nvPr/>
        </p:nvSpPr>
        <p:spPr>
          <a:xfrm>
            <a:off x="777240" y="245059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51460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14" name="Rounded Rectangle 13"/>
          <p:cNvSpPr/>
          <p:nvPr/>
        </p:nvSpPr>
        <p:spPr>
          <a:xfrm>
            <a:off x="3175594"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39602"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Access Review Evidence Log.pdf (pdf)</a:t>
            </a:r>
            <a:endParaRPr sz="1000" b="0" i="0">
              <a:latin typeface="Arial"/>
            </a:endParaRPr>
          </a:p>
        </p:txBody>
      </p:sp>
      <p:sp>
        <p:nvSpPr>
          <p:cNvPr id="16" name="Rounded Rectangle 15"/>
          <p:cNvSpPr/>
          <p:nvPr/>
        </p:nvSpPr>
        <p:spPr>
          <a:xfrm>
            <a:off x="5927063"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1071"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a:t>
            </a:r>
            <a:endParaRPr sz="1000" b="0" i="0">
              <a:latin typeface="Arial"/>
            </a:endParaRPr>
          </a:p>
        </p:txBody>
      </p:sp>
      <p:sp>
        <p:nvSpPr>
          <p:cNvPr id="18" name="Rounded Rectangle 17"/>
          <p:cNvSpPr/>
          <p:nvPr/>
        </p:nvSpPr>
        <p:spPr>
          <a:xfrm>
            <a:off x="8678531"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42539" y="251460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Critical evidence items such as EV-002 require archival verification before they can satisfy the control. | The presenc…</a:t>
            </a:r>
            <a:endParaRPr sz="700" b="0" i="0">
              <a:latin typeface="Arial"/>
            </a:endParaRPr>
          </a:p>
        </p:txBody>
      </p:sp>
      <p:sp>
        <p:nvSpPr>
          <p:cNvPr id="20" name="Rounded Rectangle 19"/>
          <p:cNvSpPr/>
          <p:nvPr/>
        </p:nvSpPr>
        <p:spPr>
          <a:xfrm>
            <a:off x="777240" y="291007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297408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22" name="Rounded Rectangle 21"/>
          <p:cNvSpPr/>
          <p:nvPr/>
        </p:nvSpPr>
        <p:spPr>
          <a:xfrm>
            <a:off x="3175594"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39602"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Privileged Account Approval Email.pdf (pdf)</a:t>
            </a:r>
            <a:endParaRPr sz="1000" b="0" i="0">
              <a:latin typeface="Arial"/>
            </a:endParaRPr>
          </a:p>
        </p:txBody>
      </p:sp>
      <p:sp>
        <p:nvSpPr>
          <p:cNvPr id="24" name="Rounded Rectangle 23"/>
          <p:cNvSpPr/>
          <p:nvPr/>
        </p:nvSpPr>
        <p:spPr>
          <a:xfrm>
            <a:off x="5927063"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91071"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Privileged Account Approval Email.pdf (pdf)</a:t>
            </a:r>
            <a:endParaRPr sz="1000" b="0" i="0">
              <a:latin typeface="Arial"/>
            </a:endParaRPr>
          </a:p>
        </p:txBody>
      </p:sp>
      <p:sp>
        <p:nvSpPr>
          <p:cNvPr id="26" name="Rounded Rectangle 25"/>
          <p:cNvSpPr/>
          <p:nvPr/>
        </p:nvSpPr>
        <p:spPr>
          <a:xfrm>
            <a:off x="8678531"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42539" y="297408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The approval is conditional and time-bound, tied to specific operational controls and governance checkpoints. | Governa…</a:t>
            </a:r>
            <a:endParaRPr sz="700" b="0" i="0">
              <a:latin typeface="Arial"/>
            </a:endParaRPr>
          </a:p>
        </p:txBody>
      </p:sp>
      <p:sp>
        <p:nvSpPr>
          <p:cNvPr id="28" name="Rounded Rectangle 27"/>
          <p:cNvSpPr/>
          <p:nvPr/>
        </p:nvSpPr>
        <p:spPr>
          <a:xfrm>
            <a:off x="777240" y="336956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343357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30" name="Rounded Rectangle 29"/>
          <p:cNvSpPr/>
          <p:nvPr/>
        </p:nvSpPr>
        <p:spPr>
          <a:xfrm>
            <a:off x="3175594"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39602"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summaries highlight two distinct aspects of Northwind’s…</a:t>
            </a:r>
            <a:endParaRPr sz="1000" b="0" i="0">
              <a:latin typeface="Arial"/>
            </a:endParaRPr>
          </a:p>
        </p:txBody>
      </p:sp>
      <p:sp>
        <p:nvSpPr>
          <p:cNvPr id="32" name="Rounded Rectangle 31"/>
          <p:cNvSpPr/>
          <p:nvPr/>
        </p:nvSpPr>
        <p:spPr>
          <a:xfrm>
            <a:off x="5927063"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91071"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34" name="Rounded Rectangle 33"/>
          <p:cNvSpPr/>
          <p:nvPr/>
        </p:nvSpPr>
        <p:spPr>
          <a:xfrm>
            <a:off x="8678531"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42539" y="343357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serves as the evidence register for the…</a:t>
            </a:r>
            <a:endParaRPr sz="700" b="0" i="0">
              <a:latin typeface="Arial"/>
            </a:endParaRPr>
          </a:p>
        </p:txBody>
      </p:sp>
      <p:sp>
        <p:nvSpPr>
          <p:cNvPr id="36" name="Rounded Rectangle 35"/>
          <p:cNvSpPr/>
          <p:nvPr/>
        </p:nvSpPr>
        <p:spPr>
          <a:xfrm>
            <a:off x="777240" y="3829050"/>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3893058"/>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auditability_delta</a:t>
            </a:r>
            <a:endParaRPr sz="1000" b="0" i="0">
              <a:latin typeface="Arial"/>
            </a:endParaRPr>
          </a:p>
        </p:txBody>
      </p:sp>
      <p:sp>
        <p:nvSpPr>
          <p:cNvPr id="38" name="Rounded Rectangle 37"/>
          <p:cNvSpPr/>
          <p:nvPr/>
        </p:nvSpPr>
        <p:spPr>
          <a:xfrm>
            <a:off x="3175594"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39602"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Access Review Evidence Log documents missing or…</a:t>
            </a:r>
            <a:endParaRPr sz="1000" b="0" i="0">
              <a:latin typeface="Arial"/>
            </a:endParaRPr>
          </a:p>
        </p:txBody>
      </p:sp>
      <p:sp>
        <p:nvSpPr>
          <p:cNvPr id="40" name="Rounded Rectangle 39"/>
          <p:cNvSpPr/>
          <p:nvPr/>
        </p:nvSpPr>
        <p:spPr>
          <a:xfrm>
            <a:off x="5927063"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91071"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42" name="Rounded Rectangle 41"/>
          <p:cNvSpPr/>
          <p:nvPr/>
        </p:nvSpPr>
        <p:spPr>
          <a:xfrm>
            <a:off x="8678531"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42539" y="3893058"/>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serves as the evidence register for the…</a:t>
            </a:r>
            <a:endParaRPr sz="700" b="0" i="0">
              <a:latin typeface="Arial"/>
            </a:endParaRPr>
          </a:p>
        </p:txBody>
      </p:sp>
      <p:sp>
        <p:nvSpPr>
          <p:cNvPr id="44" name="Rounded Rectangle 43"/>
          <p:cNvSpPr/>
          <p:nvPr/>
        </p:nvSpPr>
        <p:spPr>
          <a:xfrm>
            <a:off x="777240" y="4288536"/>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7" y="4352544"/>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46" name="Rounded Rectangle 45"/>
          <p:cNvSpPr/>
          <p:nvPr/>
        </p:nvSpPr>
        <p:spPr>
          <a:xfrm>
            <a:off x="3175594"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39602"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Privileged Account Approval Email outlines a time-bound,…</a:t>
            </a:r>
            <a:endParaRPr sz="1000" b="0" i="0">
              <a:latin typeface="Arial"/>
            </a:endParaRPr>
          </a:p>
        </p:txBody>
      </p:sp>
      <p:sp>
        <p:nvSpPr>
          <p:cNvPr id="48" name="Rounded Rectangle 47"/>
          <p:cNvSpPr/>
          <p:nvPr/>
        </p:nvSpPr>
        <p:spPr>
          <a:xfrm>
            <a:off x="5927063"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91071"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0" name="Rounded Rectangle 49"/>
          <p:cNvSpPr/>
          <p:nvPr/>
        </p:nvSpPr>
        <p:spPr>
          <a:xfrm>
            <a:off x="8678531"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42539" y="4352544"/>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EV-002 (System owner approval email) is missing but can be satisfied by an attach…</a:t>
            </a:r>
            <a:endParaRPr sz="700" b="0" i="0">
              <a:latin typeface="Arial"/>
            </a:endParaRPr>
          </a:p>
        </p:txBody>
      </p:sp>
      <p:sp>
        <p:nvSpPr>
          <p:cNvPr id="52" name="Rounded Rectangle 51"/>
          <p:cNvSpPr/>
          <p:nvPr/>
        </p:nvSpPr>
        <p:spPr>
          <a:xfrm>
            <a:off x="777240" y="474802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1247" y="481203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vendor_oversight_delta</a:t>
            </a:r>
            <a:endParaRPr sz="1000" b="0" i="0">
              <a:latin typeface="Arial"/>
            </a:endParaRPr>
          </a:p>
        </p:txBody>
      </p:sp>
      <p:sp>
        <p:nvSpPr>
          <p:cNvPr id="54" name="Rounded Rectangle 53"/>
          <p:cNvSpPr/>
          <p:nvPr/>
        </p:nvSpPr>
        <p:spPr>
          <a:xfrm>
            <a:off x="3175594"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39602"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Evidence gaps involve provenance verification of vendor documentation;…</a:t>
            </a:r>
            <a:endParaRPr sz="1000" b="0" i="0">
              <a:latin typeface="Arial"/>
            </a:endParaRPr>
          </a:p>
        </p:txBody>
      </p:sp>
      <p:sp>
        <p:nvSpPr>
          <p:cNvPr id="56" name="Rounded Rectangle 55"/>
          <p:cNvSpPr/>
          <p:nvPr/>
        </p:nvSpPr>
        <p:spPr>
          <a:xfrm>
            <a:off x="5927063"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91071"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8" name="Rounded Rectangle 57"/>
          <p:cNvSpPr/>
          <p:nvPr/>
        </p:nvSpPr>
        <p:spPr>
          <a:xfrm>
            <a:off x="8678531"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42539" y="481203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serves as the evidence register for the…</a:t>
            </a:r>
            <a:endParaRPr sz="700" b="0" i="0">
              <a:latin typeface="Arial"/>
            </a:endParaRPr>
          </a:p>
        </p:txBody>
      </p:sp>
      <p:sp>
        <p:nvSpPr>
          <p:cNvPr id="60" name="Rounded Rectangle 59"/>
          <p:cNvSpPr/>
          <p:nvPr/>
        </p:nvSpPr>
        <p:spPr>
          <a:xfrm>
            <a:off x="777240" y="520750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7" y="527151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62" name="Rounded Rectangle 61"/>
          <p:cNvSpPr/>
          <p:nvPr/>
        </p:nvSpPr>
        <p:spPr>
          <a:xfrm>
            <a:off x="3175594"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39602"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evidence log is tied to control closure…</a:t>
            </a:r>
            <a:endParaRPr sz="1000" b="0" i="0">
              <a:latin typeface="Arial"/>
            </a:endParaRPr>
          </a:p>
        </p:txBody>
      </p:sp>
      <p:sp>
        <p:nvSpPr>
          <p:cNvPr id="64" name="Rounded Rectangle 63"/>
          <p:cNvSpPr/>
          <p:nvPr/>
        </p:nvSpPr>
        <p:spPr>
          <a:xfrm>
            <a:off x="5927063"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91071"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66" name="Rounded Rectangle 65"/>
          <p:cNvSpPr/>
          <p:nvPr/>
        </p:nvSpPr>
        <p:spPr>
          <a:xfrm>
            <a:off x="8678531"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742539" y="527151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serves as the evidence register for the…</a:t>
            </a:r>
            <a:endParaRPr sz="700" b="0" i="0">
              <a:latin typeface="Arial"/>
            </a:endParaRPr>
          </a:p>
        </p:txBody>
      </p:sp>
      <p:sp>
        <p:nvSpPr>
          <p:cNvPr id="68" name="Rounded Rectangle 67"/>
          <p:cNvSpPr/>
          <p:nvPr/>
        </p:nvSpPr>
        <p:spPr>
          <a:xfrm>
            <a:off x="777240" y="566699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1247" y="573100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70" name="Rounded Rectangle 69"/>
          <p:cNvSpPr/>
          <p:nvPr/>
        </p:nvSpPr>
        <p:spPr>
          <a:xfrm>
            <a:off x="3175594"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39602"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Missing evidence prevents full control closure; conditional approval…</a:t>
            </a:r>
            <a:endParaRPr sz="1000" b="0" i="0">
              <a:latin typeface="Arial"/>
            </a:endParaRPr>
          </a:p>
        </p:txBody>
      </p:sp>
      <p:sp>
        <p:nvSpPr>
          <p:cNvPr id="72" name="Rounded Rectangle 71"/>
          <p:cNvSpPr/>
          <p:nvPr/>
        </p:nvSpPr>
        <p:spPr>
          <a:xfrm>
            <a:off x="5927063"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91071"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74" name="Rounded Rectangle 73"/>
          <p:cNvSpPr/>
          <p:nvPr/>
        </p:nvSpPr>
        <p:spPr>
          <a:xfrm>
            <a:off x="8678531"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742539" y="573100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serves as the evidence register for the…</a:t>
            </a:r>
            <a:endParaRPr sz="700" b="0" i="0">
              <a:latin typeface="Arial"/>
            </a:endParaRPr>
          </a:p>
        </p:txBody>
      </p:sp>
      <p:sp>
        <p:nvSpPr>
          <p:cNvPr id="76" name="TextBox 75"/>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77" name="TextBox 76"/>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04 / 06</a:t>
            </a:r>
          </a:p>
        </p:txBody>
      </p:sp>
      <p:cxnSp>
        <p:nvCxnSpPr>
          <p:cNvPr id="78" name="Connector 77"/>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NARRATIVE</a:t>
            </a:r>
          </a:p>
        </p:txBody>
      </p:sp>
      <p:sp>
        <p:nvSpPr>
          <p:cNvPr id="3" name="TextBox 2"/>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Recommendation vs watchouts</a:t>
            </a:r>
            <a:endParaRPr sz="2800" b="1" i="0">
              <a:latin typeface="Arial"/>
            </a:endParaRPr>
          </a:p>
        </p:txBody>
      </p:sp>
      <p:sp>
        <p:nvSpPr>
          <p:cNvPr id="4" name="Rounded Rectangle 3"/>
          <p:cNvSpPr/>
          <p:nvPr/>
        </p:nvSpPr>
        <p:spPr>
          <a:xfrm>
            <a:off x="777240" y="2029968"/>
            <a:ext cx="5551932"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29968"/>
            <a:ext cx="73152" cy="3255264"/>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3" y="2267712"/>
            <a:ext cx="5076444"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Recommendation</a:t>
            </a:r>
            <a:endParaRPr sz="1600" b="1" i="0">
              <a:latin typeface="Arial"/>
            </a:endParaRPr>
          </a:p>
        </p:txBody>
      </p:sp>
      <p:sp>
        <p:nvSpPr>
          <p:cNvPr id="7" name="TextBox 6"/>
          <p:cNvSpPr txBox="1"/>
          <p:nvPr/>
        </p:nvSpPr>
        <p:spPr>
          <a:xfrm>
            <a:off x="1014983" y="2706624"/>
            <a:ext cx="5076444" cy="1272819"/>
          </a:xfrm>
          <a:prstGeom prst="rect">
            <a:avLst/>
          </a:prstGeom>
          <a:noFill/>
        </p:spPr>
        <p:txBody>
          <a:bodyPr wrap="square" anchor="t" lIns="0" rIns="0" tIns="0" bIns="0">
            <a:noAutofit/>
          </a:bodyPr>
          <a:lstStyle/>
          <a:p>
            <a:pPr algn="l">
              <a:spcAft>
                <a:spcPts val="0"/>
              </a:spcAft>
            </a:pPr>
            <a:r>
              <a:rPr sz="1400" b="0" i="0">
                <a:solidFill>
                  <a:srgbClr val="203247"/>
                </a:solidFill>
                <a:latin typeface="Arial"/>
              </a:rPr>
              <a:t>Open the cited source excerpts to confirm the interpretation before acting.</a:t>
            </a:r>
            <a:endParaRPr sz="1500" b="0" i="0">
              <a:latin typeface="Arial"/>
            </a:endParaRPr>
          </a:p>
        </p:txBody>
      </p:sp>
      <p:sp>
        <p:nvSpPr>
          <p:cNvPr id="8" name="TextBox 7"/>
          <p:cNvSpPr txBox="1"/>
          <p:nvPr/>
        </p:nvSpPr>
        <p:spPr>
          <a:xfrm>
            <a:off x="1014983" y="4034307"/>
            <a:ext cx="5076444" cy="1013180"/>
          </a:xfrm>
          <a:prstGeom prst="rect">
            <a:avLst/>
          </a:prstGeom>
          <a:noFill/>
        </p:spPr>
        <p:txBody>
          <a:bodyPr wrap="square" anchor="t" lIns="0" rIns="0" tIns="0" bIns="0">
            <a:noAutofit/>
          </a:bodyPr>
          <a:lstStyle/>
          <a:p>
            <a:pPr algn="l">
              <a:spcAft>
                <a:spcPts val="300"/>
              </a:spcAft>
            </a:pPr>
            <a:r>
              <a:rPr sz="1000" b="0" i="0">
                <a:solidFill>
                  <a:srgbClr val="203247"/>
                </a:solidFill>
                <a:latin typeface="Arial"/>
              </a:rPr>
              <a:t>• Open the cited source excerpts to confirm the interpretation before act…</a:t>
            </a:r>
            <a:endParaRPr sz="1100" b="0" i="0">
              <a:latin typeface="Arial"/>
            </a:endParaRPr>
          </a:p>
          <a:p>
            <a:pPr algn="l">
              <a:spcAft>
                <a:spcPts val="300"/>
              </a:spcAft>
            </a:pPr>
            <a:r>
              <a:rPr sz="1000" b="0" i="0">
                <a:solidFill>
                  <a:srgbClr val="203247"/>
                </a:solidFill>
                <a:latin typeface="Arial"/>
              </a:rPr>
              <a:t>• Validate critical differences directly in the compared documents before…</a:t>
            </a:r>
            <a:endParaRPr sz="1100" b="0" i="0">
              <a:latin typeface="Arial"/>
            </a:endParaRPr>
          </a:p>
        </p:txBody>
      </p:sp>
      <p:sp>
        <p:nvSpPr>
          <p:cNvPr id="9" name="Rounded Rectangle 8"/>
          <p:cNvSpPr/>
          <p:nvPr/>
        </p:nvSpPr>
        <p:spPr>
          <a:xfrm>
            <a:off x="6621780" y="2029968"/>
            <a:ext cx="4762500"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21780" y="2029968"/>
            <a:ext cx="73152" cy="3255264"/>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9524" y="2267712"/>
            <a:ext cx="4287012"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Watchouts</a:t>
            </a:r>
            <a:endParaRPr sz="1600" b="1" i="0">
              <a:latin typeface="Arial"/>
            </a:endParaRPr>
          </a:p>
        </p:txBody>
      </p:sp>
      <p:sp>
        <p:nvSpPr>
          <p:cNvPr id="12" name="TextBox 11"/>
          <p:cNvSpPr txBox="1"/>
          <p:nvPr/>
        </p:nvSpPr>
        <p:spPr>
          <a:xfrm>
            <a:off x="6859524" y="2706624"/>
            <a:ext cx="4287012" cy="1481328"/>
          </a:xfrm>
          <a:prstGeom prst="rect">
            <a:avLst/>
          </a:prstGeom>
          <a:noFill/>
        </p:spPr>
        <p:txBody>
          <a:bodyPr wrap="square" anchor="t" lIns="0" rIns="0" tIns="0" bIns="0">
            <a:noAutofit/>
          </a:bodyPr>
          <a:lstStyle/>
          <a:p>
            <a:pPr algn="l">
              <a:spcAft>
                <a:spcPts val="0"/>
              </a:spcAft>
            </a:pPr>
            <a:r>
              <a:rPr sz="1500" b="0" i="0">
                <a:solidFill>
                  <a:srgbClr val="203247"/>
                </a:solidFill>
                <a:latin typeface="Arial"/>
              </a:rPr>
              <a:t>No critical watchouts recorded for this slice.</a:t>
            </a:r>
            <a:endParaRPr sz="1500" b="0" i="0">
              <a:latin typeface="Arial"/>
            </a:endParaRPr>
          </a:p>
        </p:txBody>
      </p:sp>
      <p:sp>
        <p:nvSpPr>
          <p:cNvPr id="13" name="TextBox 12"/>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4" name="TextBox 13"/>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05 / 06</a:t>
            </a:r>
          </a:p>
        </p:txBody>
      </p:sp>
      <p:cxnSp>
        <p:nvCxnSpPr>
          <p:cNvPr id="15" name="Connector 14"/>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5852160" cy="777240"/>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Next steps</a:t>
            </a:r>
            <a:endParaRPr sz="2800" b="1" i="0">
              <a:latin typeface="Arial"/>
            </a:endParaRPr>
          </a:p>
        </p:txBody>
      </p:sp>
      <p:sp>
        <p:nvSpPr>
          <p:cNvPr id="3" name="TextBox 2"/>
          <p:cNvSpPr txBox="1"/>
          <p:nvPr/>
        </p:nvSpPr>
        <p:spPr>
          <a:xfrm>
            <a:off x="777240" y="2331720"/>
            <a:ext cx="6263640" cy="2880360"/>
          </a:xfrm>
          <a:prstGeom prst="rect">
            <a:avLst/>
          </a:prstGeom>
          <a:noFill/>
        </p:spPr>
        <p:txBody>
          <a:bodyPr wrap="square" anchor="t" lIns="0" rIns="0" tIns="0" bIns="0">
            <a:noAutofit/>
          </a:bodyPr>
          <a:lstStyle/>
          <a:p>
            <a:pPr algn="l">
              <a:spcAft>
                <a:spcPts val="400"/>
              </a:spcAft>
            </a:pPr>
            <a:r>
              <a:rPr sz="1300" b="0" i="0">
                <a:solidFill>
                  <a:srgbClr val="203247"/>
                </a:solidFill>
                <a:latin typeface="Arial"/>
              </a:rPr>
              <a:t>• Open the cited source excerpts to confirm the interpretation before acting.</a:t>
            </a:r>
            <a:endParaRPr sz="1400" b="0" i="0">
              <a:latin typeface="Arial"/>
            </a:endParaRPr>
          </a:p>
          <a:p>
            <a:pPr algn="l">
              <a:spcAft>
                <a:spcPts val="400"/>
              </a:spcAft>
            </a:pPr>
            <a:r>
              <a:rPr sz="1300" b="0" i="0">
                <a:solidFill>
                  <a:srgbClr val="203247"/>
                </a:solidFill>
                <a:latin typeface="Arial"/>
              </a:rPr>
              <a:t>• Validate critical differences directly in the compared documents before consoli…</a:t>
            </a:r>
            <a:endParaRPr sz="1400" b="0" i="0">
              <a:latin typeface="Arial"/>
            </a:endParaRPr>
          </a:p>
        </p:txBody>
      </p:sp>
      <p:sp>
        <p:nvSpPr>
          <p:cNvPr id="4" name="Rounded Rectangle 3"/>
          <p:cNvSpPr/>
          <p:nvPr/>
        </p:nvSpPr>
        <p:spPr>
          <a:xfrm>
            <a:off x="7360919" y="960120"/>
            <a:ext cx="4023360" cy="452628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60919" y="960120"/>
            <a:ext cx="40233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16951" y="1216152"/>
            <a:ext cx="3511296" cy="2130967"/>
          </a:xfrm>
          <a:prstGeom prst="rect">
            <a:avLst/>
          </a:prstGeom>
          <a:noFill/>
        </p:spPr>
        <p:txBody>
          <a:bodyPr wrap="square" anchor="t" lIns="0" rIns="0" tIns="0" bIns="0">
            <a:noAutofit/>
          </a:bodyPr>
          <a:lstStyle/>
          <a:p>
            <a:pPr algn="l">
              <a:spcAft>
                <a:spcPts val="0"/>
              </a:spcAft>
            </a:pPr>
            <a:r>
              <a:rPr sz="1300" b="0" i="0">
                <a:solidFill>
                  <a:srgbClr val="203247"/>
                </a:solidFill>
                <a:latin typeface="Arial"/>
              </a:rPr>
              <a:t>Open the cited source excerpts to confirm the interpretation before acting.</a:t>
            </a:r>
            <a:endParaRPr sz="1400" b="0" i="0">
              <a:latin typeface="Arial"/>
            </a:endParaRPr>
          </a:p>
        </p:txBody>
      </p:sp>
      <p:sp>
        <p:nvSpPr>
          <p:cNvPr id="7" name="TextBox 6"/>
          <p:cNvSpPr txBox="1"/>
          <p:nvPr/>
        </p:nvSpPr>
        <p:spPr>
          <a:xfrm>
            <a:off x="7616951" y="3438559"/>
            <a:ext cx="3511296" cy="1791808"/>
          </a:xfrm>
          <a:prstGeom prst="rect">
            <a:avLst/>
          </a:prstGeom>
          <a:noFill/>
        </p:spPr>
        <p:txBody>
          <a:bodyPr wrap="square" anchor="t" lIns="0" rIns="0" tIns="0" bIns="0">
            <a:noAutofit/>
          </a:bodyPr>
          <a:lstStyle/>
          <a:p>
            <a:pPr algn="l">
              <a:spcAft>
                <a:spcPts val="400"/>
              </a:spcAft>
            </a:pPr>
            <a:r>
              <a:rPr sz="1300" b="0" i="0">
                <a:solidFill>
                  <a:srgbClr val="14263F"/>
                </a:solidFill>
                <a:latin typeface="Arial"/>
              </a:rPr>
              <a:t>• Validate critical differences directly in the compared documents before consoli…</a:t>
            </a:r>
            <a:endParaRPr sz="14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06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