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benchmark_eval_executive_deck. Sources: phase7_model_comparison_log, phase8_eval_store.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agregados de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Métricas executivas consolidadas para leitura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Leaderboard agregado de modelos para o slice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Suites de eval ordenadas por qualidade agregada.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Comparação entre decisão recomendada e pontos de atenção operacionais.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Próximos passos sugeridos para o próximo slice da integração.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RESUMO EXECUTIVO DA RODADA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Benchmark &amp; Eval Review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Resumo executivo da rodada atual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282309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17 candidatos foram consolidados no benchmark, com success rate médio de 100% e liderança atual de nemotron-3-super:cloud. A camada de eval registrou 168 runs, com PASS rate de 57.1% e needs review de 1.8%.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52157" y="1865376"/>
            <a:ext cx="4032122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52157" y="1865376"/>
            <a:ext cx="403212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71613" y="2084832"/>
            <a:ext cx="359321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71613" y="2414016"/>
            <a:ext cx="3593210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Top benchmark candidate atual: nemotron-3-super:cloud.</a:t>
            </a:r>
            <a:endParaRPr sz="9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Benchmark success rate agregado em 100%.</a:t>
            </a:r>
            <a:endParaRPr sz="9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Use-case fit médio de benchmark em 99.7%.</a:t>
            </a:r>
            <a:endParaRPr sz="9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Suite líder de eval atual: langgraph_workflow_eval.</a:t>
            </a:r>
            <a:endParaRPr sz="9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PASS rate de eval em 57.1%.</a:t>
            </a:r>
            <a:endParaRPr sz="9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Needs review rate atual em 1.8%.</a:t>
            </a:r>
            <a:endParaRPr sz="9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Benchmark and eval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45855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17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Benchmark candidates</a:t>
            </a:r>
            <a:endParaRPr sz="1200" b="1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6695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Top model: nemotron-3-super:cloud</a:t>
            </a:r>
            <a:endParaRPr sz="9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73535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3535" y="2212848"/>
            <a:ext cx="245855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2991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100%</a:t>
            </a:r>
            <a:endParaRPr sz="24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92991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Benchmark success</a:t>
            </a:r>
            <a:endParaRPr sz="1200" b="1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92991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Avg latency: 3.99s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69831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9831" y="2212848"/>
            <a:ext cx="245855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9287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168</a:t>
            </a:r>
            <a:endParaRPr sz="2400" b="1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89287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Eval runs</a:t>
            </a:r>
            <a:endParaRPr sz="1200" b="1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9287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Top suite: langgraph_workflow_eval</a:t>
            </a:r>
            <a:endParaRPr sz="900" b="0" i="0"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866127" y="2212848"/>
            <a:ext cx="2518152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6127" y="2212848"/>
            <a:ext cx="251815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5583" y="2432304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57.1%</a:t>
            </a:r>
            <a:endParaRPr sz="2400" b="1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85583" y="3017520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Eval PASS rate</a:t>
            </a:r>
            <a:endParaRPr sz="1200" b="1" i="0"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85583" y="3602736"/>
            <a:ext cx="2079240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Avg score: 74.6%</a:t>
            </a:r>
            <a:endParaRPr sz="900" b="0" i="0"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Model leaderboard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1905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19103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#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42010" y="1920240"/>
            <a:ext cx="199901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6018" y="1984248"/>
            <a:ext cx="187099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Model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186741" y="1920240"/>
            <a:ext cx="199901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0749" y="1984248"/>
            <a:ext cx="187099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Provider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31471" y="1920240"/>
            <a:ext cx="199901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5479" y="1984248"/>
            <a:ext cx="187099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Signal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276202" y="1920240"/>
            <a:ext cx="210807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0210" y="1984248"/>
            <a:ext cx="198006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Latency (s)</a:t>
            </a:r>
            <a:endParaRPr sz="1000" b="1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2"/>
            <a:ext cx="231905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14600"/>
            <a:ext cx="219103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142010" y="2450592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6018" y="2514600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nemotron-3-super:cloud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186741" y="2450592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0749" y="2514600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231471" y="2450592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5479" y="2514600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1.000</a:t>
            </a:r>
            <a:endParaRPr sz="9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276202" y="2450592"/>
            <a:ext cx="21080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0210" y="2514600"/>
            <a:ext cx="19800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1.57</a:t>
            </a:r>
            <a:endParaRPr sz="9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7240" y="3114080"/>
            <a:ext cx="231905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178088"/>
            <a:ext cx="219103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2</a:t>
            </a:r>
            <a:endParaRPr sz="9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142010" y="3114080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6018" y="3178088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nemotron-3-nano:30b-cloud</a:t>
            </a:r>
            <a:endParaRPr sz="9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186741" y="3114080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0749" y="3178088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231471" y="3114080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5479" y="3178088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1.000</a:t>
            </a:r>
            <a:endParaRPr sz="9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276202" y="3114080"/>
            <a:ext cx="21080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0210" y="3178088"/>
            <a:ext cx="19800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1.85</a:t>
            </a:r>
            <a:endParaRPr sz="9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77240" y="3777569"/>
            <a:ext cx="231905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3841577"/>
            <a:ext cx="219103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3</a:t>
            </a:r>
            <a:endParaRPr sz="9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142010" y="3777569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6018" y="3841577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qwen3.5:397b-cloud</a:t>
            </a:r>
            <a:endParaRPr sz="9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186741" y="3777569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0749" y="3841577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31471" y="3777569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95479" y="3841577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0.000</a:t>
            </a:r>
            <a:endParaRPr sz="9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276202" y="3777569"/>
            <a:ext cx="21080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0210" y="3841577"/>
            <a:ext cx="19800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7.30</a:t>
            </a:r>
            <a:endParaRPr sz="9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441057"/>
            <a:ext cx="231905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505065"/>
            <a:ext cx="219103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4</a:t>
            </a:r>
            <a:endParaRPr sz="9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42010" y="4441057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6018" y="4505065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deepseek-v3.1:671b-cloud</a:t>
            </a:r>
            <a:endParaRPr sz="9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186741" y="4441057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50749" y="4505065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231471" y="4441057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95479" y="4505065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0.000</a:t>
            </a:r>
            <a:endParaRPr sz="9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276202" y="4441057"/>
            <a:ext cx="21080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40210" y="4505065"/>
            <a:ext cx="19800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14.71</a:t>
            </a:r>
            <a:endParaRPr sz="9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77240" y="5104546"/>
            <a:ext cx="231905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7" y="5168554"/>
            <a:ext cx="219103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5</a:t>
            </a:r>
            <a:endParaRPr sz="9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142010" y="5104546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6018" y="5168554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minimax-m2.7:cloud</a:t>
            </a:r>
            <a:endParaRPr sz="9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186741" y="5104546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50749" y="5168554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231471" y="5104546"/>
            <a:ext cx="19990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95479" y="5168554"/>
            <a:ext cx="18709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0.983</a:t>
            </a:r>
            <a:endParaRPr sz="9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276202" y="5104546"/>
            <a:ext cx="21080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40210" y="5168554"/>
            <a:ext cx="19800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13.32</a:t>
            </a:r>
            <a:endParaRPr sz="900" b="0" i="0">
              <a:latin typeface="Arial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Eval suite leaderboard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27790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14989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#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00866" y="1920240"/>
            <a:ext cx="195786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64874" y="1984248"/>
            <a:ext cx="182985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Suite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104452" y="1920240"/>
            <a:ext cx="206279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8460" y="1984248"/>
            <a:ext cx="193477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Pass rate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12968" y="1920240"/>
            <a:ext cx="206279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76976" y="1984248"/>
            <a:ext cx="193477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Avg score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321484" y="1920240"/>
            <a:ext cx="206279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85492" y="1984248"/>
            <a:ext cx="193477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Latency (s)</a:t>
            </a:r>
            <a:endParaRPr sz="1000" b="1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2"/>
            <a:ext cx="227790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14600"/>
            <a:ext cx="214989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100866" y="2450592"/>
            <a:ext cx="19578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4874" y="2514600"/>
            <a:ext cx="18298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langgraph_workflow_eval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104452" y="2450592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8460" y="2514600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100%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212968" y="2450592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6976" y="2514600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100%</a:t>
            </a:r>
            <a:endParaRPr sz="9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321484" y="2450592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5492" y="2514600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0.00</a:t>
            </a:r>
            <a:endParaRPr sz="9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7240" y="3114080"/>
            <a:ext cx="227790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178088"/>
            <a:ext cx="214989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2</a:t>
            </a:r>
            <a:endParaRPr sz="9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100866" y="3114080"/>
            <a:ext cx="19578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64874" y="3178088"/>
            <a:ext cx="18298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document_agent_routing_eval</a:t>
            </a:r>
            <a:endParaRPr sz="9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104452" y="3114080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8460" y="3178088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100%</a:t>
            </a:r>
            <a:endParaRPr sz="9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212968" y="3114080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6976" y="3178088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100%</a:t>
            </a:r>
            <a:endParaRPr sz="9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321484" y="3114080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85492" y="3178088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0.00</a:t>
            </a:r>
            <a:endParaRPr sz="9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77240" y="3777569"/>
            <a:ext cx="227790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3841577"/>
            <a:ext cx="214989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3</a:t>
            </a:r>
            <a:endParaRPr sz="9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100866" y="3777569"/>
            <a:ext cx="19578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64874" y="3841577"/>
            <a:ext cx="18298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structured_smoke_eval</a:t>
            </a:r>
            <a:endParaRPr sz="9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104452" y="3777569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8460" y="3841577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76%</a:t>
            </a:r>
            <a:endParaRPr sz="9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12968" y="3777569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76976" y="3841577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77.8%</a:t>
            </a:r>
            <a:endParaRPr sz="9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321484" y="3777569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85492" y="3841577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32.81</a:t>
            </a:r>
            <a:endParaRPr sz="9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441057"/>
            <a:ext cx="227790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505065"/>
            <a:ext cx="214989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4</a:t>
            </a:r>
            <a:endParaRPr sz="9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00866" y="4441057"/>
            <a:ext cx="19578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64874" y="4505065"/>
            <a:ext cx="18298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structured_real_document_eval</a:t>
            </a:r>
            <a:endParaRPr sz="9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104452" y="4441057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68460" y="4505065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53.1%</a:t>
            </a:r>
            <a:endParaRPr sz="9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212968" y="4441057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76976" y="4505065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59.7%</a:t>
            </a:r>
            <a:endParaRPr sz="9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321484" y="4441057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85492" y="4505065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89.73</a:t>
            </a:r>
            <a:endParaRPr sz="9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77240" y="5104546"/>
            <a:ext cx="227790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7" y="5168554"/>
            <a:ext cx="214989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5</a:t>
            </a:r>
            <a:endParaRPr sz="9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100866" y="5104546"/>
            <a:ext cx="19578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64874" y="5168554"/>
            <a:ext cx="18298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evidence_cv_gold_eval</a:t>
            </a:r>
            <a:endParaRPr sz="9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104452" y="5104546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68460" y="5168554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35%</a:t>
            </a:r>
            <a:endParaRPr sz="9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212968" y="5104546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76976" y="5168554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70.7%</a:t>
            </a:r>
            <a:endParaRPr sz="9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321484" y="5104546"/>
            <a:ext cx="20627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85492" y="5168554"/>
            <a:ext cx="19347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0.00</a:t>
            </a:r>
            <a:endParaRPr sz="900" b="0" i="0">
              <a:latin typeface="Arial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STRATEGIC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4736592" cy="3218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4736592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2304288"/>
            <a:ext cx="4224527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1" y="2752344"/>
            <a:ext cx="4224527" cy="12723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Promover nemotron-3-super:cloud como candidato principal da próxima rodada controlada, mantendo o quality gate apoiado no PASS rate atual de 57.1%.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3271" y="4079538"/>
            <a:ext cx="4224527" cy="9313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Promover nemotron-3-super:cloud para uma rodada shadow/controlada como candidato default.</a:t>
            </a:r>
            <a:endParaRPr sz="1000" b="0" i="0">
              <a:latin typeface="Arial"/>
            </a:endParaRP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Revisar suites em FAIL/WARN e transformar os achados em gates repetíveis.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06440" y="2048256"/>
            <a:ext cx="4736592" cy="3218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048256"/>
            <a:ext cx="473659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2472" y="2304288"/>
            <a:ext cx="4224527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2" y="2752344"/>
            <a:ext cx="4224527" cy="1426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Ainda existem runs em FAIL (27.4%).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Promover nemotron-3-super:cloud para uma rodada shadow/controlada como candidato default.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Revisar suites em FAIL/WARN e transformar os achados em gates repetíveis.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Reduzir backlog de needs_review antes de ampliar o escopo da rodada seguinte.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Serializar este contrato e chamar o `ppt_creator_app` por API HTTP no próximo slice.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Promover nemotron-3-super:cloud para uma rodada shadow/controlada como candidato default.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Revisar suites em FAIL/WARN e transformar os achados em gates repetíveis.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Reduzir backlog de needs_review antes de ampliar o escopo da rodada seguinte.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Serializar este contrato e chamar o `ppt_creator_app` por API HTTP no próximo slice.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