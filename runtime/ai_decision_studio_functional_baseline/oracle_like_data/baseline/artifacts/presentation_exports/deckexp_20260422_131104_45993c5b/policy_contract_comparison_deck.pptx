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Export kind: policy_contract_comparison_deck. Deck family: comparison. Sources: structured_result, document_agent_comparison.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summary consolidated from the product's grounded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Differences and impacts extracted from the document-comparison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decision framing for this slice.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777240" y="658368"/>
            <a:ext cx="91440" cy="1051560"/>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8992" y="896112"/>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COMPARISON REVIEW OF GROUNDED DOCUMENT DIFFERENCES</a:t>
            </a:r>
          </a:p>
        </p:txBody>
      </p:sp>
      <p:sp>
        <p:nvSpPr>
          <p:cNvPr id="4" name="TextBox 3"/>
          <p:cNvSpPr txBox="1"/>
          <p:nvPr/>
        </p:nvSpPr>
        <p:spPr>
          <a:xfrm>
            <a:off x="1078992" y="1143000"/>
            <a:ext cx="6126480" cy="1243584"/>
          </a:xfrm>
          <a:prstGeom prst="rect">
            <a:avLst/>
          </a:prstGeom>
          <a:noFill/>
        </p:spPr>
        <p:txBody>
          <a:bodyPr wrap="square" anchor="t" lIns="0" rIns="0" tIns="0" bIns="0">
            <a:noAutofit/>
          </a:bodyPr>
          <a:lstStyle/>
          <a:p>
            <a:pPr algn="l">
              <a:spcAft>
                <a:spcPts val="0"/>
              </a:spcAft>
            </a:pPr>
            <a:r>
              <a:rPr sz="3200" b="1" i="0">
                <a:solidFill>
                  <a:srgbClr val="14263F"/>
                </a:solidFill>
                <a:latin typeface="Arial"/>
              </a:rPr>
              <a:t>AI Workbench Local — Policy / Contract Comparison</a:t>
            </a:r>
            <a:endParaRPr sz="3200" b="1" i="0">
              <a:latin typeface="Arial"/>
            </a:endParaRPr>
          </a:p>
        </p:txBody>
      </p:sp>
      <p:sp>
        <p:nvSpPr>
          <p:cNvPr id="5" name="TextBox 4"/>
          <p:cNvSpPr txBox="1"/>
          <p:nvPr/>
        </p:nvSpPr>
        <p:spPr>
          <a:xfrm>
            <a:off x="1078992" y="2551176"/>
            <a:ext cx="5394960" cy="475488"/>
          </a:xfrm>
          <a:prstGeom prst="rect">
            <a:avLst/>
          </a:prstGeom>
          <a:noFill/>
        </p:spPr>
        <p:txBody>
          <a:bodyPr wrap="square" anchor="t" lIns="0" rIns="0" tIns="0" bIns="0">
            <a:noAutofit/>
          </a:bodyPr>
          <a:lstStyle/>
          <a:p>
            <a:pPr algn="l">
              <a:spcAft>
                <a:spcPts val="0"/>
              </a:spcAft>
            </a:pPr>
            <a:r>
              <a:rPr sz="1300" b="0" i="0">
                <a:solidFill>
                  <a:srgbClr val="617287"/>
                </a:solidFill>
                <a:latin typeface="Arial"/>
              </a:rPr>
              <a:t>Executive comparison review of grounded document differences</a:t>
            </a:r>
            <a:endParaRPr sz="1300" b="0" i="0">
              <a:latin typeface="Arial"/>
            </a:endParaRPr>
          </a:p>
        </p:txBody>
      </p:sp>
      <p:sp>
        <p:nvSpPr>
          <p:cNvPr id="6" name="Rounded Rectangle 5"/>
          <p:cNvSpPr/>
          <p:nvPr/>
        </p:nvSpPr>
        <p:spPr>
          <a:xfrm>
            <a:off x="8092440" y="960120"/>
            <a:ext cx="3291840" cy="425196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325880"/>
            <a:ext cx="2560320" cy="1926832"/>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Author</a:t>
            </a:r>
          </a:p>
          <a:p>
            <a:pPr algn="l">
              <a:spcAft>
                <a:spcPts val="0"/>
              </a:spcAft>
            </a:pPr>
            <a:r>
              <a:rPr sz="1400" b="0" i="0">
                <a:solidFill>
                  <a:srgbClr val="203247"/>
                </a:solidFill>
                <a:latin typeface="Arial"/>
              </a:rPr>
              <a:t>AI Workbench Local</a:t>
            </a:r>
          </a:p>
        </p:txBody>
      </p:sp>
      <p:sp>
        <p:nvSpPr>
          <p:cNvPr id="8" name="TextBox 7"/>
          <p:cNvSpPr txBox="1"/>
          <p:nvPr/>
        </p:nvSpPr>
        <p:spPr>
          <a:xfrm>
            <a:off x="8458200" y="3325864"/>
            <a:ext cx="2560320" cy="1520455"/>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Date</a:t>
            </a:r>
          </a:p>
          <a:p>
            <a:pPr algn="l">
              <a:spcAft>
                <a:spcPts val="0"/>
              </a:spcAft>
            </a:pPr>
            <a:r>
              <a:rPr sz="1400" b="0" i="0">
                <a:solidFill>
                  <a:srgbClr val="203247"/>
                </a:solidFill>
                <a:latin typeface="Arial"/>
              </a:rPr>
              <a:t>2026-04-22</a:t>
            </a:r>
          </a:p>
        </p:txBody>
      </p:sp>
      <p:sp>
        <p:nvSpPr>
          <p:cNvPr id="9" name="TextBox 8"/>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2026-04-22</a:t>
            </a:r>
          </a:p>
        </p:txBody>
      </p:sp>
      <p:sp>
        <p:nvSpPr>
          <p:cNvPr id="10" name="TextBox 9"/>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01 / 06</a:t>
            </a:r>
          </a:p>
        </p:txBody>
      </p:sp>
      <p:cxnSp>
        <p:nvCxnSpPr>
          <p:cNvPr id="11" name="Connector 10"/>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summary</a:t>
            </a:r>
            <a:endParaRPr sz="2800" b="1" i="0">
              <a:latin typeface="Arial"/>
            </a:endParaRPr>
          </a:p>
        </p:txBody>
      </p:sp>
      <p:sp>
        <p:nvSpPr>
          <p:cNvPr id="3" name="TextBox 2"/>
          <p:cNvSpPr txBox="1"/>
          <p:nvPr/>
        </p:nvSpPr>
        <p:spPr>
          <a:xfrm>
            <a:off x="777240" y="2048256"/>
            <a:ext cx="6447488" cy="1938528"/>
          </a:xfrm>
          <a:prstGeom prst="rect">
            <a:avLst/>
          </a:prstGeom>
          <a:noFill/>
        </p:spPr>
        <p:txBody>
          <a:bodyPr wrap="square" anchor="t" lIns="0" rIns="0" tIns="0" bIns="0">
            <a:noAutofit/>
          </a:bodyPr>
          <a:lstStyle/>
          <a:p>
            <a:pPr algn="l">
              <a:spcAft>
                <a:spcPts val="0"/>
              </a:spcAft>
            </a:pPr>
            <a:r>
              <a:rPr sz="1100" b="0" i="0">
                <a:solidFill>
                  <a:srgbClr val="203247"/>
                </a:solidFill>
                <a:latin typeface="Arial"/>
              </a:rPr>
              <a:t>The summaries highlight complementary but distinct governance requirements for privileged access controls: one mandates formal evidence archiving and status tracking for synthetic testing items to close Q1 compliance, while the other enforces conditional approval with strict operational and audit trail obligations tied to personnel and scope. Both emphasize archiving as a non-negotiable step, but the first focuses on resolving missing evidence to meet control closure, whereas the second requires proactive revalidation upon personnel changes and integration with quarterly evidence. The most relevant difference is that the Access Review Evidence Log demands immediate resolution of gaps like EV-002 to finalize closure, while the Privileged Account Approval Email introduces ongoing governance conditions (e.g., revalidation triggers) that extend beyond initial approval. A key watchout is ensuring archived evidence from the email aligns with the Evidence Log’s closure requirements to avoid gaps in audit readiness. Recommendation: Immediately archive the Privileged Account Approval Email and resolve EV-002 to synchronize evidence trails, ensuring both control closure and ongoing compliance are audit-ready.</a:t>
            </a:r>
            <a:endParaRPr sz="1100" b="0" i="0">
              <a:latin typeface="Arial"/>
            </a:endParaRPr>
          </a:p>
        </p:txBody>
      </p:sp>
      <p:sp>
        <p:nvSpPr>
          <p:cNvPr id="4" name="Rounded Rectangle 3"/>
          <p:cNvSpPr/>
          <p:nvPr/>
        </p:nvSpPr>
        <p:spPr>
          <a:xfrm>
            <a:off x="7517336" y="1865376"/>
            <a:ext cx="3866943" cy="31272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17336" y="1865376"/>
            <a:ext cx="38669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36792" y="2084832"/>
            <a:ext cx="3428031" cy="256032"/>
          </a:xfrm>
          <a:prstGeom prst="rect">
            <a:avLst/>
          </a:prstGeom>
          <a:noFill/>
        </p:spPr>
        <p:txBody>
          <a:bodyPr wrap="square" anchor="t" lIns="0" rIns="0" tIns="0" bIns="0">
            <a:spAutoFit/>
          </a:bodyPr>
          <a:lstStyle/>
          <a:p/>
        </p:txBody>
      </p:sp>
      <p:sp>
        <p:nvSpPr>
          <p:cNvPr id="7" name="TextBox 6"/>
          <p:cNvSpPr txBox="1"/>
          <p:nvPr/>
        </p:nvSpPr>
        <p:spPr>
          <a:xfrm>
            <a:off x="7736792" y="2414016"/>
            <a:ext cx="3428031" cy="2359152"/>
          </a:xfrm>
          <a:prstGeom prst="rect">
            <a:avLst/>
          </a:prstGeom>
          <a:noFill/>
        </p:spPr>
        <p:txBody>
          <a:bodyPr wrap="square" anchor="t" lIns="0" rIns="0" tIns="0" bIns="0">
            <a:noAutofit/>
          </a:bodyPr>
          <a:lstStyle/>
          <a:p>
            <a:pPr algn="l">
              <a:lnSpc>
                <a:spcPct val="100000"/>
              </a:lnSpc>
              <a:spcAft>
                <a:spcPts val="300"/>
              </a:spcAft>
            </a:pPr>
            <a:r>
              <a:rPr sz="900" b="0" i="0">
                <a:solidFill>
                  <a:srgbClr val="203247"/>
                </a:solidFill>
                <a:latin typeface="Arial"/>
              </a:rPr>
              <a:t>• The summaries highlight complementary but distinct governance requirements…</a:t>
            </a:r>
            <a:endParaRPr sz="1000" b="0" i="0">
              <a:latin typeface="Arial"/>
            </a:endParaRPr>
          </a:p>
          <a:p>
            <a:pPr algn="l">
              <a:lnSpc>
                <a:spcPct val="100000"/>
              </a:lnSpc>
              <a:spcAft>
                <a:spcPts val="300"/>
              </a:spcAft>
            </a:pPr>
            <a:r>
              <a:rPr sz="900" b="0" i="0">
                <a:solidFill>
                  <a:srgbClr val="203247"/>
                </a:solidFill>
                <a:latin typeface="Arial"/>
              </a:rPr>
              <a:t>• Summary of Access Review Evidence Log.pdf (pdf)</a:t>
            </a:r>
            <a:endParaRPr sz="1000" b="0" i="0">
              <a:latin typeface="Arial"/>
            </a:endParaRPr>
          </a:p>
          <a:p>
            <a:pPr algn="l">
              <a:lnSpc>
                <a:spcPct val="100000"/>
              </a:lnSpc>
              <a:spcAft>
                <a:spcPts val="300"/>
              </a:spcAft>
            </a:pPr>
            <a:r>
              <a:rPr sz="900" b="0" i="0">
                <a:solidFill>
                  <a:srgbClr val="203247"/>
                </a:solidFill>
                <a:latin typeface="Arial"/>
              </a:rPr>
              <a:t>• Summary of Privileged Account Approval Email.pdf (pdf)</a:t>
            </a:r>
            <a:endParaRPr sz="10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2026-04-22</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02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KEY METRICS</a:t>
            </a:r>
          </a:p>
        </p:txBody>
      </p:sp>
      <p:sp>
        <p:nvSpPr>
          <p:cNvPr id="3" name="TextBox 2"/>
          <p:cNvSpPr txBox="1"/>
          <p:nvPr/>
        </p:nvSpPr>
        <p:spPr>
          <a:xfrm>
            <a:off x="777240" y="932688"/>
            <a:ext cx="681228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snapshot</a:t>
            </a:r>
            <a:endParaRPr sz="2800" b="1" i="0">
              <a:latin typeface="Arial"/>
            </a:endParaRPr>
          </a:p>
        </p:txBody>
      </p:sp>
      <p:sp>
        <p:nvSpPr>
          <p:cNvPr id="4" name="Rounded Rectangle 3"/>
          <p:cNvSpPr/>
          <p:nvPr/>
        </p:nvSpPr>
        <p:spPr>
          <a:xfrm>
            <a:off x="777240"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212848"/>
            <a:ext cx="2509160"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2</a:t>
            </a:r>
            <a:endParaRPr sz="2400" b="1" i="0">
              <a:latin typeface="Arial"/>
            </a:endParaRPr>
          </a:p>
        </p:txBody>
      </p:sp>
      <p:sp>
        <p:nvSpPr>
          <p:cNvPr id="7" name="TextBox 6"/>
          <p:cNvSpPr txBox="1"/>
          <p:nvPr/>
        </p:nvSpPr>
        <p:spPr>
          <a:xfrm>
            <a:off x="99669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Compared docs</a:t>
            </a:r>
            <a:endParaRPr sz="1200" b="1" i="0">
              <a:latin typeface="Arial"/>
            </a:endParaRPr>
          </a:p>
        </p:txBody>
      </p:sp>
      <p:sp>
        <p:nvSpPr>
          <p:cNvPr id="8" name="Rounded Rectangle 7"/>
          <p:cNvSpPr/>
          <p:nvPr/>
        </p:nvSpPr>
        <p:spPr>
          <a:xfrm>
            <a:off x="3524144"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4144" y="2212848"/>
            <a:ext cx="24377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3600"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3</a:t>
            </a:r>
            <a:endParaRPr sz="2400" b="1" i="0">
              <a:latin typeface="Arial"/>
            </a:endParaRPr>
          </a:p>
        </p:txBody>
      </p:sp>
      <p:sp>
        <p:nvSpPr>
          <p:cNvPr id="11" name="TextBox 10"/>
          <p:cNvSpPr txBox="1"/>
          <p:nvPr/>
        </p:nvSpPr>
        <p:spPr>
          <a:xfrm>
            <a:off x="3743600"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Findings</a:t>
            </a:r>
            <a:endParaRPr sz="1200" b="1" i="0">
              <a:latin typeface="Arial"/>
            </a:endParaRPr>
          </a:p>
        </p:txBody>
      </p:sp>
      <p:sp>
        <p:nvSpPr>
          <p:cNvPr id="12" name="Rounded Rectangle 11"/>
          <p:cNvSpPr/>
          <p:nvPr/>
        </p:nvSpPr>
        <p:spPr>
          <a:xfrm>
            <a:off x="6199632"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212848"/>
            <a:ext cx="2437743"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4</a:t>
            </a:r>
            <a:endParaRPr sz="2400" b="1" i="0">
              <a:latin typeface="Arial"/>
            </a:endParaRPr>
          </a:p>
        </p:txBody>
      </p:sp>
      <p:sp>
        <p:nvSpPr>
          <p:cNvPr id="15" name="TextBox 14"/>
          <p:cNvSpPr txBox="1"/>
          <p:nvPr/>
        </p:nvSpPr>
        <p:spPr>
          <a:xfrm>
            <a:off x="6419088"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Sources</a:t>
            </a:r>
            <a:endParaRPr sz="1200" b="1" i="0">
              <a:latin typeface="Arial"/>
            </a:endParaRPr>
          </a:p>
        </p:txBody>
      </p:sp>
      <p:sp>
        <p:nvSpPr>
          <p:cNvPr id="16" name="Rounded Rectangle 15"/>
          <p:cNvSpPr/>
          <p:nvPr/>
        </p:nvSpPr>
        <p:spPr>
          <a:xfrm>
            <a:off x="8875119"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75119" y="2212848"/>
            <a:ext cx="25091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457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No</a:t>
            </a:r>
            <a:endParaRPr sz="2400" b="1" i="0">
              <a:latin typeface="Arial"/>
            </a:endParaRPr>
          </a:p>
        </p:txBody>
      </p:sp>
      <p:sp>
        <p:nvSpPr>
          <p:cNvPr id="19" name="TextBox 18"/>
          <p:cNvSpPr txBox="1"/>
          <p:nvPr/>
        </p:nvSpPr>
        <p:spPr>
          <a:xfrm>
            <a:off x="909457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Needs review</a:t>
            </a:r>
            <a:endParaRPr sz="1200" b="1" i="0">
              <a:latin typeface="Arial"/>
            </a:endParaRPr>
          </a:p>
        </p:txBody>
      </p:sp>
      <p:sp>
        <p:nvSpPr>
          <p:cNvPr id="20" name="TextBox 19"/>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2026-04-22</a:t>
            </a:r>
          </a:p>
        </p:txBody>
      </p:sp>
      <p:sp>
        <p:nvSpPr>
          <p:cNvPr id="21" name="TextBox 20"/>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03 / 06</a:t>
            </a:r>
          </a:p>
        </p:txBody>
      </p:sp>
      <p:cxnSp>
        <p:nvCxnSpPr>
          <p:cNvPr id="22" name="Connector 21"/>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TABLE</a:t>
            </a:r>
          </a:p>
        </p:txBody>
      </p:sp>
      <p:sp>
        <p:nvSpPr>
          <p:cNvPr id="3" name="TextBox 2"/>
          <p:cNvSpPr txBox="1"/>
          <p:nvPr/>
        </p:nvSpPr>
        <p:spPr>
          <a:xfrm>
            <a:off x="777240" y="932688"/>
            <a:ext cx="7498079"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Comparison findings</a:t>
            </a:r>
            <a:endParaRPr sz="2800" b="1" i="0">
              <a:latin typeface="Arial"/>
            </a:endParaRPr>
          </a:p>
        </p:txBody>
      </p:sp>
      <p:sp>
        <p:nvSpPr>
          <p:cNvPr id="4" name="Rounded Rectangle 3"/>
          <p:cNvSpPr/>
          <p:nvPr/>
        </p:nvSpPr>
        <p:spPr>
          <a:xfrm>
            <a:off x="777240" y="1920240"/>
            <a:ext cx="223801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984248"/>
            <a:ext cx="211000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Type</a:t>
            </a:r>
            <a:endParaRPr sz="1100" b="1" i="0">
              <a:latin typeface="Arial"/>
            </a:endParaRPr>
          </a:p>
        </p:txBody>
      </p:sp>
      <p:sp>
        <p:nvSpPr>
          <p:cNvPr id="6" name="Rounded Rectangle 5"/>
          <p:cNvSpPr/>
          <p:nvPr/>
        </p:nvSpPr>
        <p:spPr>
          <a:xfrm>
            <a:off x="3060978" y="1920240"/>
            <a:ext cx="2726923"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24986" y="1984248"/>
            <a:ext cx="2598907"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Finding</a:t>
            </a:r>
            <a:endParaRPr sz="1100" b="1" i="0">
              <a:latin typeface="Arial"/>
            </a:endParaRPr>
          </a:p>
        </p:txBody>
      </p:sp>
      <p:sp>
        <p:nvSpPr>
          <p:cNvPr id="8" name="Rounded Rectangle 7"/>
          <p:cNvSpPr/>
          <p:nvPr/>
        </p:nvSpPr>
        <p:spPr>
          <a:xfrm>
            <a:off x="5833621" y="1920240"/>
            <a:ext cx="2641771"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97629" y="1984248"/>
            <a:ext cx="2513755"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Documents</a:t>
            </a:r>
            <a:endParaRPr sz="1100" b="1" i="0">
              <a:latin typeface="Arial"/>
            </a:endParaRPr>
          </a:p>
        </p:txBody>
      </p:sp>
      <p:sp>
        <p:nvSpPr>
          <p:cNvPr id="10" name="Rounded Rectangle 9"/>
          <p:cNvSpPr/>
          <p:nvPr/>
        </p:nvSpPr>
        <p:spPr>
          <a:xfrm>
            <a:off x="8521113" y="1920240"/>
            <a:ext cx="2863166"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85121" y="1984248"/>
            <a:ext cx="2735150"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Evidence</a:t>
            </a:r>
            <a:endParaRPr sz="1100" b="1" i="0">
              <a:latin typeface="Arial"/>
            </a:endParaRPr>
          </a:p>
        </p:txBody>
      </p:sp>
      <p:sp>
        <p:nvSpPr>
          <p:cNvPr id="12" name="Rounded Rectangle 11"/>
          <p:cNvSpPr/>
          <p:nvPr/>
        </p:nvSpPr>
        <p:spPr>
          <a:xfrm>
            <a:off x="777240" y="2450592"/>
            <a:ext cx="2238018" cy="60862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514600"/>
            <a:ext cx="2110002" cy="480608"/>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14" name="Rounded Rectangle 13"/>
          <p:cNvSpPr/>
          <p:nvPr/>
        </p:nvSpPr>
        <p:spPr>
          <a:xfrm>
            <a:off x="3060978" y="2450592"/>
            <a:ext cx="2726923" cy="60862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24986" y="2514600"/>
            <a:ext cx="2598907" cy="480608"/>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Access Review Evidence Log.pdf (pdf)</a:t>
            </a:r>
            <a:endParaRPr sz="1000" b="0" i="0">
              <a:latin typeface="Arial"/>
            </a:endParaRPr>
          </a:p>
        </p:txBody>
      </p:sp>
      <p:sp>
        <p:nvSpPr>
          <p:cNvPr id="16" name="Rounded Rectangle 15"/>
          <p:cNvSpPr/>
          <p:nvPr/>
        </p:nvSpPr>
        <p:spPr>
          <a:xfrm>
            <a:off x="5833621" y="2450592"/>
            <a:ext cx="2641771" cy="60862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97629" y="2514600"/>
            <a:ext cx="2513755" cy="480608"/>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Access Review Evidence Log.pdf (pdf)</a:t>
            </a:r>
            <a:endParaRPr sz="1000" b="0" i="0">
              <a:latin typeface="Arial"/>
            </a:endParaRPr>
          </a:p>
        </p:txBody>
      </p:sp>
      <p:sp>
        <p:nvSpPr>
          <p:cNvPr id="18" name="Rounded Rectangle 17"/>
          <p:cNvSpPr/>
          <p:nvPr/>
        </p:nvSpPr>
        <p:spPr>
          <a:xfrm>
            <a:off x="8521113" y="2450592"/>
            <a:ext cx="2863166" cy="60862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85121" y="2514600"/>
            <a:ext cx="2735150" cy="480608"/>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Evidence items are tied to specific controls and must be formally archived to validate compliance. | Status tracking is…</a:t>
            </a:r>
            <a:endParaRPr sz="1000" b="0" i="0">
              <a:latin typeface="Arial"/>
            </a:endParaRPr>
          </a:p>
        </p:txBody>
      </p:sp>
      <p:sp>
        <p:nvSpPr>
          <p:cNvPr id="20" name="Rounded Rectangle 19"/>
          <p:cNvSpPr/>
          <p:nvPr/>
        </p:nvSpPr>
        <p:spPr>
          <a:xfrm>
            <a:off x="777240" y="3114080"/>
            <a:ext cx="2238018" cy="60862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3178088"/>
            <a:ext cx="2110002" cy="480608"/>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22" name="Rounded Rectangle 21"/>
          <p:cNvSpPr/>
          <p:nvPr/>
        </p:nvSpPr>
        <p:spPr>
          <a:xfrm>
            <a:off x="3060978" y="3114080"/>
            <a:ext cx="2726923" cy="60862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24986" y="3178088"/>
            <a:ext cx="2598907" cy="480608"/>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Privileged Account Approval Email.pdf (pdf)</a:t>
            </a:r>
            <a:endParaRPr sz="1000" b="0" i="0">
              <a:latin typeface="Arial"/>
            </a:endParaRPr>
          </a:p>
        </p:txBody>
      </p:sp>
      <p:sp>
        <p:nvSpPr>
          <p:cNvPr id="24" name="Rounded Rectangle 23"/>
          <p:cNvSpPr/>
          <p:nvPr/>
        </p:nvSpPr>
        <p:spPr>
          <a:xfrm>
            <a:off x="5833621" y="3114080"/>
            <a:ext cx="2641771" cy="60862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97629" y="3178088"/>
            <a:ext cx="2513755" cy="480608"/>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Privileged Account Approval Email.pdf (pdf)</a:t>
            </a:r>
            <a:endParaRPr sz="1000" b="0" i="0">
              <a:latin typeface="Arial"/>
            </a:endParaRPr>
          </a:p>
        </p:txBody>
      </p:sp>
      <p:sp>
        <p:nvSpPr>
          <p:cNvPr id="26" name="Rounded Rectangle 25"/>
          <p:cNvSpPr/>
          <p:nvPr/>
        </p:nvSpPr>
        <p:spPr>
          <a:xfrm>
            <a:off x="8521113" y="3114080"/>
            <a:ext cx="2863166" cy="60862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85121" y="3178088"/>
            <a:ext cx="2735150" cy="480608"/>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is conditional on narrow operational scope and audit trail compliance | Governance requires proactive revalidati…</a:t>
            </a:r>
            <a:endParaRPr sz="1000" b="0" i="0">
              <a:latin typeface="Arial"/>
            </a:endParaRPr>
          </a:p>
        </p:txBody>
      </p:sp>
      <p:sp>
        <p:nvSpPr>
          <p:cNvPr id="28" name="Rounded Rectangle 27"/>
          <p:cNvSpPr/>
          <p:nvPr/>
        </p:nvSpPr>
        <p:spPr>
          <a:xfrm>
            <a:off x="777240" y="3777569"/>
            <a:ext cx="2238018" cy="60862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3841577"/>
            <a:ext cx="2110002" cy="480608"/>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0" name="Rounded Rectangle 29"/>
          <p:cNvSpPr/>
          <p:nvPr/>
        </p:nvSpPr>
        <p:spPr>
          <a:xfrm>
            <a:off x="3060978" y="3777569"/>
            <a:ext cx="2726923" cy="60862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24986" y="3841577"/>
            <a:ext cx="2598907" cy="480608"/>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summaries highlight complementary but distinct governance requirements…</a:t>
            </a:r>
            <a:endParaRPr sz="1000" b="0" i="0">
              <a:latin typeface="Arial"/>
            </a:endParaRPr>
          </a:p>
        </p:txBody>
      </p:sp>
      <p:sp>
        <p:nvSpPr>
          <p:cNvPr id="32" name="Rounded Rectangle 31"/>
          <p:cNvSpPr/>
          <p:nvPr/>
        </p:nvSpPr>
        <p:spPr>
          <a:xfrm>
            <a:off x="5833621" y="3777569"/>
            <a:ext cx="2641771" cy="60862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97629" y="3841577"/>
            <a:ext cx="2513755" cy="480608"/>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34" name="Rounded Rectangle 33"/>
          <p:cNvSpPr/>
          <p:nvPr/>
        </p:nvSpPr>
        <p:spPr>
          <a:xfrm>
            <a:off x="8521113" y="3777569"/>
            <a:ext cx="2863166" cy="60862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85121" y="3841577"/>
            <a:ext cx="2735150" cy="480608"/>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The Access Review Evidence Log (EVD-101) documents Q1 2024 vendor control evidenc…</a:t>
            </a:r>
            <a:endParaRPr sz="1000" b="0" i="0">
              <a:latin typeface="Arial"/>
            </a:endParaRPr>
          </a:p>
        </p:txBody>
      </p:sp>
      <p:sp>
        <p:nvSpPr>
          <p:cNvPr id="36" name="TextBox 35"/>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2026-04-22</a:t>
            </a:r>
          </a:p>
        </p:txBody>
      </p:sp>
      <p:sp>
        <p:nvSpPr>
          <p:cNvPr id="37" name="TextBox 36"/>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04 / 06</a:t>
            </a:r>
          </a:p>
        </p:txBody>
      </p:sp>
      <p:cxnSp>
        <p:nvCxnSpPr>
          <p:cNvPr id="38" name="Connector 37"/>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NARRATIVE</a:t>
            </a:r>
          </a:p>
        </p:txBody>
      </p:sp>
      <p:sp>
        <p:nvSpPr>
          <p:cNvPr id="3" name="TextBox 2"/>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Recommendation vs watchouts</a:t>
            </a:r>
            <a:endParaRPr sz="2800" b="1" i="0">
              <a:latin typeface="Arial"/>
            </a:endParaRPr>
          </a:p>
        </p:txBody>
      </p:sp>
      <p:sp>
        <p:nvSpPr>
          <p:cNvPr id="4" name="Rounded Rectangle 3"/>
          <p:cNvSpPr/>
          <p:nvPr/>
        </p:nvSpPr>
        <p:spPr>
          <a:xfrm>
            <a:off x="777240" y="2029968"/>
            <a:ext cx="5551932"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29968"/>
            <a:ext cx="73152" cy="3255264"/>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3" y="2267712"/>
            <a:ext cx="5076444"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Recommendation</a:t>
            </a:r>
            <a:endParaRPr sz="1600" b="1" i="0">
              <a:latin typeface="Arial"/>
            </a:endParaRPr>
          </a:p>
        </p:txBody>
      </p:sp>
      <p:sp>
        <p:nvSpPr>
          <p:cNvPr id="7" name="TextBox 6"/>
          <p:cNvSpPr txBox="1"/>
          <p:nvPr/>
        </p:nvSpPr>
        <p:spPr>
          <a:xfrm>
            <a:off x="1014983" y="2706624"/>
            <a:ext cx="5076444" cy="1272819"/>
          </a:xfrm>
          <a:prstGeom prst="rect">
            <a:avLst/>
          </a:prstGeom>
          <a:noFill/>
        </p:spPr>
        <p:txBody>
          <a:bodyPr wrap="square" anchor="t" lIns="0" rIns="0" tIns="0" bIns="0">
            <a:noAutofit/>
          </a:bodyPr>
          <a:lstStyle/>
          <a:p>
            <a:pPr algn="l">
              <a:spcAft>
                <a:spcPts val="0"/>
              </a:spcAft>
            </a:pPr>
            <a:r>
              <a:rPr sz="1400" b="0" i="0">
                <a:solidFill>
                  <a:srgbClr val="203247"/>
                </a:solidFill>
                <a:latin typeface="Arial"/>
              </a:rPr>
              <a:t>Open the cited source excerpts to confirm the interpretation before acting.</a:t>
            </a:r>
            <a:endParaRPr sz="1500" b="0" i="0">
              <a:latin typeface="Arial"/>
            </a:endParaRPr>
          </a:p>
        </p:txBody>
      </p:sp>
      <p:sp>
        <p:nvSpPr>
          <p:cNvPr id="8" name="TextBox 7"/>
          <p:cNvSpPr txBox="1"/>
          <p:nvPr/>
        </p:nvSpPr>
        <p:spPr>
          <a:xfrm>
            <a:off x="1014983" y="4034307"/>
            <a:ext cx="5076444" cy="1013180"/>
          </a:xfrm>
          <a:prstGeom prst="rect">
            <a:avLst/>
          </a:prstGeom>
          <a:noFill/>
        </p:spPr>
        <p:txBody>
          <a:bodyPr wrap="square" anchor="t" lIns="0" rIns="0" tIns="0" bIns="0">
            <a:noAutofit/>
          </a:bodyPr>
          <a:lstStyle/>
          <a:p>
            <a:pPr algn="l">
              <a:spcAft>
                <a:spcPts val="300"/>
              </a:spcAft>
            </a:pPr>
            <a:r>
              <a:rPr sz="1000" b="0" i="0">
                <a:solidFill>
                  <a:srgbClr val="203247"/>
                </a:solidFill>
                <a:latin typeface="Arial"/>
              </a:rPr>
              <a:t>• Open the cited source excerpts to confirm the interpretation before act…</a:t>
            </a:r>
            <a:endParaRPr sz="1100" b="0" i="0">
              <a:latin typeface="Arial"/>
            </a:endParaRPr>
          </a:p>
          <a:p>
            <a:pPr algn="l">
              <a:spcAft>
                <a:spcPts val="300"/>
              </a:spcAft>
            </a:pPr>
            <a:r>
              <a:rPr sz="1000" b="0" i="0">
                <a:solidFill>
                  <a:srgbClr val="203247"/>
                </a:solidFill>
                <a:latin typeface="Arial"/>
              </a:rPr>
              <a:t>• Validate critical differences directly in the compared documents before…</a:t>
            </a:r>
            <a:endParaRPr sz="1100" b="0" i="0">
              <a:latin typeface="Arial"/>
            </a:endParaRPr>
          </a:p>
        </p:txBody>
      </p:sp>
      <p:sp>
        <p:nvSpPr>
          <p:cNvPr id="9" name="Rounded Rectangle 8"/>
          <p:cNvSpPr/>
          <p:nvPr/>
        </p:nvSpPr>
        <p:spPr>
          <a:xfrm>
            <a:off x="6621780" y="2029968"/>
            <a:ext cx="4762500"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21780" y="2029968"/>
            <a:ext cx="73152" cy="3255264"/>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9524" y="2267712"/>
            <a:ext cx="4287012"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Watchouts</a:t>
            </a:r>
            <a:endParaRPr sz="1600" b="1" i="0">
              <a:latin typeface="Arial"/>
            </a:endParaRPr>
          </a:p>
        </p:txBody>
      </p:sp>
      <p:sp>
        <p:nvSpPr>
          <p:cNvPr id="12" name="TextBox 11"/>
          <p:cNvSpPr txBox="1"/>
          <p:nvPr/>
        </p:nvSpPr>
        <p:spPr>
          <a:xfrm>
            <a:off x="6859524" y="2706624"/>
            <a:ext cx="4287012" cy="1481328"/>
          </a:xfrm>
          <a:prstGeom prst="rect">
            <a:avLst/>
          </a:prstGeom>
          <a:noFill/>
        </p:spPr>
        <p:txBody>
          <a:bodyPr wrap="square" anchor="t" lIns="0" rIns="0" tIns="0" bIns="0">
            <a:noAutofit/>
          </a:bodyPr>
          <a:lstStyle/>
          <a:p>
            <a:pPr algn="l">
              <a:spcAft>
                <a:spcPts val="0"/>
              </a:spcAft>
            </a:pPr>
            <a:r>
              <a:rPr sz="1500" b="0" i="0">
                <a:solidFill>
                  <a:srgbClr val="203247"/>
                </a:solidFill>
                <a:latin typeface="Arial"/>
              </a:rPr>
              <a:t>No critical watchouts recorded for this slice.</a:t>
            </a:r>
            <a:endParaRPr sz="1500" b="0" i="0">
              <a:latin typeface="Arial"/>
            </a:endParaRPr>
          </a:p>
        </p:txBody>
      </p:sp>
      <p:sp>
        <p:nvSpPr>
          <p:cNvPr id="13" name="TextBox 12"/>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2026-04-22</a:t>
            </a:r>
          </a:p>
        </p:txBody>
      </p:sp>
      <p:sp>
        <p:nvSpPr>
          <p:cNvPr id="14" name="TextBox 13"/>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05 / 06</a:t>
            </a:r>
          </a:p>
        </p:txBody>
      </p:sp>
      <p:cxnSp>
        <p:nvCxnSpPr>
          <p:cNvPr id="15" name="Connector 14"/>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5852160" cy="777240"/>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Next steps</a:t>
            </a:r>
            <a:endParaRPr sz="2800" b="1" i="0">
              <a:latin typeface="Arial"/>
            </a:endParaRPr>
          </a:p>
        </p:txBody>
      </p:sp>
      <p:sp>
        <p:nvSpPr>
          <p:cNvPr id="3" name="TextBox 2"/>
          <p:cNvSpPr txBox="1"/>
          <p:nvPr/>
        </p:nvSpPr>
        <p:spPr>
          <a:xfrm>
            <a:off x="777240" y="2331720"/>
            <a:ext cx="6263640" cy="2880360"/>
          </a:xfrm>
          <a:prstGeom prst="rect">
            <a:avLst/>
          </a:prstGeom>
          <a:noFill/>
        </p:spPr>
        <p:txBody>
          <a:bodyPr wrap="square" anchor="t" lIns="0" rIns="0" tIns="0" bIns="0">
            <a:noAutofit/>
          </a:bodyPr>
          <a:lstStyle/>
          <a:p>
            <a:pPr algn="l">
              <a:spcAft>
                <a:spcPts val="400"/>
              </a:spcAft>
            </a:pPr>
            <a:r>
              <a:rPr sz="1300" b="0" i="0">
                <a:solidFill>
                  <a:srgbClr val="203247"/>
                </a:solidFill>
                <a:latin typeface="Arial"/>
              </a:rPr>
              <a:t>• Open the cited source excerpts to confirm the interpretation before acting.</a:t>
            </a:r>
            <a:endParaRPr sz="1400" b="0" i="0">
              <a:latin typeface="Arial"/>
            </a:endParaRPr>
          </a:p>
          <a:p>
            <a:pPr algn="l">
              <a:spcAft>
                <a:spcPts val="400"/>
              </a:spcAft>
            </a:pPr>
            <a:r>
              <a:rPr sz="1300" b="0" i="0">
                <a:solidFill>
                  <a:srgbClr val="203247"/>
                </a:solidFill>
                <a:latin typeface="Arial"/>
              </a:rPr>
              <a:t>• Validate critical differences directly in the compared documents before consoli…</a:t>
            </a:r>
            <a:endParaRPr sz="1400" b="0" i="0">
              <a:latin typeface="Arial"/>
            </a:endParaRPr>
          </a:p>
        </p:txBody>
      </p:sp>
      <p:sp>
        <p:nvSpPr>
          <p:cNvPr id="4" name="Rounded Rectangle 3"/>
          <p:cNvSpPr/>
          <p:nvPr/>
        </p:nvSpPr>
        <p:spPr>
          <a:xfrm>
            <a:off x="7360919" y="960120"/>
            <a:ext cx="4023360" cy="452628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60919" y="960120"/>
            <a:ext cx="40233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1" y="1216152"/>
            <a:ext cx="3511296" cy="2130967"/>
          </a:xfrm>
          <a:prstGeom prst="rect">
            <a:avLst/>
          </a:prstGeom>
          <a:noFill/>
        </p:spPr>
        <p:txBody>
          <a:bodyPr wrap="square" anchor="t" lIns="0" rIns="0" tIns="0" bIns="0">
            <a:noAutofit/>
          </a:bodyPr>
          <a:lstStyle/>
          <a:p>
            <a:pPr algn="l">
              <a:spcAft>
                <a:spcPts val="0"/>
              </a:spcAft>
            </a:pPr>
            <a:r>
              <a:rPr sz="1300" b="0" i="0">
                <a:solidFill>
                  <a:srgbClr val="203247"/>
                </a:solidFill>
                <a:latin typeface="Arial"/>
              </a:rPr>
              <a:t>Open the cited source excerpts to confirm the interpretation before acting.</a:t>
            </a:r>
            <a:endParaRPr sz="1400" b="0" i="0">
              <a:latin typeface="Arial"/>
            </a:endParaRPr>
          </a:p>
        </p:txBody>
      </p:sp>
      <p:sp>
        <p:nvSpPr>
          <p:cNvPr id="7" name="TextBox 6"/>
          <p:cNvSpPr txBox="1"/>
          <p:nvPr/>
        </p:nvSpPr>
        <p:spPr>
          <a:xfrm>
            <a:off x="7616951" y="3438559"/>
            <a:ext cx="3511296" cy="1791808"/>
          </a:xfrm>
          <a:prstGeom prst="rect">
            <a:avLst/>
          </a:prstGeom>
          <a:noFill/>
        </p:spPr>
        <p:txBody>
          <a:bodyPr wrap="square" anchor="t" lIns="0" rIns="0" tIns="0" bIns="0">
            <a:noAutofit/>
          </a:bodyPr>
          <a:lstStyle/>
          <a:p>
            <a:pPr algn="l">
              <a:spcAft>
                <a:spcPts val="400"/>
              </a:spcAft>
            </a:pPr>
            <a:r>
              <a:rPr sz="1300" b="0" i="0">
                <a:solidFill>
                  <a:srgbClr val="14263F"/>
                </a:solidFill>
                <a:latin typeface="Arial"/>
              </a:rPr>
              <a:t>• Validate critical differences directly in the compared documents before consoli…</a:t>
            </a:r>
            <a:endParaRPr sz="14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2026-04-22</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06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