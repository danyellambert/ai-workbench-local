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Export kind: policy_contract_comparison_deck. Deck family: comparison. Sources: structured_result, document_agent_comparison.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summary consolidated from the product's grounded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Differences and impacts extracted from the document-comparison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decision framing for this slice.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777240" y="658368"/>
            <a:ext cx="91440" cy="1051560"/>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8992" y="896112"/>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COMPARISON REVIEW OF GROUNDED DOCUMENT DIFFERENCES</a:t>
            </a:r>
          </a:p>
        </p:txBody>
      </p:sp>
      <p:sp>
        <p:nvSpPr>
          <p:cNvPr id="4" name="TextBox 3"/>
          <p:cNvSpPr txBox="1"/>
          <p:nvPr/>
        </p:nvSpPr>
        <p:spPr>
          <a:xfrm>
            <a:off x="1078992" y="1143000"/>
            <a:ext cx="6126480" cy="1243584"/>
          </a:xfrm>
          <a:prstGeom prst="rect">
            <a:avLst/>
          </a:prstGeom>
          <a:noFill/>
        </p:spPr>
        <p:txBody>
          <a:bodyPr wrap="square" anchor="t" lIns="0" rIns="0" tIns="0" bIns="0">
            <a:noAutofit/>
          </a:bodyPr>
          <a:lstStyle/>
          <a:p>
            <a:pPr algn="l">
              <a:spcAft>
                <a:spcPts val="0"/>
              </a:spcAft>
            </a:pPr>
            <a:r>
              <a:rPr sz="3200" b="1" i="0">
                <a:solidFill>
                  <a:srgbClr val="14263F"/>
                </a:solidFill>
                <a:latin typeface="Arial"/>
              </a:rPr>
              <a:t>AI Workbench Local — Policy / Contract Comparison</a:t>
            </a:r>
            <a:endParaRPr sz="3200" b="1" i="0">
              <a:latin typeface="Arial"/>
            </a:endParaRPr>
          </a:p>
        </p:txBody>
      </p:sp>
      <p:sp>
        <p:nvSpPr>
          <p:cNvPr id="5" name="TextBox 4"/>
          <p:cNvSpPr txBox="1"/>
          <p:nvPr/>
        </p:nvSpPr>
        <p:spPr>
          <a:xfrm>
            <a:off x="1078992" y="2551176"/>
            <a:ext cx="5394960" cy="475488"/>
          </a:xfrm>
          <a:prstGeom prst="rect">
            <a:avLst/>
          </a:prstGeom>
          <a:noFill/>
        </p:spPr>
        <p:txBody>
          <a:bodyPr wrap="square" anchor="t" lIns="0" rIns="0" tIns="0" bIns="0">
            <a:noAutofit/>
          </a:bodyPr>
          <a:lstStyle/>
          <a:p>
            <a:pPr algn="l">
              <a:spcAft>
                <a:spcPts val="0"/>
              </a:spcAft>
            </a:pPr>
            <a:r>
              <a:rPr sz="1300" b="0" i="0">
                <a:solidFill>
                  <a:srgbClr val="617287"/>
                </a:solidFill>
                <a:latin typeface="Arial"/>
              </a:rPr>
              <a:t>Executive comparison review of grounded document differences</a:t>
            </a:r>
            <a:endParaRPr sz="1300" b="0" i="0">
              <a:latin typeface="Arial"/>
            </a:endParaRPr>
          </a:p>
        </p:txBody>
      </p:sp>
      <p:sp>
        <p:nvSpPr>
          <p:cNvPr id="6" name="Rounded Rectangle 5"/>
          <p:cNvSpPr/>
          <p:nvPr/>
        </p:nvSpPr>
        <p:spPr>
          <a:xfrm>
            <a:off x="8092440" y="960120"/>
            <a:ext cx="3291840" cy="425196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560320" cy="1926832"/>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Author</a:t>
            </a:r>
          </a:p>
          <a:p>
            <a:pPr algn="l">
              <a:spcAft>
                <a:spcPts val="0"/>
              </a:spcAft>
            </a:pPr>
            <a:r>
              <a:rPr sz="1400" b="0" i="0">
                <a:solidFill>
                  <a:srgbClr val="203247"/>
                </a:solidFill>
                <a:latin typeface="Arial"/>
              </a:rPr>
              <a:t>AI Workbench Local</a:t>
            </a:r>
          </a:p>
        </p:txBody>
      </p:sp>
      <p:sp>
        <p:nvSpPr>
          <p:cNvPr id="8" name="TextBox 7"/>
          <p:cNvSpPr txBox="1"/>
          <p:nvPr/>
        </p:nvSpPr>
        <p:spPr>
          <a:xfrm>
            <a:off x="8458200" y="3325864"/>
            <a:ext cx="2560320" cy="1520455"/>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Date</a:t>
            </a:r>
          </a:p>
          <a:p>
            <a:pPr algn="l">
              <a:spcAft>
                <a:spcPts val="0"/>
              </a:spcAft>
            </a:pPr>
            <a:r>
              <a:rPr sz="1400" b="0" i="0">
                <a:solidFill>
                  <a:srgbClr val="203247"/>
                </a:solidFill>
                <a:latin typeface="Arial"/>
              </a:rPr>
              <a:t>2026-04-18</a:t>
            </a:r>
          </a:p>
        </p:txBody>
      </p:sp>
      <p:sp>
        <p:nvSpPr>
          <p:cNvPr id="9" name="TextBox 8"/>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0" name="TextBox 9"/>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01 / 06</a:t>
            </a:r>
          </a:p>
        </p:txBody>
      </p:sp>
      <p:cxnSp>
        <p:nvCxnSpPr>
          <p:cNvPr id="11" name="Connector 10"/>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summary</a:t>
            </a:r>
            <a:endParaRPr sz="2800" b="1" i="0">
              <a:latin typeface="Arial"/>
            </a:endParaRPr>
          </a:p>
        </p:txBody>
      </p:sp>
      <p:sp>
        <p:nvSpPr>
          <p:cNvPr id="3" name="TextBox 2"/>
          <p:cNvSpPr txBox="1"/>
          <p:nvPr/>
        </p:nvSpPr>
        <p:spPr>
          <a:xfrm>
            <a:off x="777240" y="2048256"/>
            <a:ext cx="6447488" cy="1938528"/>
          </a:xfrm>
          <a:prstGeom prst="rect">
            <a:avLst/>
          </a:prstGeom>
          <a:noFill/>
        </p:spPr>
        <p:txBody>
          <a:bodyPr wrap="square" anchor="t" lIns="0" rIns="0" tIns="0" bIns="0">
            <a:noAutofit/>
          </a:bodyPr>
          <a:lstStyle/>
          <a:p>
            <a:pPr algn="l">
              <a:spcAft>
                <a:spcPts val="0"/>
              </a:spcAft>
            </a:pPr>
            <a:r>
              <a:rPr sz="1100" b="0" i="0">
                <a:solidFill>
                  <a:srgbClr val="203247"/>
                </a:solidFill>
                <a:latin typeface="Arial"/>
              </a:rPr>
              <a:t>Executive Comparison:  
The Access Review Evidence Log (EVD-101) is a formal register tracking evidence completion for Q1 2024 vendor control reviews, requiring documented proof such as user exports and approval emails to close controls, while the Privileged Account Approval Email grants limited, time-bound privileged access to two support administrators under strict usage rules and mandatory quarterly vendor revalidation.
- EVD-101 mandates archiving of specific artifacts (e.g., email-export) in an approved repository to satisfy evidence requirements.  
- The Privileged Account Approval Email explicitly requires quarterly vendor confirmation of personnel for ongoing access.  
- EVD-101 focuses on evidence completeness for control closure; the email governs active access permissions and usage constraints.  
- Evidence gaps in EVD-101 block control closure until verified; the email’s access is inherently time-limited and subject to revalidation.  
- Both documents tie to vendor control processes but operate at different stages: evidence tracking vs. access authorization.  
- The email’s scope is narrowly defined to two administrators and specific tasks, whereas EVD-101 applies broadly to all evidence items in the review.</a:t>
            </a:r>
            <a:endParaRPr sz="1100" b="0" i="0">
              <a:latin typeface="Arial"/>
            </a:endParaRPr>
          </a:p>
        </p:txBody>
      </p:sp>
      <p:sp>
        <p:nvSpPr>
          <p:cNvPr id="4" name="Rounded Rectangle 3"/>
          <p:cNvSpPr/>
          <p:nvPr/>
        </p:nvSpPr>
        <p:spPr>
          <a:xfrm>
            <a:off x="7517336" y="1865376"/>
            <a:ext cx="3866943" cy="31272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17336" y="1865376"/>
            <a:ext cx="38669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36792" y="2084832"/>
            <a:ext cx="3428031" cy="256032"/>
          </a:xfrm>
          <a:prstGeom prst="rect">
            <a:avLst/>
          </a:prstGeom>
          <a:noFill/>
        </p:spPr>
        <p:txBody>
          <a:bodyPr wrap="square" anchor="t" lIns="0" rIns="0" tIns="0" bIns="0">
            <a:spAutoFit/>
          </a:bodyPr>
          <a:lstStyle/>
          <a:p/>
        </p:txBody>
      </p:sp>
      <p:sp>
        <p:nvSpPr>
          <p:cNvPr id="7" name="TextBox 6"/>
          <p:cNvSpPr txBox="1"/>
          <p:nvPr/>
        </p:nvSpPr>
        <p:spPr>
          <a:xfrm>
            <a:off x="7736792" y="2414016"/>
            <a:ext cx="3428031" cy="2359152"/>
          </a:xfrm>
          <a:prstGeom prst="rect">
            <a:avLst/>
          </a:prstGeom>
          <a:noFill/>
        </p:spPr>
        <p:txBody>
          <a:bodyPr wrap="square" anchor="t" lIns="0" rIns="0" tIns="0" bIns="0">
            <a:noAutofit/>
          </a:bodyPr>
          <a:lstStyle/>
          <a:p>
            <a:pPr algn="l">
              <a:lnSpc>
                <a:spcPct val="100000"/>
              </a:lnSpc>
              <a:spcAft>
                <a:spcPts val="300"/>
              </a:spcAft>
            </a:pPr>
            <a:r>
              <a:rPr sz="900" b="0" i="0">
                <a:solidFill>
                  <a:srgbClr val="203247"/>
                </a:solidFill>
                <a:latin typeface="Arial"/>
              </a:rPr>
              <a:t>• The Access Review Evidence Log (EVD-101) is a formal register tracking evid…</a:t>
            </a:r>
            <a:endParaRPr sz="1000" b="0" i="0">
              <a:latin typeface="Arial"/>
            </a:endParaRPr>
          </a:p>
          <a:p>
            <a:pPr algn="l">
              <a:lnSpc>
                <a:spcPct val="100000"/>
              </a:lnSpc>
              <a:spcAft>
                <a:spcPts val="300"/>
              </a:spcAft>
            </a:pPr>
            <a:r>
              <a:rPr sz="900" b="0" i="0">
                <a:solidFill>
                  <a:srgbClr val="203247"/>
                </a:solidFill>
                <a:latin typeface="Arial"/>
              </a:rPr>
              <a:t>• EVD-101 mandates archiving of specific artifacts (e.g., email-export) in an…</a:t>
            </a:r>
            <a:endParaRPr sz="1000" b="0" i="0">
              <a:latin typeface="Arial"/>
            </a:endParaRPr>
          </a:p>
          <a:p>
            <a:pPr algn="l">
              <a:lnSpc>
                <a:spcPct val="100000"/>
              </a:lnSpc>
              <a:spcAft>
                <a:spcPts val="300"/>
              </a:spcAft>
            </a:pPr>
            <a:r>
              <a:rPr sz="900" b="0" i="0">
                <a:solidFill>
                  <a:srgbClr val="203247"/>
                </a:solidFill>
                <a:latin typeface="Arial"/>
              </a:rPr>
              <a:t>• The Privileged Account Approval Email explicitly requires quarterly vendor…</a:t>
            </a:r>
            <a:endParaRPr sz="10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02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KEY METRICS</a:t>
            </a:r>
          </a:p>
        </p:txBody>
      </p:sp>
      <p:sp>
        <p:nvSpPr>
          <p:cNvPr id="3" name="TextBox 2"/>
          <p:cNvSpPr txBox="1"/>
          <p:nvPr/>
        </p:nvSpPr>
        <p:spPr>
          <a:xfrm>
            <a:off x="777240" y="932688"/>
            <a:ext cx="681228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snapshot</a:t>
            </a:r>
            <a:endParaRPr sz="2800" b="1" i="0">
              <a:latin typeface="Arial"/>
            </a:endParaRPr>
          </a:p>
        </p:txBody>
      </p:sp>
      <p:sp>
        <p:nvSpPr>
          <p:cNvPr id="4" name="Rounded Rectangle 3"/>
          <p:cNvSpPr/>
          <p:nvPr/>
        </p:nvSpPr>
        <p:spPr>
          <a:xfrm>
            <a:off x="777240"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212848"/>
            <a:ext cx="2509160"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2</a:t>
            </a:r>
            <a:endParaRPr sz="2400" b="1" i="0">
              <a:latin typeface="Arial"/>
            </a:endParaRPr>
          </a:p>
        </p:txBody>
      </p:sp>
      <p:sp>
        <p:nvSpPr>
          <p:cNvPr id="7" name="TextBox 6"/>
          <p:cNvSpPr txBox="1"/>
          <p:nvPr/>
        </p:nvSpPr>
        <p:spPr>
          <a:xfrm>
            <a:off x="99669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Compared docs</a:t>
            </a:r>
            <a:endParaRPr sz="1200" b="1" i="0">
              <a:latin typeface="Arial"/>
            </a:endParaRPr>
          </a:p>
        </p:txBody>
      </p:sp>
      <p:sp>
        <p:nvSpPr>
          <p:cNvPr id="8" name="Rounded Rectangle 7"/>
          <p:cNvSpPr/>
          <p:nvPr/>
        </p:nvSpPr>
        <p:spPr>
          <a:xfrm>
            <a:off x="3524144"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4144" y="2212848"/>
            <a:ext cx="24377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3600"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8</a:t>
            </a:r>
            <a:endParaRPr sz="2400" b="1" i="0">
              <a:latin typeface="Arial"/>
            </a:endParaRPr>
          </a:p>
        </p:txBody>
      </p:sp>
      <p:sp>
        <p:nvSpPr>
          <p:cNvPr id="11" name="TextBox 10"/>
          <p:cNvSpPr txBox="1"/>
          <p:nvPr/>
        </p:nvSpPr>
        <p:spPr>
          <a:xfrm>
            <a:off x="3743600"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Findings</a:t>
            </a:r>
            <a:endParaRPr sz="1200" b="1" i="0">
              <a:latin typeface="Arial"/>
            </a:endParaRPr>
          </a:p>
        </p:txBody>
      </p:sp>
      <p:sp>
        <p:nvSpPr>
          <p:cNvPr id="12" name="Rounded Rectangle 11"/>
          <p:cNvSpPr/>
          <p:nvPr/>
        </p:nvSpPr>
        <p:spPr>
          <a:xfrm>
            <a:off x="6199632"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212848"/>
            <a:ext cx="2437743"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4</a:t>
            </a:r>
            <a:endParaRPr sz="2400" b="1" i="0">
              <a:latin typeface="Arial"/>
            </a:endParaRPr>
          </a:p>
        </p:txBody>
      </p:sp>
      <p:sp>
        <p:nvSpPr>
          <p:cNvPr id="15" name="TextBox 14"/>
          <p:cNvSpPr txBox="1"/>
          <p:nvPr/>
        </p:nvSpPr>
        <p:spPr>
          <a:xfrm>
            <a:off x="6419088"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Sources</a:t>
            </a:r>
            <a:endParaRPr sz="1200" b="1" i="0">
              <a:latin typeface="Arial"/>
            </a:endParaRPr>
          </a:p>
        </p:txBody>
      </p:sp>
      <p:sp>
        <p:nvSpPr>
          <p:cNvPr id="16" name="Rounded Rectangle 15"/>
          <p:cNvSpPr/>
          <p:nvPr/>
        </p:nvSpPr>
        <p:spPr>
          <a:xfrm>
            <a:off x="8875119"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75119" y="2212848"/>
            <a:ext cx="25091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457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No</a:t>
            </a:r>
            <a:endParaRPr sz="2400" b="1" i="0">
              <a:latin typeface="Arial"/>
            </a:endParaRPr>
          </a:p>
        </p:txBody>
      </p:sp>
      <p:sp>
        <p:nvSpPr>
          <p:cNvPr id="19" name="TextBox 18"/>
          <p:cNvSpPr txBox="1"/>
          <p:nvPr/>
        </p:nvSpPr>
        <p:spPr>
          <a:xfrm>
            <a:off x="909457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Needs review</a:t>
            </a:r>
            <a:endParaRPr sz="1200" b="1" i="0">
              <a:latin typeface="Arial"/>
            </a:endParaRPr>
          </a:p>
        </p:txBody>
      </p:sp>
      <p:sp>
        <p:nvSpPr>
          <p:cNvPr id="20" name="TextBox 19"/>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21" name="TextBox 20"/>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03 / 06</a:t>
            </a:r>
          </a:p>
        </p:txBody>
      </p:sp>
      <p:cxnSp>
        <p:nvCxnSpPr>
          <p:cNvPr id="22" name="Connector 21"/>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TABLE</a:t>
            </a:r>
          </a:p>
        </p:txBody>
      </p:sp>
      <p:sp>
        <p:nvSpPr>
          <p:cNvPr id="3" name="TextBox 2"/>
          <p:cNvSpPr txBox="1"/>
          <p:nvPr/>
        </p:nvSpPr>
        <p:spPr>
          <a:xfrm>
            <a:off x="777240" y="932688"/>
            <a:ext cx="7498079"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Comparison findings</a:t>
            </a:r>
            <a:endParaRPr sz="2800" b="1" i="0">
              <a:latin typeface="Arial"/>
            </a:endParaRPr>
          </a:p>
        </p:txBody>
      </p:sp>
      <p:sp>
        <p:nvSpPr>
          <p:cNvPr id="4" name="Rounded Rectangle 3"/>
          <p:cNvSpPr/>
          <p:nvPr/>
        </p:nvSpPr>
        <p:spPr>
          <a:xfrm>
            <a:off x="777240" y="1920240"/>
            <a:ext cx="2352634"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984248"/>
            <a:ext cx="2224618"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Type</a:t>
            </a:r>
            <a:endParaRPr sz="1100" b="1" i="0">
              <a:latin typeface="Arial"/>
            </a:endParaRPr>
          </a:p>
        </p:txBody>
      </p:sp>
      <p:sp>
        <p:nvSpPr>
          <p:cNvPr id="6" name="Rounded Rectangle 5"/>
          <p:cNvSpPr/>
          <p:nvPr/>
        </p:nvSpPr>
        <p:spPr>
          <a:xfrm>
            <a:off x="3175594"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602"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Finding</a:t>
            </a:r>
            <a:endParaRPr sz="1100" b="1" i="0">
              <a:latin typeface="Arial"/>
            </a:endParaRPr>
          </a:p>
        </p:txBody>
      </p:sp>
      <p:sp>
        <p:nvSpPr>
          <p:cNvPr id="8" name="Rounded Rectangle 7"/>
          <p:cNvSpPr/>
          <p:nvPr/>
        </p:nvSpPr>
        <p:spPr>
          <a:xfrm>
            <a:off x="5927063"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91071"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Documents</a:t>
            </a:r>
            <a:endParaRPr sz="1100" b="1" i="0">
              <a:latin typeface="Arial"/>
            </a:endParaRPr>
          </a:p>
        </p:txBody>
      </p:sp>
      <p:sp>
        <p:nvSpPr>
          <p:cNvPr id="10" name="Rounded Rectangle 9"/>
          <p:cNvSpPr/>
          <p:nvPr/>
        </p:nvSpPr>
        <p:spPr>
          <a:xfrm>
            <a:off x="8678531"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42539"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Evidence</a:t>
            </a:r>
            <a:endParaRPr sz="1100" b="1" i="0">
              <a:latin typeface="Arial"/>
            </a:endParaRPr>
          </a:p>
        </p:txBody>
      </p:sp>
      <p:sp>
        <p:nvSpPr>
          <p:cNvPr id="12" name="Rounded Rectangle 11"/>
          <p:cNvSpPr/>
          <p:nvPr/>
        </p:nvSpPr>
        <p:spPr>
          <a:xfrm>
            <a:off x="777240" y="245059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51460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14" name="Rounded Rectangle 13"/>
          <p:cNvSpPr/>
          <p:nvPr/>
        </p:nvSpPr>
        <p:spPr>
          <a:xfrm>
            <a:off x="3175594"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9602"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Access Review Evidence Log.pdf (pdf)</a:t>
            </a:r>
            <a:endParaRPr sz="1000" b="0" i="0">
              <a:latin typeface="Arial"/>
            </a:endParaRPr>
          </a:p>
        </p:txBody>
      </p:sp>
      <p:sp>
        <p:nvSpPr>
          <p:cNvPr id="16" name="Rounded Rectangle 15"/>
          <p:cNvSpPr/>
          <p:nvPr/>
        </p:nvSpPr>
        <p:spPr>
          <a:xfrm>
            <a:off x="5927063"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1071"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a:t>
            </a:r>
            <a:endParaRPr sz="1000" b="0" i="0">
              <a:latin typeface="Arial"/>
            </a:endParaRPr>
          </a:p>
        </p:txBody>
      </p:sp>
      <p:sp>
        <p:nvSpPr>
          <p:cNvPr id="18" name="Rounded Rectangle 17"/>
          <p:cNvSpPr/>
          <p:nvPr/>
        </p:nvSpPr>
        <p:spPr>
          <a:xfrm>
            <a:off x="8678531"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2539" y="251460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Missing or incomplete evidence blocks control closure until provenance is verified. | EV-002 requires the attached emai…</a:t>
            </a:r>
            <a:endParaRPr sz="700" b="0" i="0">
              <a:latin typeface="Arial"/>
            </a:endParaRPr>
          </a:p>
        </p:txBody>
      </p:sp>
      <p:sp>
        <p:nvSpPr>
          <p:cNvPr id="20" name="Rounded Rectangle 19"/>
          <p:cNvSpPr/>
          <p:nvPr/>
        </p:nvSpPr>
        <p:spPr>
          <a:xfrm>
            <a:off x="777240" y="291007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297408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22" name="Rounded Rectangle 21"/>
          <p:cNvSpPr/>
          <p:nvPr/>
        </p:nvSpPr>
        <p:spPr>
          <a:xfrm>
            <a:off x="3175594"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9602"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Privileged Account Approval Email.pdf (pdf)</a:t>
            </a:r>
            <a:endParaRPr sz="1000" b="0" i="0">
              <a:latin typeface="Arial"/>
            </a:endParaRPr>
          </a:p>
        </p:txBody>
      </p:sp>
      <p:sp>
        <p:nvSpPr>
          <p:cNvPr id="24" name="Rounded Rectangle 23"/>
          <p:cNvSpPr/>
          <p:nvPr/>
        </p:nvSpPr>
        <p:spPr>
          <a:xfrm>
            <a:off x="5927063"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91071"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Account Approval Email.pdf (pdf)</a:t>
            </a:r>
            <a:endParaRPr sz="1000" b="0" i="0">
              <a:latin typeface="Arial"/>
            </a:endParaRPr>
          </a:p>
        </p:txBody>
      </p:sp>
      <p:sp>
        <p:nvSpPr>
          <p:cNvPr id="26" name="Rounded Rectangle 25"/>
          <p:cNvSpPr/>
          <p:nvPr/>
        </p:nvSpPr>
        <p:spPr>
          <a:xfrm>
            <a:off x="8678531"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42539" y="2974086"/>
            <a:ext cx="2577732" cy="276606"/>
          </a:xfrm>
          <a:prstGeom prst="rect">
            <a:avLst/>
          </a:prstGeom>
          <a:noFill/>
        </p:spPr>
        <p:txBody>
          <a:bodyPr wrap="square" anchor="t" lIns="0" rIns="0" tIns="0" bIns="0">
            <a:noAutofit/>
          </a:bodyPr>
          <a:lstStyle/>
          <a:p>
            <a:pPr algn="l">
              <a:spcAft>
                <a:spcPts val="0"/>
              </a:spcAft>
            </a:pPr>
            <a:r>
              <a:rPr sz="800" b="0" i="0">
                <a:solidFill>
                  <a:srgbClr val="203247"/>
                </a:solidFill>
                <a:latin typeface="Arial"/>
              </a:rPr>
              <a:t>Access is strictly limited to ticketed support and break-fix tasks. | Vendor confirmation of personnel is required each…</a:t>
            </a:r>
            <a:endParaRPr sz="800" b="0" i="0">
              <a:latin typeface="Arial"/>
            </a:endParaRPr>
          </a:p>
        </p:txBody>
      </p:sp>
      <p:sp>
        <p:nvSpPr>
          <p:cNvPr id="28" name="Rounded Rectangle 27"/>
          <p:cNvSpPr/>
          <p:nvPr/>
        </p:nvSpPr>
        <p:spPr>
          <a:xfrm>
            <a:off x="777240" y="336956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343357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0" name="Rounded Rectangle 29"/>
          <p:cNvSpPr/>
          <p:nvPr/>
        </p:nvSpPr>
        <p:spPr>
          <a:xfrm>
            <a:off x="3175594"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9602"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Access Review Evidence Log (EVD-101) is a…</a:t>
            </a:r>
            <a:endParaRPr sz="1000" b="0" i="0">
              <a:latin typeface="Arial"/>
            </a:endParaRPr>
          </a:p>
        </p:txBody>
      </p:sp>
      <p:sp>
        <p:nvSpPr>
          <p:cNvPr id="32" name="Rounded Rectangle 31"/>
          <p:cNvSpPr/>
          <p:nvPr/>
        </p:nvSpPr>
        <p:spPr>
          <a:xfrm>
            <a:off x="5927063"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1071"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34" name="Rounded Rectangle 33"/>
          <p:cNvSpPr/>
          <p:nvPr/>
        </p:nvSpPr>
        <p:spPr>
          <a:xfrm>
            <a:off x="8678531"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42539" y="343357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a controlled register for the…</a:t>
            </a:r>
            <a:endParaRPr sz="700" b="0" i="0">
              <a:latin typeface="Arial"/>
            </a:endParaRPr>
          </a:p>
        </p:txBody>
      </p:sp>
      <p:sp>
        <p:nvSpPr>
          <p:cNvPr id="36" name="Rounded Rectangle 35"/>
          <p:cNvSpPr/>
          <p:nvPr/>
        </p:nvSpPr>
        <p:spPr>
          <a:xfrm>
            <a:off x="777240" y="3829050"/>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3893058"/>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auditability_delta</a:t>
            </a:r>
            <a:endParaRPr sz="1000" b="0" i="0">
              <a:latin typeface="Arial"/>
            </a:endParaRPr>
          </a:p>
        </p:txBody>
      </p:sp>
      <p:sp>
        <p:nvSpPr>
          <p:cNvPr id="38" name="Rounded Rectangle 37"/>
          <p:cNvSpPr/>
          <p:nvPr/>
        </p:nvSpPr>
        <p:spPr>
          <a:xfrm>
            <a:off x="3175594"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9602"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EVD-101 mandates archiving of specific artifacts (e.g., email-export)…</a:t>
            </a:r>
            <a:endParaRPr sz="1000" b="0" i="0">
              <a:latin typeface="Arial"/>
            </a:endParaRPr>
          </a:p>
        </p:txBody>
      </p:sp>
      <p:sp>
        <p:nvSpPr>
          <p:cNvPr id="40" name="Rounded Rectangle 39"/>
          <p:cNvSpPr/>
          <p:nvPr/>
        </p:nvSpPr>
        <p:spPr>
          <a:xfrm>
            <a:off x="5927063"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91071"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42" name="Rounded Rectangle 41"/>
          <p:cNvSpPr/>
          <p:nvPr/>
        </p:nvSpPr>
        <p:spPr>
          <a:xfrm>
            <a:off x="8678531"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42539" y="3893058"/>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a controlled register for the…</a:t>
            </a:r>
            <a:endParaRPr sz="700" b="0" i="0">
              <a:latin typeface="Arial"/>
            </a:endParaRPr>
          </a:p>
        </p:txBody>
      </p:sp>
      <p:sp>
        <p:nvSpPr>
          <p:cNvPr id="44" name="Rounded Rectangle 43"/>
          <p:cNvSpPr/>
          <p:nvPr/>
        </p:nvSpPr>
        <p:spPr>
          <a:xfrm>
            <a:off x="777240" y="4288536"/>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7" y="4352544"/>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46" name="Rounded Rectangle 45"/>
          <p:cNvSpPr/>
          <p:nvPr/>
        </p:nvSpPr>
        <p:spPr>
          <a:xfrm>
            <a:off x="3175594"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9602"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Privileged Account Approval Email explicitly requires quarterly…</a:t>
            </a:r>
            <a:endParaRPr sz="1000" b="0" i="0">
              <a:latin typeface="Arial"/>
            </a:endParaRPr>
          </a:p>
        </p:txBody>
      </p:sp>
      <p:sp>
        <p:nvSpPr>
          <p:cNvPr id="48" name="Rounded Rectangle 47"/>
          <p:cNvSpPr/>
          <p:nvPr/>
        </p:nvSpPr>
        <p:spPr>
          <a:xfrm>
            <a:off x="5927063"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91071"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0" name="Rounded Rectangle 49"/>
          <p:cNvSpPr/>
          <p:nvPr/>
        </p:nvSpPr>
        <p:spPr>
          <a:xfrm>
            <a:off x="8678531"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42539" y="4352544"/>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a controlled register for the…</a:t>
            </a:r>
            <a:endParaRPr sz="700" b="0" i="0">
              <a:latin typeface="Arial"/>
            </a:endParaRPr>
          </a:p>
        </p:txBody>
      </p:sp>
      <p:sp>
        <p:nvSpPr>
          <p:cNvPr id="52" name="Rounded Rectangle 51"/>
          <p:cNvSpPr/>
          <p:nvPr/>
        </p:nvSpPr>
        <p:spPr>
          <a:xfrm>
            <a:off x="777240" y="474802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7" y="481203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auditability_delta</a:t>
            </a:r>
            <a:endParaRPr sz="1000" b="0" i="0">
              <a:latin typeface="Arial"/>
            </a:endParaRPr>
          </a:p>
        </p:txBody>
      </p:sp>
      <p:sp>
        <p:nvSpPr>
          <p:cNvPr id="54" name="Rounded Rectangle 53"/>
          <p:cNvSpPr/>
          <p:nvPr/>
        </p:nvSpPr>
        <p:spPr>
          <a:xfrm>
            <a:off x="3175594"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9602"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EVD-101 focuses on evidence completeness for control closure;…</a:t>
            </a:r>
            <a:endParaRPr sz="1000" b="0" i="0">
              <a:latin typeface="Arial"/>
            </a:endParaRPr>
          </a:p>
        </p:txBody>
      </p:sp>
      <p:sp>
        <p:nvSpPr>
          <p:cNvPr id="56" name="Rounded Rectangle 55"/>
          <p:cNvSpPr/>
          <p:nvPr/>
        </p:nvSpPr>
        <p:spPr>
          <a:xfrm>
            <a:off x="5927063"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91071"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8" name="Rounded Rectangle 57"/>
          <p:cNvSpPr/>
          <p:nvPr/>
        </p:nvSpPr>
        <p:spPr>
          <a:xfrm>
            <a:off x="8678531"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42539" y="481203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a controlled register for the…</a:t>
            </a:r>
            <a:endParaRPr sz="700" b="0" i="0">
              <a:latin typeface="Arial"/>
            </a:endParaRPr>
          </a:p>
        </p:txBody>
      </p:sp>
      <p:sp>
        <p:nvSpPr>
          <p:cNvPr id="60" name="Rounded Rectangle 59"/>
          <p:cNvSpPr/>
          <p:nvPr/>
        </p:nvSpPr>
        <p:spPr>
          <a:xfrm>
            <a:off x="777240" y="520750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7" y="527151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62" name="Rounded Rectangle 61"/>
          <p:cNvSpPr/>
          <p:nvPr/>
        </p:nvSpPr>
        <p:spPr>
          <a:xfrm>
            <a:off x="3175594"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9602"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gaps in EVD-101 block control closure until…</a:t>
            </a:r>
            <a:endParaRPr sz="1000" b="0" i="0">
              <a:latin typeface="Arial"/>
            </a:endParaRPr>
          </a:p>
        </p:txBody>
      </p:sp>
      <p:sp>
        <p:nvSpPr>
          <p:cNvPr id="64" name="Rounded Rectangle 63"/>
          <p:cNvSpPr/>
          <p:nvPr/>
        </p:nvSpPr>
        <p:spPr>
          <a:xfrm>
            <a:off x="5927063"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91071"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66" name="Rounded Rectangle 65"/>
          <p:cNvSpPr/>
          <p:nvPr/>
        </p:nvSpPr>
        <p:spPr>
          <a:xfrm>
            <a:off x="8678531"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42539" y="527151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Missing or incomplete evidence blocks control closure until provenance is verifie…</a:t>
            </a:r>
            <a:endParaRPr sz="700" b="0" i="0">
              <a:latin typeface="Arial"/>
            </a:endParaRPr>
          </a:p>
        </p:txBody>
      </p:sp>
      <p:sp>
        <p:nvSpPr>
          <p:cNvPr id="68" name="Rounded Rectangle 67"/>
          <p:cNvSpPr/>
          <p:nvPr/>
        </p:nvSpPr>
        <p:spPr>
          <a:xfrm>
            <a:off x="777240" y="566699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7" y="573100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vendor_oversight_delta</a:t>
            </a:r>
            <a:endParaRPr sz="1000" b="0" i="0">
              <a:latin typeface="Arial"/>
            </a:endParaRPr>
          </a:p>
        </p:txBody>
      </p:sp>
      <p:sp>
        <p:nvSpPr>
          <p:cNvPr id="70" name="Rounded Rectangle 69"/>
          <p:cNvSpPr/>
          <p:nvPr/>
        </p:nvSpPr>
        <p:spPr>
          <a:xfrm>
            <a:off x="3175594"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9602"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Both documents tie to vendor control processes but…</a:t>
            </a:r>
            <a:endParaRPr sz="1000" b="0" i="0">
              <a:latin typeface="Arial"/>
            </a:endParaRPr>
          </a:p>
        </p:txBody>
      </p:sp>
      <p:sp>
        <p:nvSpPr>
          <p:cNvPr id="72" name="Rounded Rectangle 71"/>
          <p:cNvSpPr/>
          <p:nvPr/>
        </p:nvSpPr>
        <p:spPr>
          <a:xfrm>
            <a:off x="5927063"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91071"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74" name="Rounded Rectangle 73"/>
          <p:cNvSpPr/>
          <p:nvPr/>
        </p:nvSpPr>
        <p:spPr>
          <a:xfrm>
            <a:off x="8678531"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42539" y="573100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a controlled register for the…</a:t>
            </a:r>
            <a:endParaRPr sz="700" b="0" i="0">
              <a:latin typeface="Arial"/>
            </a:endParaRPr>
          </a:p>
        </p:txBody>
      </p:sp>
      <p:sp>
        <p:nvSpPr>
          <p:cNvPr id="76" name="TextBox 75"/>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77" name="TextBox 76"/>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04 / 06</a:t>
            </a:r>
          </a:p>
        </p:txBody>
      </p:sp>
      <p:cxnSp>
        <p:nvCxnSpPr>
          <p:cNvPr id="78" name="Connector 77"/>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NARRATIVE</a:t>
            </a:r>
          </a:p>
        </p:txBody>
      </p:sp>
      <p:sp>
        <p:nvSpPr>
          <p:cNvPr id="3" name="TextBox 2"/>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Recommendation vs watchouts</a:t>
            </a:r>
            <a:endParaRPr sz="2800" b="1" i="0">
              <a:latin typeface="Arial"/>
            </a:endParaRPr>
          </a:p>
        </p:txBody>
      </p:sp>
      <p:sp>
        <p:nvSpPr>
          <p:cNvPr id="4" name="Rounded Rectangle 3"/>
          <p:cNvSpPr/>
          <p:nvPr/>
        </p:nvSpPr>
        <p:spPr>
          <a:xfrm>
            <a:off x="777240" y="2029968"/>
            <a:ext cx="5551932"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29968"/>
            <a:ext cx="73152" cy="3255264"/>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3" y="2267712"/>
            <a:ext cx="5076444"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Recommendation</a:t>
            </a:r>
            <a:endParaRPr sz="1600" b="1" i="0">
              <a:latin typeface="Arial"/>
            </a:endParaRPr>
          </a:p>
        </p:txBody>
      </p:sp>
      <p:sp>
        <p:nvSpPr>
          <p:cNvPr id="7" name="TextBox 6"/>
          <p:cNvSpPr txBox="1"/>
          <p:nvPr/>
        </p:nvSpPr>
        <p:spPr>
          <a:xfrm>
            <a:off x="1014983" y="2706624"/>
            <a:ext cx="5076444" cy="1272819"/>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Open the cited source excerpts to confirm the interpretation before acting.</a:t>
            </a:r>
            <a:endParaRPr sz="1500" b="0" i="0">
              <a:latin typeface="Arial"/>
            </a:endParaRPr>
          </a:p>
        </p:txBody>
      </p:sp>
      <p:sp>
        <p:nvSpPr>
          <p:cNvPr id="8" name="TextBox 7"/>
          <p:cNvSpPr txBox="1"/>
          <p:nvPr/>
        </p:nvSpPr>
        <p:spPr>
          <a:xfrm>
            <a:off x="1014983" y="4034307"/>
            <a:ext cx="5076444" cy="1013180"/>
          </a:xfrm>
          <a:prstGeom prst="rect">
            <a:avLst/>
          </a:prstGeom>
          <a:noFill/>
        </p:spPr>
        <p:txBody>
          <a:bodyPr wrap="square" anchor="t" lIns="0" rIns="0" tIns="0" bIns="0">
            <a:noAutofit/>
          </a:bodyPr>
          <a:lstStyle/>
          <a:p>
            <a:pPr algn="l">
              <a:spcAft>
                <a:spcPts val="300"/>
              </a:spcAft>
            </a:pPr>
            <a:r>
              <a:rPr sz="1000" b="0" i="0">
                <a:solidFill>
                  <a:srgbClr val="203247"/>
                </a:solidFill>
                <a:latin typeface="Arial"/>
              </a:rPr>
              <a:t>• Open the cited source excerpts to confirm the interpretation before act…</a:t>
            </a:r>
            <a:endParaRPr sz="1100" b="0" i="0">
              <a:latin typeface="Arial"/>
            </a:endParaRPr>
          </a:p>
          <a:p>
            <a:pPr algn="l">
              <a:spcAft>
                <a:spcPts val="300"/>
              </a:spcAft>
            </a:pPr>
            <a:r>
              <a:rPr sz="1000" b="0" i="0">
                <a:solidFill>
                  <a:srgbClr val="203247"/>
                </a:solidFill>
                <a:latin typeface="Arial"/>
              </a:rPr>
              <a:t>• Validate critical differences directly in the compared documents before…</a:t>
            </a:r>
            <a:endParaRPr sz="1100" b="0" i="0">
              <a:latin typeface="Arial"/>
            </a:endParaRPr>
          </a:p>
        </p:txBody>
      </p:sp>
      <p:sp>
        <p:nvSpPr>
          <p:cNvPr id="9" name="Rounded Rectangle 8"/>
          <p:cNvSpPr/>
          <p:nvPr/>
        </p:nvSpPr>
        <p:spPr>
          <a:xfrm>
            <a:off x="6621780" y="2029968"/>
            <a:ext cx="4762500"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1780" y="2029968"/>
            <a:ext cx="73152" cy="3255264"/>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9524" y="2267712"/>
            <a:ext cx="4287012"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Watchouts</a:t>
            </a:r>
            <a:endParaRPr sz="1600" b="1" i="0">
              <a:latin typeface="Arial"/>
            </a:endParaRPr>
          </a:p>
        </p:txBody>
      </p:sp>
      <p:sp>
        <p:nvSpPr>
          <p:cNvPr id="12" name="TextBox 11"/>
          <p:cNvSpPr txBox="1"/>
          <p:nvPr/>
        </p:nvSpPr>
        <p:spPr>
          <a:xfrm>
            <a:off x="6859524" y="2706624"/>
            <a:ext cx="4287012" cy="1481328"/>
          </a:xfrm>
          <a:prstGeom prst="rect">
            <a:avLst/>
          </a:prstGeom>
          <a:noFill/>
        </p:spPr>
        <p:txBody>
          <a:bodyPr wrap="square" anchor="t" lIns="0" rIns="0" tIns="0" bIns="0">
            <a:noAutofit/>
          </a:bodyPr>
          <a:lstStyle/>
          <a:p>
            <a:pPr algn="l">
              <a:spcAft>
                <a:spcPts val="0"/>
              </a:spcAft>
            </a:pPr>
            <a:r>
              <a:rPr sz="1500" b="0" i="0">
                <a:solidFill>
                  <a:srgbClr val="203247"/>
                </a:solidFill>
                <a:latin typeface="Arial"/>
              </a:rPr>
              <a:t>No critical watchouts recorded for this slice.</a:t>
            </a:r>
            <a:endParaRPr sz="1500" b="0" i="0">
              <a:latin typeface="Arial"/>
            </a:endParaRPr>
          </a:p>
        </p:txBody>
      </p:sp>
      <p:sp>
        <p:nvSpPr>
          <p:cNvPr id="13" name="TextBox 12"/>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4" name="TextBox 13"/>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05 / 06</a:t>
            </a:r>
          </a:p>
        </p:txBody>
      </p:sp>
      <p:cxnSp>
        <p:nvCxnSpPr>
          <p:cNvPr id="15" name="Connector 14"/>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5852160" cy="777240"/>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Next steps</a:t>
            </a:r>
            <a:endParaRPr sz="2800" b="1" i="0">
              <a:latin typeface="Arial"/>
            </a:endParaRPr>
          </a:p>
        </p:txBody>
      </p:sp>
      <p:sp>
        <p:nvSpPr>
          <p:cNvPr id="3" name="TextBox 2"/>
          <p:cNvSpPr txBox="1"/>
          <p:nvPr/>
        </p:nvSpPr>
        <p:spPr>
          <a:xfrm>
            <a:off x="777240" y="2331720"/>
            <a:ext cx="6263640" cy="2880360"/>
          </a:xfrm>
          <a:prstGeom prst="rect">
            <a:avLst/>
          </a:prstGeom>
          <a:noFill/>
        </p:spPr>
        <p:txBody>
          <a:bodyPr wrap="square" anchor="t" lIns="0" rIns="0" tIns="0" bIns="0">
            <a:noAutofit/>
          </a:bodyPr>
          <a:lstStyle/>
          <a:p>
            <a:pPr algn="l">
              <a:spcAft>
                <a:spcPts val="400"/>
              </a:spcAft>
            </a:pPr>
            <a:r>
              <a:rPr sz="1300" b="0" i="0">
                <a:solidFill>
                  <a:srgbClr val="203247"/>
                </a:solidFill>
                <a:latin typeface="Arial"/>
              </a:rPr>
              <a:t>• Open the cited source excerpts to confirm the interpretation before acting.</a:t>
            </a:r>
            <a:endParaRPr sz="1400" b="0" i="0">
              <a:latin typeface="Arial"/>
            </a:endParaRPr>
          </a:p>
          <a:p>
            <a:pPr algn="l">
              <a:spcAft>
                <a:spcPts val="400"/>
              </a:spcAft>
            </a:pPr>
            <a:r>
              <a:rPr sz="1300" b="0" i="0">
                <a:solidFill>
                  <a:srgbClr val="203247"/>
                </a:solidFill>
                <a:latin typeface="Arial"/>
              </a:rPr>
              <a:t>• Validate critical differences directly in the compared documents before consoli…</a:t>
            </a:r>
            <a:endParaRPr sz="1400" b="0" i="0">
              <a:latin typeface="Arial"/>
            </a:endParaRPr>
          </a:p>
        </p:txBody>
      </p:sp>
      <p:sp>
        <p:nvSpPr>
          <p:cNvPr id="4" name="Rounded Rectangle 3"/>
          <p:cNvSpPr/>
          <p:nvPr/>
        </p:nvSpPr>
        <p:spPr>
          <a:xfrm>
            <a:off x="7360919" y="960120"/>
            <a:ext cx="4023360" cy="452628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60919" y="960120"/>
            <a:ext cx="40233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1" y="1216152"/>
            <a:ext cx="3511296" cy="2130967"/>
          </a:xfrm>
          <a:prstGeom prst="rect">
            <a:avLst/>
          </a:prstGeom>
          <a:noFill/>
        </p:spPr>
        <p:txBody>
          <a:bodyPr wrap="square" anchor="t" lIns="0" rIns="0" tIns="0" bIns="0">
            <a:noAutofit/>
          </a:bodyPr>
          <a:lstStyle/>
          <a:p>
            <a:pPr algn="l">
              <a:spcAft>
                <a:spcPts val="0"/>
              </a:spcAft>
            </a:pPr>
            <a:r>
              <a:rPr sz="1300" b="0" i="0">
                <a:solidFill>
                  <a:srgbClr val="203247"/>
                </a:solidFill>
                <a:latin typeface="Arial"/>
              </a:rPr>
              <a:t>Open the cited source excerpts to confirm the interpretation before acting.</a:t>
            </a:r>
            <a:endParaRPr sz="1400" b="0" i="0">
              <a:latin typeface="Arial"/>
            </a:endParaRPr>
          </a:p>
        </p:txBody>
      </p:sp>
      <p:sp>
        <p:nvSpPr>
          <p:cNvPr id="7" name="TextBox 6"/>
          <p:cNvSpPr txBox="1"/>
          <p:nvPr/>
        </p:nvSpPr>
        <p:spPr>
          <a:xfrm>
            <a:off x="7616951" y="3438559"/>
            <a:ext cx="3511296" cy="1791808"/>
          </a:xfrm>
          <a:prstGeom prst="rect">
            <a:avLst/>
          </a:prstGeom>
          <a:noFill/>
        </p:spPr>
        <p:txBody>
          <a:bodyPr wrap="square" anchor="t" lIns="0" rIns="0" tIns="0" bIns="0">
            <a:noAutofit/>
          </a:bodyPr>
          <a:lstStyle/>
          <a:p>
            <a:pPr algn="l">
              <a:spcAft>
                <a:spcPts val="400"/>
              </a:spcAft>
            </a:pPr>
            <a:r>
              <a:rPr sz="1300" b="0" i="0">
                <a:solidFill>
                  <a:srgbClr val="14263F"/>
                </a:solidFill>
                <a:latin typeface="Arial"/>
              </a:rPr>
              <a:t>• Validate critical differences directly in the compared documents before consoli…</a:t>
            </a:r>
            <a:endParaRPr sz="14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06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