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Grounded in the current Action Plan run and cited document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Concise executive framing for the grounded action plan and execution posture.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Priority actions grouped from the current grounded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Use the paired action-detail slide for full task wording and source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[EVIDENCE] Source: Privileged Account Approval Email.pdf | Evidence: Please archive this approval with the Q1 access-review evidence pack
[A02] Source: Privileged Account Approval Email.pdf | Evidence: If either named administrator changes, this approval must be revalidated before access is retained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[A03] Source: Privileged Account Approval Email.pdf | Evidence: the vendor confirms the named personnel list before each quarter begins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sequence derived from the current action plan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100" b="0" i="0">
                <a:solidFill>
                  <a:srgbClr val="203247"/>
                </a:solidFill>
                <a:latin typeface="Arial"/>
              </a:rPr>
              <a:t>Execution blockers and concrete mitigation actions from the current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58368"/>
            <a:ext cx="91440" cy="1051560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78992" y="896112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OPERATIONAL ACTION PLAN GROUNDED IN CURRENT ACTION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" y="1143000"/>
            <a:ext cx="61264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14263F"/>
                </a:solidFill>
                <a:latin typeface="Arial"/>
              </a:rPr>
              <a:t>AI Workbench Local — Action Plan</a:t>
            </a:r>
            <a:endParaRPr sz="3200" b="1" i="0"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8992" y="2240280"/>
            <a:ext cx="5394960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17287"/>
                </a:solidFill>
                <a:latin typeface="Arial"/>
              </a:rPr>
              <a:t>Operational action plan grounded in current action backlog</a:t>
            </a:r>
            <a:endParaRPr sz="1300" b="0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92440" y="960120"/>
            <a:ext cx="3291840" cy="42519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58200" y="1325880"/>
            <a:ext cx="2560320" cy="1926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Author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AI Workbench 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3325864"/>
            <a:ext cx="2560320" cy="15204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Date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01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summary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6412229" cy="1810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3 open action(s) remain in the current plan and now require explicit owner follow-through, evidence closure and sequencing into the next operating review.</a:t>
            </a:r>
            <a:endParaRPr sz="1500" b="0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09509" y="1865376"/>
            <a:ext cx="3874770" cy="2999232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09509" y="1865376"/>
            <a:ext cx="387477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47253" y="2103120"/>
            <a:ext cx="339928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47253" y="2432303"/>
            <a:ext cx="3399282" cy="21945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total actions are tracked in the current plan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3 action(s) include owner, due date or status context</a:t>
            </a:r>
            <a:endParaRPr sz="11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• Use the appendix for full task wording and source traceability.</a:t>
            </a:r>
            <a:endParaRPr sz="11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02 / 09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KEY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68122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Executive snapshot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212848"/>
            <a:ext cx="2509160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Total actions</a:t>
            </a:r>
            <a:endParaRPr sz="12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24144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24144" y="2212848"/>
            <a:ext cx="2437743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3600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3</a:t>
            </a:r>
            <a:endParaRPr sz="24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43600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Open</a:t>
            </a:r>
            <a:endParaRPr sz="12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99632" y="2212848"/>
            <a:ext cx="2437743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2212848"/>
            <a:ext cx="2437743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432304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19088" y="3017520"/>
            <a:ext cx="1998831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Overdue</a:t>
            </a:r>
            <a:endParaRPr sz="1200" b="1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875119" y="2212848"/>
            <a:ext cx="2509160" cy="2670048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75119" y="2212848"/>
            <a:ext cx="25091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4575" y="2432304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14263F"/>
                </a:solidFill>
                <a:latin typeface="Arial"/>
              </a:rPr>
              <a:t>0</a:t>
            </a:r>
            <a:endParaRPr sz="2400" b="1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094575" y="3017520"/>
            <a:ext cx="2070248" cy="512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03247"/>
                </a:solidFill>
                <a:latin typeface="Arial"/>
              </a:rPr>
              <a:t>Approval required</a:t>
            </a:r>
            <a:endParaRPr sz="1200" b="1" i="0"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03 / 09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658368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Priority workstreams</a:t>
            </a:r>
            <a:endParaRPr sz="2800" b="1" i="0"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77240" y="2331720"/>
            <a:ext cx="3368071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331720"/>
            <a:ext cx="3368071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2551176"/>
            <a:ext cx="292915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1</a:t>
            </a:r>
            <a:endParaRPr sz="1500" b="1" i="0"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6695" y="2971800"/>
            <a:ext cx="2929159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Archive approval email with Q1 access-review evidence p…</a:t>
            </a:r>
            <a:endParaRPr sz="1400" b="0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6695" y="4608576"/>
            <a:ext cx="29291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617287"/>
                </a:solidFill>
                <a:latin typeface="Arial"/>
              </a:rPr>
              <a:t>Priya Nair • - • Open</a:t>
            </a:r>
            <a:endParaRPr sz="1000" b="0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465351" y="2331720"/>
            <a:ext cx="3223592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65351" y="2331720"/>
            <a:ext cx="3223592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4807" y="2551176"/>
            <a:ext cx="278468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Priority 2</a:t>
            </a:r>
            <a:endParaRPr sz="1500" b="1" i="0"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4807" y="2971800"/>
            <a:ext cx="2784680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Revalidate approval if named administrators change</a:t>
            </a:r>
            <a:endParaRPr sz="1400" b="0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84807" y="4608576"/>
            <a:ext cx="27846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Compliance Operations • - • Open</a:t>
            </a:r>
            <a:endParaRPr sz="10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008984" y="2331720"/>
            <a:ext cx="3375295" cy="26974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8984" y="2331720"/>
            <a:ext cx="3375295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8440" y="2551176"/>
            <a:ext cx="2936383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4263F"/>
                </a:solidFill>
                <a:latin typeface="Arial"/>
              </a:rPr>
              <a:t>Evidence posture</a:t>
            </a:r>
            <a:endParaRPr sz="1500" b="1" i="0"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8440" y="2971800"/>
            <a:ext cx="2936383" cy="156362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Backlog requires evidence closure and sequence confirmation before close-out.</a:t>
            </a:r>
            <a:endParaRPr sz="14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8440" y="4608576"/>
            <a:ext cx="2936383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617287"/>
                </a:solidFill>
                <a:latin typeface="Arial"/>
              </a:rPr>
              <a:t>Grounded review signal</a:t>
            </a:r>
            <a:endParaRPr sz="1000" b="0" i="0"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04 / 09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498079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backlog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1920240"/>
            <a:ext cx="282378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984248"/>
            <a:ext cx="269577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Ref</a:t>
            </a:r>
            <a:endParaRPr sz="11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646746" y="1920240"/>
            <a:ext cx="2638600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0754" y="1984248"/>
            <a:ext cx="2510584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Owner</a:t>
            </a:r>
            <a:endParaRPr sz="1100" b="1" i="0"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31066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95074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Due</a:t>
            </a:r>
            <a:endParaRPr sz="1100" b="1" i="0"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880533" y="1920240"/>
            <a:ext cx="2503746" cy="457200"/>
          </a:xfrm>
          <a:prstGeom prst="roundRect">
            <a:avLst/>
          </a:prstGeom>
          <a:solidFill>
            <a:srgbClr val="EEF1F4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4541" y="1984248"/>
            <a:ext cx="237573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4263F"/>
                </a:solidFill>
                <a:latin typeface="Arial"/>
              </a:rPr>
              <a:t>Status</a:t>
            </a:r>
            <a:endParaRPr sz="11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2514600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EVIDENCE</a:t>
            </a:r>
            <a:endParaRPr sz="1000" b="0" i="0"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646746" y="2450592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54" y="2514600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Priya Nair</a:t>
            </a:r>
            <a:endParaRPr sz="10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331066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5074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880533" y="2450592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44541" y="2514600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77240" y="3114080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178088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A02</a:t>
            </a:r>
            <a:endParaRPr sz="1000" b="0" i="0"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646746" y="3114080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10754" y="3178088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Compliance Operations</a:t>
            </a:r>
            <a:endParaRPr sz="1000" b="0" i="0">
              <a:latin typeface="Arial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331066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5074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880533" y="3114080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44541" y="3178088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77240" y="3777569"/>
            <a:ext cx="282378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3841577"/>
            <a:ext cx="269577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A03</a:t>
            </a:r>
            <a:endParaRPr sz="1000" b="0" i="0"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3646746" y="3777569"/>
            <a:ext cx="2638600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10754" y="3841577"/>
            <a:ext cx="2510584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Vendor</a:t>
            </a:r>
            <a:endParaRPr sz="10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331066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5074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-</a:t>
            </a:r>
            <a:endParaRPr sz="1000" b="0" i="0">
              <a:latin typeface="Arial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880533" y="3777569"/>
            <a:ext cx="2503746" cy="60862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44541" y="3841577"/>
            <a:ext cx="2375730" cy="480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203247"/>
                </a:solidFill>
                <a:latin typeface="Arial"/>
              </a:rPr>
              <a:t>Open</a:t>
            </a:r>
            <a:endParaRPr sz="1000" b="0" i="0">
              <a:latin typeface="Arial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05 / 09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1392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98952"/>
            <a:ext cx="6263640" cy="17960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17003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3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007960"/>
            <a:ext cx="3511296" cy="222240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Priya Nair • Due: - • Status: Open • Source: Privileged Account Approval Email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A02 — Revalidate approval if named administrators change</a:t>
            </a:r>
            <a:endParaRPr sz="1300" b="0" i="0">
              <a:latin typeface="Arial"/>
            </a:endParaRP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100" b="0" i="0">
                <a:solidFill>
                  <a:srgbClr val="14263F"/>
                </a:solidFill>
                <a:latin typeface="Arial"/>
              </a:rPr>
              <a:t>• Owner: Compliance Operations • Due: - • Status: Open • Source: Privileged Account Approval Email</a:t>
            </a:r>
            <a:endParaRPr sz="13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06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585216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Action details appendix (2)</a:t>
            </a:r>
            <a:endParaRPr sz="2800" b="1" i="0"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6263640" cy="10607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500" b="0" i="0"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7240" y="3557015"/>
            <a:ext cx="6263640" cy="165506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A03 — Confirm vendor personnel list before each quarter begins</a:t>
            </a:r>
            <a:endParaRPr sz="1400" b="0" i="0">
              <a:latin typeface="Arial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• Owner: Vendor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60919" y="960120"/>
            <a:ext cx="4023360" cy="452628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19" y="960120"/>
            <a:ext cx="4023360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16951" y="1216152"/>
            <a:ext cx="3511296" cy="21309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Full task wording, accountable owner, due date and source traceability.</a:t>
            </a:r>
            <a:endParaRPr sz="14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16951" y="3438559"/>
            <a:ext cx="3511296" cy="1791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4263F"/>
                </a:solidFill>
                <a:latin typeface="Arial"/>
              </a:rPr>
              <a:t>• Owner: Vendor • Due: - • Status: Open • Source: Privileged Account Approval Email</a:t>
            </a:r>
            <a:endParaRPr sz="1400" b="0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07 / 09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32688"/>
            <a:ext cx="731520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Execution timeline</a:t>
            </a:r>
            <a:endParaRPr sz="2800" b="1" i="0">
              <a:latin typeface="Arial"/>
            </a:endParaRPr>
          </a:p>
        </p:txBody>
      </p:sp>
      <p:cxnSp>
        <p:nvCxnSpPr>
          <p:cNvPr id="3" name="Connector 2"/>
          <p:cNvCxnSpPr/>
          <p:nvPr/>
        </p:nvCxnSpPr>
        <p:spPr>
          <a:xfrm>
            <a:off x="2487879" y="2084831"/>
            <a:ext cx="7185761" cy="0"/>
          </a:xfrm>
          <a:prstGeom prst="line">
            <a:avLst/>
          </a:prstGeom>
          <a:ln w="1778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378151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34212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P1</a:t>
            </a:r>
            <a:endParaRPr sz="1000" b="1" i="0"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2331720"/>
            <a:ext cx="3421279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42127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532888"/>
            <a:ext cx="301894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1</a:t>
            </a:r>
            <a:endParaRPr sz="1400" b="1" i="0"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78408" y="2916936"/>
            <a:ext cx="3018943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EVIDENCE · Archive approval email with Q1 access-review evidence p…</a:t>
            </a:r>
            <a:endParaRPr sz="1100" b="0" i="0">
              <a:latin typeface="Arial"/>
            </a:endParaRPr>
          </a:p>
        </p:txBody>
      </p:sp>
      <p:sp>
        <p:nvSpPr>
          <p:cNvPr id="10" name="Oval 9"/>
          <p:cNvSpPr/>
          <p:nvPr/>
        </p:nvSpPr>
        <p:spPr>
          <a:xfrm>
            <a:off x="5971031" y="1975103"/>
            <a:ext cx="219456" cy="219456"/>
          </a:xfrm>
          <a:prstGeom prst="ellipse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7975" y="1783080"/>
            <a:ext cx="332556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P2</a:t>
            </a:r>
            <a:endParaRPr sz="1000" b="1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17975" y="2331720"/>
            <a:ext cx="3325568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7975" y="2331720"/>
            <a:ext cx="3325568" cy="73152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9143" y="2532888"/>
            <a:ext cx="29232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2</a:t>
            </a:r>
            <a:endParaRPr sz="1400" b="1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19143" y="2916936"/>
            <a:ext cx="2923232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A02 ·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9563912" y="1975103"/>
            <a:ext cx="219456" cy="219456"/>
          </a:xfrm>
          <a:prstGeom prst="ellipse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3000" y="1783080"/>
            <a:ext cx="34212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617287"/>
                </a:solidFill>
                <a:latin typeface="Arial"/>
              </a:rPr>
              <a:t>P3</a:t>
            </a:r>
            <a:endParaRPr sz="1000" b="1" i="0">
              <a:latin typeface="Arial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963000" y="2331720"/>
            <a:ext cx="3421279" cy="2651760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63000" y="2331720"/>
            <a:ext cx="3421279" cy="73152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4168" y="2532888"/>
            <a:ext cx="3018943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4263F"/>
                </a:solidFill>
                <a:latin typeface="Arial"/>
              </a:rPr>
              <a:t>Step 3</a:t>
            </a:r>
            <a:endParaRPr sz="1400" b="1" i="0"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164168" y="2916936"/>
            <a:ext cx="3018943" cy="18653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A03 · Confirm vendor personnel list before each quarter begins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08 / 09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85800"/>
            <a:ext cx="4389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B08B5B"/>
                </a:solidFill>
                <a:latin typeface="Arial"/>
              </a:rPr>
              <a:t>EXECUTIVE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7178040" cy="9509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4263F"/>
                </a:solidFill>
                <a:latin typeface="Arial"/>
              </a:rPr>
              <a:t>Blockers vs mitigations</a:t>
            </a:r>
            <a:endParaRPr sz="2800" b="1" i="0">
              <a:latin typeface="Arial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029968"/>
            <a:ext cx="4985178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029968"/>
            <a:ext cx="73152" cy="3255264"/>
          </a:xfrm>
          <a:prstGeom prst="rect">
            <a:avLst/>
          </a:prstGeom>
          <a:solidFill>
            <a:srgbClr val="142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3" y="2267712"/>
            <a:ext cx="450969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Blockers</a:t>
            </a:r>
            <a:endParaRPr sz="1600" b="1" i="0"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983" y="2706624"/>
            <a:ext cx="4509690" cy="12443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203247"/>
                </a:solidFill>
                <a:latin typeface="Arial"/>
              </a:rPr>
              <a:t>No major blocker flagged in the current run.</a:t>
            </a:r>
            <a:endParaRPr sz="1500" b="0" i="0"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14983" y="4005872"/>
            <a:ext cx="4509690" cy="10416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055026" y="2029968"/>
            <a:ext cx="5329253" cy="3255264"/>
          </a:xfrm>
          <a:prstGeom prst="roundRect">
            <a:avLst/>
          </a:prstGeom>
          <a:solidFill>
            <a:srgbClr val="FFFDFC"/>
          </a:solidFill>
          <a:ln w="1270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55026" y="2029968"/>
            <a:ext cx="73152" cy="3255264"/>
          </a:xfrm>
          <a:prstGeom prst="rect">
            <a:avLst/>
          </a:prstGeom>
          <a:solidFill>
            <a:srgbClr val="B08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2770" y="2267712"/>
            <a:ext cx="4853765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4263F"/>
                </a:solidFill>
                <a:latin typeface="Arial"/>
              </a:rPr>
              <a:t>Mitigations</a:t>
            </a:r>
            <a:endParaRPr sz="1600" b="1" i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292770" y="2706624"/>
            <a:ext cx="4853765" cy="131417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03247"/>
                </a:solidFill>
                <a:latin typeface="Arial"/>
              </a:rPr>
              <a:t>Execute the named actions in order, close cited evidence gaps and confirm approval dependencies before closure.</a:t>
            </a:r>
            <a:endParaRPr sz="1500" b="0" i="0"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92770" y="4075661"/>
            <a:ext cx="4853765" cy="97182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EVIDENCE — Archive approval email with Q1 access-review evidence p…</a:t>
            </a:r>
            <a:endParaRPr sz="1100" b="0" i="0">
              <a:latin typeface="Arial"/>
            </a:endParaRPr>
          </a:p>
          <a:p>
            <a:pPr algn="l">
              <a:spcAft>
                <a:spcPts val="300"/>
              </a:spcAft>
            </a:pPr>
            <a:r>
              <a:rPr sz="1100" b="0" i="0">
                <a:solidFill>
                  <a:srgbClr val="203247"/>
                </a:solidFill>
                <a:latin typeface="Arial"/>
              </a:rPr>
              <a:t>• A02 — Revalidate approval if named administrators change</a:t>
            </a:r>
            <a:endParaRPr sz="1100" b="0" i="0">
              <a:latin typeface="Arial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327648"/>
            <a:ext cx="5486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17287"/>
                </a:solidFill>
                <a:latin typeface="Arial"/>
              </a:rPr>
              <a:t>AI Workbench Local • Action Plan  •  2026-04-18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66960" y="6327648"/>
            <a:ext cx="12344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17287"/>
                </a:solidFill>
                <a:latin typeface="Arial"/>
              </a:rPr>
              <a:t>09 / 09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07040" cy="0"/>
          </a:xfrm>
          <a:prstGeom prst="line">
            <a:avLst/>
          </a:prstGeom>
          <a:ln w="10160">
            <a:solidFill>
              <a:srgbClr val="D8D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