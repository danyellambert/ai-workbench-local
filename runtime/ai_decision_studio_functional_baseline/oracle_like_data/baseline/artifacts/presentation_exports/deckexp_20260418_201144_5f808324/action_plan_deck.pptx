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Grounded in the current Action Plan run and cited document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Concise executive framing for the grounded action plan and execution posture.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Priority actions grouped from the current grounded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Use the paired action-detail slide for full task wording and source references.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[EVIDENCE] Source: Privileged Account Approval Email.pdf | Evidence: Please archive this approval with the Q1 access-review evidence pack
[EVIDENCE] Source: Privileged Account Approval Email.pdf | Evidence: EV-002 is satisfied by the attached email-export artifact once archived in the approved repository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[A03] Source: Privileged Account Approval Email.pdf | Evidence: If either named administrator changes, this approval must be revalidated before access is retained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Execution sequence derived from the current action plan items.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Execution blockers and concrete mitigation actions from the current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OPERATIONAL ACTION PLAN GROUNDED IN CURRENT ACTION BACKLOG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1264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63F"/>
                </a:solidFill>
                <a:latin typeface="Arial"/>
              </a:rPr>
              <a:t>AI Workbench Local — Action Plan</a:t>
            </a:r>
            <a:endParaRPr sz="32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" y="2240280"/>
            <a:ext cx="539496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17287"/>
                </a:solidFill>
                <a:latin typeface="Arial"/>
              </a:rPr>
              <a:t>Operational action plan grounded in current action backlog</a:t>
            </a:r>
            <a:endParaRPr sz="1300" b="0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01 / 09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summary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6412229" cy="18105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3 open action(s) remain in the current plan and now require explicit owner follow-through, evidence closure and sequencing into the next operating review.</a:t>
            </a:r>
            <a:endParaRPr sz="15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509509" y="1865376"/>
            <a:ext cx="3874770" cy="299923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09509" y="1865376"/>
            <a:ext cx="387477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47253" y="2103120"/>
            <a:ext cx="339928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47253" y="2432303"/>
            <a:ext cx="3399282" cy="21945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3 total actions are tracked in the current plan</a:t>
            </a:r>
            <a:endParaRPr sz="11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There are open actions without a defined owner.</a:t>
            </a:r>
            <a:endParaRPr sz="11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3 action(s) include owner, due date or status context</a:t>
            </a:r>
            <a:endParaRPr sz="11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02 / 09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8122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snapshot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212848"/>
            <a:ext cx="2509160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3</a:t>
            </a:r>
            <a:endParaRPr sz="24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Total actions</a:t>
            </a:r>
            <a:endParaRPr sz="12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524144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24144" y="2212848"/>
            <a:ext cx="24377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3600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3</a:t>
            </a:r>
            <a:endParaRPr sz="24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43600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Open</a:t>
            </a:r>
            <a:endParaRPr sz="12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99632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2212848"/>
            <a:ext cx="2437743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0</a:t>
            </a:r>
            <a:endParaRPr sz="2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19088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Overdue</a:t>
            </a:r>
            <a:endParaRPr sz="1200" b="1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875119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75119" y="2212848"/>
            <a:ext cx="25091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457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0</a:t>
            </a:r>
            <a:endParaRPr sz="2400" b="1" i="0"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09457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Approval required</a:t>
            </a:r>
            <a:endParaRPr sz="1200" b="1" i="0"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03 / 09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65836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Priority workstreams</a:t>
            </a:r>
            <a:endParaRPr sz="2800" b="1" i="0">
              <a:latin typeface="Arial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77240" y="2331720"/>
            <a:ext cx="3363850" cy="26974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331720"/>
            <a:ext cx="3363850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5" y="2551176"/>
            <a:ext cx="2924938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63F"/>
                </a:solidFill>
                <a:latin typeface="Arial"/>
              </a:rPr>
              <a:t>Priority 1</a:t>
            </a:r>
            <a:endParaRPr sz="1500" b="1" i="0"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96695" y="2971800"/>
            <a:ext cx="2924938" cy="1563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Archive approval with Q1 access-review evidence pack</a:t>
            </a:r>
            <a:endParaRPr sz="1400" b="0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4608576"/>
            <a:ext cx="2924938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17287"/>
                </a:solidFill>
                <a:latin typeface="Arial"/>
              </a:rPr>
              <a:t>Priya Nair • - • Open</a:t>
            </a:r>
            <a:endParaRPr sz="1000" b="0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461130" y="2331720"/>
            <a:ext cx="3225415" cy="26974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61130" y="2331720"/>
            <a:ext cx="3225415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80586" y="2551176"/>
            <a:ext cx="2786503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63F"/>
                </a:solidFill>
                <a:latin typeface="Arial"/>
              </a:rPr>
              <a:t>Priority 2</a:t>
            </a:r>
            <a:endParaRPr sz="15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80586" y="2971800"/>
            <a:ext cx="2786503" cy="1563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Archive email-export artifact as evidence EV-002</a:t>
            </a:r>
            <a:endParaRPr sz="1400" b="0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680586" y="4608576"/>
            <a:ext cx="2786503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17287"/>
                </a:solidFill>
                <a:latin typeface="Arial"/>
              </a:rPr>
              <a:t>Compliance Operations • - • Open</a:t>
            </a:r>
            <a:endParaRPr sz="1000" b="0" i="0">
              <a:latin typeface="Arial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006585" y="2331720"/>
            <a:ext cx="3377694" cy="26974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06585" y="2331720"/>
            <a:ext cx="3377694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6041" y="2551176"/>
            <a:ext cx="2938782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63F"/>
                </a:solidFill>
                <a:latin typeface="Arial"/>
              </a:rPr>
              <a:t>Evidence posture</a:t>
            </a:r>
            <a:endParaRPr sz="1500" b="1" i="0">
              <a:latin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26041" y="2971800"/>
            <a:ext cx="2938782" cy="1563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There are open actions without a defined owner.</a:t>
            </a:r>
            <a:endParaRPr sz="1400" b="0" i="0">
              <a:latin typeface="Arial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26041" y="4608576"/>
            <a:ext cx="293878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17287"/>
                </a:solidFill>
                <a:latin typeface="Arial"/>
              </a:rPr>
              <a:t>Grounded review signal</a:t>
            </a:r>
            <a:endParaRPr sz="1000" b="0" i="0">
              <a:latin typeface="Ari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04 / 09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Action backlog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2823786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269577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Ref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46746" y="1920240"/>
            <a:ext cx="2638600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10754" y="1984248"/>
            <a:ext cx="2510584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Owner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331066" y="1920240"/>
            <a:ext cx="2503746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95074" y="1984248"/>
            <a:ext cx="237573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Due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880533" y="1920240"/>
            <a:ext cx="2503746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44541" y="1984248"/>
            <a:ext cx="237573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Status</a:t>
            </a:r>
            <a:endParaRPr sz="11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2823786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2695770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EVIDENCE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646746" y="2450592"/>
            <a:ext cx="263860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10754" y="2514600"/>
            <a:ext cx="251058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Priya Nair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331066" y="2450592"/>
            <a:ext cx="2503746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95074" y="2514600"/>
            <a:ext cx="2375730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880533" y="2450592"/>
            <a:ext cx="2503746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44541" y="2514600"/>
            <a:ext cx="2375730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Open</a:t>
            </a:r>
            <a:endParaRPr sz="10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7240" y="3114080"/>
            <a:ext cx="2823786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178088"/>
            <a:ext cx="2695770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EVIDENCE</a:t>
            </a:r>
            <a:endParaRPr sz="10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646746" y="3114080"/>
            <a:ext cx="263860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10754" y="3178088"/>
            <a:ext cx="251058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Compliance Operations</a:t>
            </a:r>
            <a:endParaRPr sz="10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331066" y="3114080"/>
            <a:ext cx="2503746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95074" y="3178088"/>
            <a:ext cx="2375730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880533" y="3114080"/>
            <a:ext cx="2503746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44541" y="3178088"/>
            <a:ext cx="2375730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Open</a:t>
            </a:r>
            <a:endParaRPr sz="1000" b="0" i="0">
              <a:latin typeface="Arial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77240" y="3777569"/>
            <a:ext cx="2823786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7" y="3841577"/>
            <a:ext cx="2695770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A03</a:t>
            </a:r>
            <a:endParaRPr sz="1000" b="0" i="0">
              <a:latin typeface="Arial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3646746" y="3777569"/>
            <a:ext cx="263860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10754" y="3841577"/>
            <a:ext cx="251058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331066" y="3777569"/>
            <a:ext cx="2503746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95074" y="3841577"/>
            <a:ext cx="2375730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8880533" y="3777569"/>
            <a:ext cx="2503746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44541" y="3841577"/>
            <a:ext cx="2375730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Open</a:t>
            </a:r>
            <a:endParaRPr sz="1000" b="0" i="0">
              <a:latin typeface="Arial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05 / 09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Action details appendix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11392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Full task wording, accountable owner, due date and source traceability.</a:t>
            </a:r>
            <a:endParaRPr sz="1400" b="0" i="0"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3598952"/>
            <a:ext cx="6263640" cy="17960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EVIDENCE — Archive approval with Q1 access-review evidence pack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Owner: Priya Nair • Due: - • Status: Open • Source: Privileged Account Approval Email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EVIDENCE — Archive email-export artifact as evidence EV-002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Owner: Compliance Operations • Due: - • Status: Open • Source: Privileged Account Approval Email</a:t>
            </a:r>
            <a:endParaRPr sz="1300" b="0" i="0">
              <a:latin typeface="Arial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60919" y="960120"/>
            <a:ext cx="40233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16951" y="1216152"/>
            <a:ext cx="3511296" cy="1700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03247"/>
                </a:solidFill>
                <a:latin typeface="Arial"/>
              </a:rPr>
              <a:t>Full task wording, accountable owner, due date and source traceability.</a:t>
            </a:r>
            <a:endParaRPr sz="13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616951" y="3007960"/>
            <a:ext cx="3511296" cy="22224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Owner: Priya Nair • Due: - • Status: Open • Source: Privileged Account Approval Email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EVIDENCE — Archive email-export artifact as evidence EV-002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Owner: Compliance Operations • Due: - • Status: Open • Source: Privileged Account Approval Email</a:t>
            </a:r>
            <a:endParaRPr sz="1300" b="0" i="0"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06 / 09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Action details appendix (2)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10607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Full task wording, accountable owner, due date and source traceability.</a:t>
            </a:r>
            <a:endParaRPr sz="1500" b="0" i="0"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3557015"/>
            <a:ext cx="6263640" cy="1655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• A03 — Revalidate approval if named administrators change</a:t>
            </a:r>
            <a:endParaRPr sz="1400" b="0" i="0"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• Owner: - • Due: - • Status: Open • Source: Privileged Account Approval Email</a:t>
            </a:r>
            <a:endParaRPr sz="1400" b="0" i="0">
              <a:latin typeface="Arial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60919" y="960120"/>
            <a:ext cx="40233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16951" y="1216152"/>
            <a:ext cx="3511296" cy="213096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Full task wording, accountable owner, due date and source traceability.</a:t>
            </a:r>
            <a:endParaRPr sz="14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616951" y="3438559"/>
            <a:ext cx="3511296" cy="1791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4263F"/>
                </a:solidFill>
                <a:latin typeface="Arial"/>
              </a:rPr>
              <a:t>• Owner: - • Due: - • Status: Open • Source: Privileged Account Approval Email</a:t>
            </a:r>
            <a:endParaRPr sz="1400" b="0" i="0"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07 / 09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31520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Execution timeline</a:t>
            </a:r>
            <a:endParaRPr sz="2800" b="1" i="0">
              <a:latin typeface="Arial"/>
            </a:endParaRPr>
          </a:p>
        </p:txBody>
      </p:sp>
      <p:cxnSp>
        <p:nvCxnSpPr>
          <p:cNvPr id="3" name="Connector 2"/>
          <p:cNvCxnSpPr/>
          <p:nvPr/>
        </p:nvCxnSpPr>
        <p:spPr>
          <a:xfrm>
            <a:off x="2488342" y="2084831"/>
            <a:ext cx="7209457" cy="0"/>
          </a:xfrm>
          <a:prstGeom prst="line">
            <a:avLst/>
          </a:prstGeom>
          <a:ln w="1778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2378614" y="1975103"/>
            <a:ext cx="219456" cy="219456"/>
          </a:xfrm>
          <a:prstGeom prst="ellipse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3422205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P1</a:t>
            </a:r>
            <a:endParaRPr sz="10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77240" y="2331720"/>
            <a:ext cx="3422205" cy="26517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3422205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2532888"/>
            <a:ext cx="3019869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263F"/>
                </a:solidFill>
                <a:latin typeface="Arial"/>
              </a:rPr>
              <a:t>Step 1</a:t>
            </a:r>
            <a:endParaRPr sz="1400" b="1" i="0"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78408" y="2916936"/>
            <a:ext cx="3019869" cy="18653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EVIDENCE · Archive approval with Q1 access-review evidence pack</a:t>
            </a:r>
            <a:endParaRPr sz="1100" b="0" i="0">
              <a:latin typeface="Arial"/>
            </a:endParaRPr>
          </a:p>
        </p:txBody>
      </p:sp>
      <p:sp>
        <p:nvSpPr>
          <p:cNvPr id="10" name="Oval 9"/>
          <p:cNvSpPr/>
          <p:nvPr/>
        </p:nvSpPr>
        <p:spPr>
          <a:xfrm>
            <a:off x="5995653" y="1975103"/>
            <a:ext cx="219456" cy="219456"/>
          </a:xfrm>
          <a:prstGeom prst="ellipse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18901" y="1783080"/>
            <a:ext cx="3372961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P2</a:t>
            </a:r>
            <a:endParaRPr sz="10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418901" y="2331720"/>
            <a:ext cx="3372961" cy="26517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8901" y="2331720"/>
            <a:ext cx="3372961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20069" y="2532888"/>
            <a:ext cx="2970625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263F"/>
                </a:solidFill>
                <a:latin typeface="Arial"/>
              </a:rPr>
              <a:t>Step 2</a:t>
            </a:r>
            <a:endParaRPr sz="1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620069" y="2916936"/>
            <a:ext cx="2970625" cy="18653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EVIDENCE · Archive email-export artifact as evidence EV-002</a:t>
            </a:r>
            <a:endParaRPr sz="1100" b="0" i="0">
              <a:latin typeface="Arial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9588071" y="1975103"/>
            <a:ext cx="219456" cy="219456"/>
          </a:xfrm>
          <a:prstGeom prst="ellipse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11318" y="1783080"/>
            <a:ext cx="3372961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P3</a:t>
            </a:r>
            <a:endParaRPr sz="1000" b="1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011318" y="2331720"/>
            <a:ext cx="3372961" cy="26517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11318" y="2331720"/>
            <a:ext cx="3372961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12486" y="2532888"/>
            <a:ext cx="2970625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263F"/>
                </a:solidFill>
                <a:latin typeface="Arial"/>
              </a:rPr>
              <a:t>Step 3</a:t>
            </a:r>
            <a:endParaRPr sz="1400" b="1" i="0">
              <a:latin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212486" y="2916936"/>
            <a:ext cx="2970625" cy="18653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A03 · Revalidate approval if named administrators change</a:t>
            </a:r>
            <a:endParaRPr sz="1100" b="0" i="0">
              <a:latin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08 / 09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Blockers vs mitigations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029968"/>
            <a:ext cx="4985178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29968"/>
            <a:ext cx="73152" cy="3255264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3" y="2267712"/>
            <a:ext cx="450969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Blockers</a:t>
            </a:r>
            <a:endParaRPr sz="16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14983" y="2706624"/>
            <a:ext cx="4509690" cy="12443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3247"/>
                </a:solidFill>
                <a:latin typeface="Arial"/>
              </a:rPr>
              <a:t>There are open actions without a defined owner.</a:t>
            </a:r>
            <a:endParaRPr sz="15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14983" y="4005872"/>
            <a:ext cx="4509690" cy="104161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EVIDENCE — Archive approval with Q1 access-review evidence pack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EVIDENCE — Archive email-export artifact as evidence EV-002</a:t>
            </a:r>
            <a:endParaRPr sz="1100" b="0" i="0"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055026" y="2029968"/>
            <a:ext cx="5329253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55026" y="2029968"/>
            <a:ext cx="73152" cy="3255264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92770" y="2267712"/>
            <a:ext cx="4853765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Mitigations</a:t>
            </a:r>
            <a:endParaRPr sz="1600" b="1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292770" y="2706624"/>
            <a:ext cx="4853765" cy="131417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Execute the named actions in order, close cited evidence gaps and confirm approval dependencies before closure.</a:t>
            </a:r>
            <a:endParaRPr sz="1500" b="0" i="0"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292770" y="4075661"/>
            <a:ext cx="4853765" cy="97182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EVIDENCE — Archive approval with Q1 access-review evidence pack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EVIDENCE — Archive email-export artifact as evidence EV-002</a:t>
            </a:r>
            <a:endParaRPr sz="1100" b="0" i="0"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09 / 09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