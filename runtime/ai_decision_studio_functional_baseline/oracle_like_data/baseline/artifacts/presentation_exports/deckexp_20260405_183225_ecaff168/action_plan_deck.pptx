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Export kind: action_plan_deck. Deck family: action_plan. Sources: evidenceops_action_store.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Resumo executivo consolidado a partir dos sinais grounded do produto.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658368"/>
            <a:ext cx="91440" cy="1051560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" y="896112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OPERATIONAL ACTION PLAN GROUNDED IN CURRENT ACTION BACKLOG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1143000"/>
            <a:ext cx="6629400" cy="868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3400" b="1" i="0">
                <a:solidFill>
                  <a:srgbClr val="14263F"/>
                </a:solidFill>
                <a:latin typeface="Arial"/>
              </a:rPr>
              <a:t>AI Workbench Local — Action Plan</a:t>
            </a:r>
            <a:endParaRPr sz="3400" b="1" i="0">
              <a:latin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78992" y="1856232"/>
            <a:ext cx="621792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617287"/>
                </a:solidFill>
                <a:latin typeface="Arial"/>
              </a:rPr>
              <a:t>Operational action plan grounded in current action backlog</a:t>
            </a:r>
            <a:endParaRPr sz="1300" b="0" i="0"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092440" y="960120"/>
            <a:ext cx="3291840" cy="425196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58200" y="1325880"/>
            <a:ext cx="2560320" cy="19268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 i="0">
                <a:solidFill>
                  <a:srgbClr val="617287"/>
                </a:solidFill>
                <a:latin typeface="Arial"/>
              </a:rPr>
              <a:t>Author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AI Workbench Local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58200" y="3325864"/>
            <a:ext cx="2560320" cy="152045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 i="0">
                <a:solidFill>
                  <a:srgbClr val="617287"/>
                </a:solidFill>
                <a:latin typeface="Arial"/>
              </a:rPr>
              <a:t>Date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2026-04-05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17287"/>
                </a:solidFill>
                <a:latin typeface="Arial"/>
              </a:rPr>
              <a:t>AI Workbench Local • Action Plan  •  2026-04-05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17287"/>
                </a:solidFill>
                <a:latin typeface="Arial"/>
              </a:rPr>
              <a:t>01 / 06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7178040" cy="868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Executive summary</a:t>
            </a:r>
            <a:endParaRPr sz="2800" b="1" i="0"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77240" y="2048256"/>
            <a:ext cx="6415258" cy="18105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O action backlog atual contém 3 ação(ões), com 3 aberta(s), 0 sensível(is) e 0 em atraso.</a:t>
            </a:r>
            <a:endParaRPr sz="1500" b="0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512538" y="1865376"/>
            <a:ext cx="3871741" cy="299923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512538" y="1865376"/>
            <a:ext cx="3871741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50282" y="2103120"/>
            <a:ext cx="3396253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750282" y="2432303"/>
            <a:ext cx="3396253" cy="219455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30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• Encaminhe o resultado para revisão humana antes de tomar uma decisão final.</a:t>
            </a:r>
            <a:endParaRPr sz="1000" b="0" i="0">
              <a:latin typeface="Arial"/>
            </a:endParaRPr>
          </a:p>
          <a:p>
            <a:pPr algn="l">
              <a:spcAft>
                <a:spcPts val="30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• Abra os trechos-fonte citados para confirmar a interpretação antes de agir.</a:t>
            </a:r>
            <a:endParaRPr sz="1000" b="0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17287"/>
                </a:solidFill>
                <a:latin typeface="Arial"/>
              </a:rPr>
              <a:t>AI Workbench Local • Action Plan  •  2026-04-05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17287"/>
                </a:solidFill>
                <a:latin typeface="Arial"/>
              </a:rPr>
              <a:t>02 / 06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KEY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6812280" cy="868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Executive snapshot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2212848"/>
            <a:ext cx="2509160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212848"/>
            <a:ext cx="2509160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96695" y="2432304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3</a:t>
            </a:r>
            <a:endParaRPr sz="2400" b="1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96695" y="3017520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Total actions</a:t>
            </a:r>
            <a:endParaRPr sz="1200" b="1" i="0"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3524144" y="2212848"/>
            <a:ext cx="2437743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524144" y="2212848"/>
            <a:ext cx="2437743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43600" y="2432304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3</a:t>
            </a:r>
            <a:endParaRPr sz="2400" b="1" i="0">
              <a:latin typeface="Arial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743600" y="3017520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Open</a:t>
            </a:r>
            <a:endParaRPr sz="1200" b="1" i="0">
              <a:latin typeface="Ari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199632" y="2212848"/>
            <a:ext cx="2437743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99632" y="2212848"/>
            <a:ext cx="2437743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8" y="2432304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0</a:t>
            </a:r>
            <a:endParaRPr sz="2400" b="1" i="0">
              <a:latin typeface="Arial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419088" y="3017520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Overdue</a:t>
            </a:r>
            <a:endParaRPr sz="1200" b="1" i="0">
              <a:latin typeface="Arial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8875119" y="2212848"/>
            <a:ext cx="2509160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875119" y="2212848"/>
            <a:ext cx="2509160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94575" y="2432304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0</a:t>
            </a:r>
            <a:endParaRPr sz="2400" b="1" i="0">
              <a:latin typeface="Arial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094575" y="3017520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Approval required</a:t>
            </a:r>
            <a:endParaRPr sz="1200" b="1" i="0">
              <a:latin typeface="Arial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17287"/>
                </a:solidFill>
                <a:latin typeface="Arial"/>
              </a:rPr>
              <a:t>AI Workbench Local • Action Plan  •  2026-04-05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17287"/>
                </a:solidFill>
                <a:latin typeface="Arial"/>
              </a:rPr>
              <a:t>03 / 06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7498079" cy="868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Action backlog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1920240"/>
            <a:ext cx="2165488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7" y="1984248"/>
            <a:ext cx="2037472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14263F"/>
                </a:solidFill>
                <a:latin typeface="Arial"/>
              </a:rPr>
              <a:t>Type</a:t>
            </a:r>
            <a:endParaRPr sz="1000" b="1" i="0"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2988448" y="1920240"/>
            <a:ext cx="2722326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52456" y="1984248"/>
            <a:ext cx="259431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14263F"/>
                </a:solidFill>
                <a:latin typeface="Arial"/>
              </a:rPr>
              <a:t>Action</a:t>
            </a:r>
            <a:endParaRPr sz="1000" b="1" i="0"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756494" y="1920240"/>
            <a:ext cx="1845448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20502" y="1984248"/>
            <a:ext cx="1717432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14263F"/>
                </a:solidFill>
                <a:latin typeface="Arial"/>
              </a:rPr>
              <a:t>Owner</a:t>
            </a:r>
            <a:endParaRPr sz="1000" b="1" i="0">
              <a:latin typeface="Arial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7647663" y="1920240"/>
            <a:ext cx="1845448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11671" y="1984248"/>
            <a:ext cx="1717432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14263F"/>
                </a:solidFill>
                <a:latin typeface="Arial"/>
              </a:rPr>
              <a:t>Due</a:t>
            </a:r>
            <a:endParaRPr sz="1000" b="1" i="0">
              <a:latin typeface="Ari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9538831" y="1920240"/>
            <a:ext cx="1845448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2839" y="1984248"/>
            <a:ext cx="1717432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14263F"/>
                </a:solidFill>
                <a:latin typeface="Arial"/>
              </a:rPr>
              <a:t>Status</a:t>
            </a:r>
            <a:endParaRPr sz="1000" b="1" i="0">
              <a:latin typeface="Arial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777240" y="2450592"/>
            <a:ext cx="2165488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7" y="2514600"/>
            <a:ext cx="2037472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recommended_action</a:t>
            </a:r>
            <a:endParaRPr sz="900" b="0" i="0">
              <a:latin typeface="Arial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2988448" y="2450592"/>
            <a:ext cx="2722326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52456" y="2514600"/>
            <a:ext cx="2594310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203247"/>
                </a:solidFill>
                <a:latin typeface="Arial"/>
              </a:rPr>
              <a:t>Encaminhe o resultado para revisão humana antes de tomar uma decisão final.</a:t>
            </a:r>
            <a:endParaRPr sz="900" b="0" i="0">
              <a:latin typeface="Arial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5756494" y="2450592"/>
            <a:ext cx="1845448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20502" y="2514600"/>
            <a:ext cx="1717432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-</a:t>
            </a:r>
            <a:endParaRPr sz="900" b="0" i="0">
              <a:latin typeface="Arial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7647663" y="2450592"/>
            <a:ext cx="1845448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11671" y="2514600"/>
            <a:ext cx="1717432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-</a:t>
            </a:r>
            <a:endParaRPr sz="900" b="0" i="0">
              <a:latin typeface="Arial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9538831" y="2450592"/>
            <a:ext cx="1845448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2839" y="2514600"/>
            <a:ext cx="1717432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recommended</a:t>
            </a:r>
            <a:endParaRPr sz="900" b="0" i="0">
              <a:latin typeface="Arial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777240" y="3114080"/>
            <a:ext cx="2165488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1247" y="3178088"/>
            <a:ext cx="2037472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recommended_action</a:t>
            </a:r>
            <a:endParaRPr sz="900" b="0" i="0">
              <a:latin typeface="Arial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2988448" y="3114080"/>
            <a:ext cx="2722326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52456" y="3178088"/>
            <a:ext cx="2594310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203247"/>
                </a:solidFill>
                <a:latin typeface="Arial"/>
              </a:rPr>
              <a:t>Abra os trechos-fonte citados para confirmar a interpretação antes de agir.</a:t>
            </a:r>
            <a:endParaRPr sz="900" b="0" i="0">
              <a:latin typeface="Arial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5756494" y="3114080"/>
            <a:ext cx="1845448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20502" y="3178088"/>
            <a:ext cx="1717432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-</a:t>
            </a:r>
            <a:endParaRPr sz="900" b="0" i="0">
              <a:latin typeface="Arial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7647663" y="3114080"/>
            <a:ext cx="1845448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11671" y="3178088"/>
            <a:ext cx="1717432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-</a:t>
            </a:r>
            <a:endParaRPr sz="900" b="0" i="0">
              <a:latin typeface="Arial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9538831" y="3114080"/>
            <a:ext cx="1845448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602839" y="3178088"/>
            <a:ext cx="1717432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recommended</a:t>
            </a:r>
            <a:endParaRPr sz="900" b="0" i="0">
              <a:latin typeface="Arial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777240" y="3777569"/>
            <a:ext cx="2165488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41247" y="3841577"/>
            <a:ext cx="2037472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recommended_action</a:t>
            </a:r>
            <a:endParaRPr sz="900" b="0" i="0">
              <a:latin typeface="Arial"/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2988448" y="3777569"/>
            <a:ext cx="2722326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052456" y="3841577"/>
            <a:ext cx="2594310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203247"/>
                </a:solidFill>
                <a:latin typeface="Arial"/>
              </a:rPr>
              <a:t>Abra os trechos-fonte citados para confirmar a interpretação antes de agir.</a:t>
            </a:r>
            <a:endParaRPr sz="900" b="0" i="0">
              <a:latin typeface="Arial"/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5756494" y="3777569"/>
            <a:ext cx="1845448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820502" y="3841577"/>
            <a:ext cx="1717432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-</a:t>
            </a:r>
            <a:endParaRPr sz="900" b="0" i="0">
              <a:latin typeface="Arial"/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7647663" y="3777569"/>
            <a:ext cx="1845448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711671" y="3841577"/>
            <a:ext cx="1717432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-</a:t>
            </a:r>
            <a:endParaRPr sz="900" b="0" i="0">
              <a:latin typeface="Arial"/>
            </a:endParaRPr>
          </a:p>
        </p:txBody>
      </p:sp>
      <p:sp>
        <p:nvSpPr>
          <p:cNvPr id="42" name="Rounded Rectangle 41"/>
          <p:cNvSpPr/>
          <p:nvPr/>
        </p:nvSpPr>
        <p:spPr>
          <a:xfrm>
            <a:off x="9538831" y="3777569"/>
            <a:ext cx="1845448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602839" y="3841577"/>
            <a:ext cx="1717432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recommended</a:t>
            </a:r>
            <a:endParaRPr sz="900" b="0" i="0">
              <a:latin typeface="Arial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17287"/>
                </a:solidFill>
                <a:latin typeface="Arial"/>
              </a:rPr>
              <a:t>AI Workbench Local • Action Plan  •  2026-04-05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17287"/>
                </a:solidFill>
                <a:latin typeface="Arial"/>
              </a:rPr>
              <a:t>04 / 06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STRATEGIC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7178040" cy="868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Recommendation vs watchouts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2048256"/>
            <a:ext cx="4736592" cy="321868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048256"/>
            <a:ext cx="4736592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3271" y="2304288"/>
            <a:ext cx="4224527" cy="3931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63F"/>
                </a:solidFill>
                <a:latin typeface="Arial"/>
              </a:rPr>
              <a:t>Recommendation</a:t>
            </a:r>
            <a:endParaRPr sz="1600" b="1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33271" y="2752344"/>
            <a:ext cx="4224527" cy="12127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Encaminhe o resultado para revisão humana antes de tomar uma decisão final.</a:t>
            </a:r>
            <a:endParaRPr sz="1500" b="0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33271" y="4020000"/>
            <a:ext cx="4224527" cy="99091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200"/>
              </a:spcAft>
            </a:pPr>
            <a:r>
              <a:rPr sz="800" b="0" i="0">
                <a:solidFill>
                  <a:srgbClr val="203247"/>
                </a:solidFill>
                <a:latin typeface="Arial"/>
              </a:rPr>
              <a:t>• Encaminhe o resultado para revisão humana antes de tomar uma decisão final.</a:t>
            </a:r>
            <a:endParaRPr sz="1000" b="0" i="0">
              <a:latin typeface="Arial"/>
            </a:endParaRPr>
          </a:p>
          <a:p>
            <a:pPr algn="l">
              <a:spcAft>
                <a:spcPts val="200"/>
              </a:spcAft>
            </a:pPr>
            <a:r>
              <a:rPr sz="800" b="0" i="0">
                <a:solidFill>
                  <a:srgbClr val="203247"/>
                </a:solidFill>
                <a:latin typeface="Arial"/>
              </a:rPr>
              <a:t>• Abra os trechos-fonte citados para confirmar a interpretação antes de agir.</a:t>
            </a:r>
            <a:endParaRPr sz="1000" b="0" i="0">
              <a:latin typeface="Arial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806440" y="2048256"/>
            <a:ext cx="4736592" cy="321868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806440" y="2048256"/>
            <a:ext cx="4736592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62472" y="2304288"/>
            <a:ext cx="4224527" cy="3931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63F"/>
                </a:solidFill>
                <a:latin typeface="Arial"/>
              </a:rPr>
              <a:t>Watchouts</a:t>
            </a:r>
            <a:endParaRPr sz="1600" b="1" i="0">
              <a:latin typeface="Arial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062472" y="2752344"/>
            <a:ext cx="4224527" cy="14264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203247"/>
                </a:solidFill>
                <a:latin typeface="Arial"/>
              </a:rPr>
              <a:t>Há ações abertas sem owner definido.</a:t>
            </a:r>
            <a:endParaRPr sz="1500" b="0" i="0">
              <a:latin typeface="Arial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17287"/>
                </a:solidFill>
                <a:latin typeface="Arial"/>
              </a:rPr>
              <a:t>AI Workbench Local • Action Plan  •  2026-04-05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17287"/>
                </a:solidFill>
                <a:latin typeface="Arial"/>
              </a:rPr>
              <a:t>05 / 06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5852160" cy="777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Next steps</a:t>
            </a:r>
            <a:endParaRPr sz="2800" b="1" i="0"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77240" y="2331720"/>
            <a:ext cx="6263640" cy="2880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03247"/>
                </a:solidFill>
                <a:latin typeface="Arial"/>
              </a:rPr>
              <a:t>• Encaminhe o resultado para revisão humana antes de tomar uma decisão final.</a:t>
            </a:r>
            <a:endParaRPr sz="1400" b="0" i="0">
              <a:latin typeface="Arial"/>
            </a:endParaRP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03247"/>
                </a:solidFill>
                <a:latin typeface="Arial"/>
              </a:rPr>
              <a:t>• Abra os trechos-fonte citados para confirmar a interpretação antes de agir.</a:t>
            </a:r>
            <a:endParaRPr sz="1400" b="0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360919" y="960120"/>
            <a:ext cx="4023360" cy="45262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60919" y="960120"/>
            <a:ext cx="4023360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16951" y="1216152"/>
            <a:ext cx="3511296" cy="213096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03247"/>
                </a:solidFill>
                <a:latin typeface="Arial"/>
              </a:rPr>
              <a:t>Encaminhe o resultado para revisão humana antes de tomar uma decisão final.</a:t>
            </a:r>
            <a:endParaRPr sz="1400" b="0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616951" y="3438559"/>
            <a:ext cx="3511296" cy="1791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4263F"/>
                </a:solidFill>
                <a:latin typeface="Arial"/>
              </a:rPr>
              <a:t>• Abra os trechos-fonte citados para confirmar a interpretação antes de agir.</a:t>
            </a:r>
            <a:endParaRPr sz="1400" b="0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17287"/>
                </a:solidFill>
                <a:latin typeface="Arial"/>
              </a:rPr>
              <a:t>AI Workbench Local • Action Plan  •  2026-04-05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17287"/>
                </a:solidFill>
                <a:latin typeface="Arial"/>
              </a:rPr>
              <a:t>06 / 06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